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44"/>
  </p:notesMasterIdLst>
  <p:handoutMasterIdLst>
    <p:handoutMasterId r:id="rId45"/>
  </p:handoutMasterIdLst>
  <p:sldIdLst>
    <p:sldId id="256" r:id="rId2"/>
    <p:sldId id="257" r:id="rId3"/>
    <p:sldId id="259" r:id="rId4"/>
    <p:sldId id="417" r:id="rId5"/>
    <p:sldId id="286" r:id="rId6"/>
    <p:sldId id="288" r:id="rId7"/>
    <p:sldId id="429" r:id="rId8"/>
    <p:sldId id="433" r:id="rId9"/>
    <p:sldId id="416" r:id="rId10"/>
    <p:sldId id="294" r:id="rId11"/>
    <p:sldId id="297" r:id="rId12"/>
    <p:sldId id="469" r:id="rId13"/>
    <p:sldId id="298" r:id="rId14"/>
    <p:sldId id="271" r:id="rId15"/>
    <p:sldId id="481" r:id="rId16"/>
    <p:sldId id="465" r:id="rId17"/>
    <p:sldId id="392" r:id="rId18"/>
    <p:sldId id="472" r:id="rId19"/>
    <p:sldId id="443" r:id="rId20"/>
    <p:sldId id="444" r:id="rId21"/>
    <p:sldId id="403" r:id="rId22"/>
    <p:sldId id="425" r:id="rId23"/>
    <p:sldId id="420" r:id="rId24"/>
    <p:sldId id="424" r:id="rId25"/>
    <p:sldId id="401" r:id="rId26"/>
    <p:sldId id="428" r:id="rId27"/>
    <p:sldId id="404" r:id="rId28"/>
    <p:sldId id="466" r:id="rId29"/>
    <p:sldId id="398" r:id="rId30"/>
    <p:sldId id="461" r:id="rId31"/>
    <p:sldId id="462" r:id="rId32"/>
    <p:sldId id="463" r:id="rId33"/>
    <p:sldId id="464" r:id="rId34"/>
    <p:sldId id="468" r:id="rId35"/>
    <p:sldId id="473" r:id="rId36"/>
    <p:sldId id="299" r:id="rId37"/>
    <p:sldId id="467" r:id="rId38"/>
    <p:sldId id="300" r:id="rId39"/>
    <p:sldId id="477" r:id="rId40"/>
    <p:sldId id="478" r:id="rId41"/>
    <p:sldId id="479" r:id="rId42"/>
    <p:sldId id="480" r:id="rId43"/>
  </p:sldIdLst>
  <p:sldSz cx="9144000" cy="6858000" type="screen4x3"/>
  <p:notesSz cx="10234613" cy="7104063"/>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中等深淺樣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EB344D84-9AFB-497E-A393-DC336BA19D2E}" styleName="中等深淺樣式 3 - 輔色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C083E6E3-FA7D-4D7B-A595-EF9225AFEA82}" styleName="淺色樣式 1 - 輔色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69" autoAdjust="0"/>
    <p:restoredTop sz="89946" autoAdjust="0"/>
  </p:normalViewPr>
  <p:slideViewPr>
    <p:cSldViewPr>
      <p:cViewPr varScale="1">
        <p:scale>
          <a:sx n="79" d="100"/>
          <a:sy n="79" d="100"/>
        </p:scale>
        <p:origin x="1733" y="62"/>
      </p:cViewPr>
      <p:guideLst>
        <p:guide orient="horz" pos="2160"/>
        <p:guide pos="2880"/>
      </p:guideLst>
    </p:cSldViewPr>
  </p:slideViewPr>
  <p:notesTextViewPr>
    <p:cViewPr>
      <p:scale>
        <a:sx n="100" d="100"/>
        <a:sy n="100" d="100"/>
      </p:scale>
      <p:origin x="0" y="0"/>
    </p:cViewPr>
  </p:notesTextViewPr>
  <p:notesViewPr>
    <p:cSldViewPr>
      <p:cViewPr varScale="1">
        <p:scale>
          <a:sx n="84" d="100"/>
          <a:sy n="84" d="100"/>
        </p:scale>
        <p:origin x="1872" y="77"/>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1"/>
            <a:ext cx="4434998" cy="356437"/>
          </a:xfrm>
          <a:prstGeom prst="rect">
            <a:avLst/>
          </a:prstGeom>
        </p:spPr>
        <p:txBody>
          <a:bodyPr vert="horz" lIns="94668" tIns="47334" rIns="94668" bIns="47334" rtlCol="0"/>
          <a:lstStyle>
            <a:lvl1pPr algn="l">
              <a:defRPr sz="1200"/>
            </a:lvl1pPr>
          </a:lstStyle>
          <a:p>
            <a:endParaRPr lang="zh-TW" altLang="en-US"/>
          </a:p>
        </p:txBody>
      </p:sp>
      <p:sp>
        <p:nvSpPr>
          <p:cNvPr id="3" name="日期版面配置區 2"/>
          <p:cNvSpPr>
            <a:spLocks noGrp="1"/>
          </p:cNvSpPr>
          <p:nvPr>
            <p:ph type="dt" sz="quarter" idx="1"/>
          </p:nvPr>
        </p:nvSpPr>
        <p:spPr>
          <a:xfrm>
            <a:off x="5797246" y="1"/>
            <a:ext cx="4434998" cy="356437"/>
          </a:xfrm>
          <a:prstGeom prst="rect">
            <a:avLst/>
          </a:prstGeom>
        </p:spPr>
        <p:txBody>
          <a:bodyPr vert="horz" lIns="94668" tIns="47334" rIns="94668" bIns="47334" rtlCol="0"/>
          <a:lstStyle>
            <a:lvl1pPr algn="r">
              <a:defRPr sz="1200"/>
            </a:lvl1pPr>
          </a:lstStyle>
          <a:p>
            <a:fld id="{1542A8AE-30C8-45F6-8B15-5353BBB102C3}" type="datetimeFigureOut">
              <a:rPr lang="zh-TW" altLang="en-US" smtClean="0"/>
              <a:t>2020/9/15</a:t>
            </a:fld>
            <a:endParaRPr lang="zh-TW" altLang="en-US"/>
          </a:p>
        </p:txBody>
      </p:sp>
      <p:sp>
        <p:nvSpPr>
          <p:cNvPr id="4" name="頁尾版面配置區 3"/>
          <p:cNvSpPr>
            <a:spLocks noGrp="1"/>
          </p:cNvSpPr>
          <p:nvPr>
            <p:ph type="ftr" sz="quarter" idx="2"/>
          </p:nvPr>
        </p:nvSpPr>
        <p:spPr>
          <a:xfrm>
            <a:off x="0" y="6747628"/>
            <a:ext cx="4434998" cy="356436"/>
          </a:xfrm>
          <a:prstGeom prst="rect">
            <a:avLst/>
          </a:prstGeom>
        </p:spPr>
        <p:txBody>
          <a:bodyPr vert="horz" lIns="94668" tIns="47334" rIns="94668" bIns="47334"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5797246" y="6747628"/>
            <a:ext cx="4434998" cy="356436"/>
          </a:xfrm>
          <a:prstGeom prst="rect">
            <a:avLst/>
          </a:prstGeom>
        </p:spPr>
        <p:txBody>
          <a:bodyPr vert="horz" lIns="94668" tIns="47334" rIns="94668" bIns="47334" rtlCol="0" anchor="b"/>
          <a:lstStyle>
            <a:lvl1pPr algn="r">
              <a:defRPr sz="1200"/>
            </a:lvl1pPr>
          </a:lstStyle>
          <a:p>
            <a:fld id="{2D82371B-8844-4472-B319-21A5A9EE75FD}" type="slidenum">
              <a:rPr lang="zh-TW" altLang="en-US" smtClean="0"/>
              <a:t>‹#›</a:t>
            </a:fld>
            <a:endParaRPr lang="zh-TW" altLang="en-US"/>
          </a:p>
        </p:txBody>
      </p:sp>
    </p:spTree>
    <p:extLst>
      <p:ext uri="{BB962C8B-B14F-4D97-AF65-F5344CB8AC3E}">
        <p14:creationId xmlns:p14="http://schemas.microsoft.com/office/powerpoint/2010/main" val="9827113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4434998" cy="355203"/>
          </a:xfrm>
          <a:prstGeom prst="rect">
            <a:avLst/>
          </a:prstGeom>
        </p:spPr>
        <p:txBody>
          <a:bodyPr vert="horz" lIns="94668" tIns="47334" rIns="94668" bIns="47334" rtlCol="0"/>
          <a:lstStyle>
            <a:lvl1pPr algn="l">
              <a:defRPr sz="1200"/>
            </a:lvl1pPr>
          </a:lstStyle>
          <a:p>
            <a:endParaRPr lang="zh-TW" altLang="en-US"/>
          </a:p>
        </p:txBody>
      </p:sp>
      <p:sp>
        <p:nvSpPr>
          <p:cNvPr id="3" name="日期版面配置區 2"/>
          <p:cNvSpPr>
            <a:spLocks noGrp="1"/>
          </p:cNvSpPr>
          <p:nvPr>
            <p:ph type="dt" idx="1"/>
          </p:nvPr>
        </p:nvSpPr>
        <p:spPr>
          <a:xfrm>
            <a:off x="5797246" y="0"/>
            <a:ext cx="4434998" cy="355203"/>
          </a:xfrm>
          <a:prstGeom prst="rect">
            <a:avLst/>
          </a:prstGeom>
        </p:spPr>
        <p:txBody>
          <a:bodyPr vert="horz" lIns="94668" tIns="47334" rIns="94668" bIns="47334" rtlCol="0"/>
          <a:lstStyle>
            <a:lvl1pPr algn="r">
              <a:defRPr sz="1200"/>
            </a:lvl1pPr>
          </a:lstStyle>
          <a:p>
            <a:fld id="{F720EDCC-A796-4EC7-AF06-212CFB973AF2}" type="datetimeFigureOut">
              <a:rPr lang="zh-TW" altLang="en-US" smtClean="0"/>
              <a:pPr/>
              <a:t>2020/9/15</a:t>
            </a:fld>
            <a:endParaRPr lang="zh-TW" altLang="en-US"/>
          </a:p>
        </p:txBody>
      </p:sp>
      <p:sp>
        <p:nvSpPr>
          <p:cNvPr id="4" name="投影片圖像版面配置區 3"/>
          <p:cNvSpPr>
            <a:spLocks noGrp="1" noRot="1" noChangeAspect="1"/>
          </p:cNvSpPr>
          <p:nvPr>
            <p:ph type="sldImg" idx="2"/>
          </p:nvPr>
        </p:nvSpPr>
        <p:spPr>
          <a:xfrm>
            <a:off x="3341688" y="533400"/>
            <a:ext cx="3551237" cy="2663825"/>
          </a:xfrm>
          <a:prstGeom prst="rect">
            <a:avLst/>
          </a:prstGeom>
          <a:noFill/>
          <a:ln w="12700">
            <a:solidFill>
              <a:prstClr val="black"/>
            </a:solidFill>
          </a:ln>
        </p:spPr>
        <p:txBody>
          <a:bodyPr vert="horz" lIns="94668" tIns="47334" rIns="94668" bIns="47334" rtlCol="0" anchor="ctr"/>
          <a:lstStyle/>
          <a:p>
            <a:endParaRPr lang="zh-TW" altLang="en-US"/>
          </a:p>
        </p:txBody>
      </p:sp>
      <p:sp>
        <p:nvSpPr>
          <p:cNvPr id="5" name="備忘稿版面配置區 4"/>
          <p:cNvSpPr>
            <a:spLocks noGrp="1"/>
          </p:cNvSpPr>
          <p:nvPr>
            <p:ph type="body" sz="quarter" idx="3"/>
          </p:nvPr>
        </p:nvSpPr>
        <p:spPr>
          <a:xfrm>
            <a:off x="1023462" y="3374430"/>
            <a:ext cx="8187690" cy="3196828"/>
          </a:xfrm>
          <a:prstGeom prst="rect">
            <a:avLst/>
          </a:prstGeom>
        </p:spPr>
        <p:txBody>
          <a:bodyPr vert="horz" lIns="94668" tIns="47334" rIns="94668" bIns="47334"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6747627"/>
            <a:ext cx="4434998" cy="355203"/>
          </a:xfrm>
          <a:prstGeom prst="rect">
            <a:avLst/>
          </a:prstGeom>
        </p:spPr>
        <p:txBody>
          <a:bodyPr vert="horz" lIns="94668" tIns="47334" rIns="94668" bIns="47334"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5797246" y="6747627"/>
            <a:ext cx="4434998" cy="355203"/>
          </a:xfrm>
          <a:prstGeom prst="rect">
            <a:avLst/>
          </a:prstGeom>
        </p:spPr>
        <p:txBody>
          <a:bodyPr vert="horz" lIns="94668" tIns="47334" rIns="94668" bIns="47334" rtlCol="0" anchor="b"/>
          <a:lstStyle>
            <a:lvl1pPr algn="r">
              <a:defRPr sz="1200"/>
            </a:lvl1pPr>
          </a:lstStyle>
          <a:p>
            <a:fld id="{1E6DD3CC-7343-481E-A744-2F043A041743}" type="slidenum">
              <a:rPr lang="zh-TW" altLang="en-US" smtClean="0"/>
              <a:pPr/>
              <a:t>‹#›</a:t>
            </a:fld>
            <a:endParaRPr lang="zh-TW" altLang="en-US"/>
          </a:p>
        </p:txBody>
      </p:sp>
    </p:spTree>
    <p:extLst>
      <p:ext uri="{BB962C8B-B14F-4D97-AF65-F5344CB8AC3E}">
        <p14:creationId xmlns:p14="http://schemas.microsoft.com/office/powerpoint/2010/main" val="33838857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ncbi.nlm.nih.gov/pmc/articles/PMC5424795/#R49" TargetMode="External"/><Relationship Id="rId2" Type="http://schemas.openxmlformats.org/officeDocument/2006/relationships/slide" Target="../slides/slide3.xml"/><Relationship Id="rId1" Type="http://schemas.openxmlformats.org/officeDocument/2006/relationships/notesMaster" Target="../notesMasters/notesMaster1.xml"/><Relationship Id="rId4" Type="http://schemas.openxmlformats.org/officeDocument/2006/relationships/hyperlink" Target="https://www.ncbi.nlm.nih.gov/pmc/articles/PMC5424795/#R50"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1E6DD3CC-7343-481E-A744-2F043A041743}" type="slidenum">
              <a:rPr lang="zh-TW" altLang="en-US" smtClean="0"/>
              <a:pPr/>
              <a:t>1</a:t>
            </a:fld>
            <a:endParaRPr lang="zh-TW" altLang="en-US"/>
          </a:p>
        </p:txBody>
      </p:sp>
    </p:spTree>
    <p:extLst>
      <p:ext uri="{BB962C8B-B14F-4D97-AF65-F5344CB8AC3E}">
        <p14:creationId xmlns:p14="http://schemas.microsoft.com/office/powerpoint/2010/main" val="32684312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zh-TW" altLang="en-US" dirty="0"/>
              <a:t>固有非結構蛋白</a:t>
            </a:r>
            <a:endParaRPr lang="en-US" altLang="zh-TW" dirty="0"/>
          </a:p>
          <a:p>
            <a:r>
              <a:rPr lang="zh-TW" altLang="en-US" dirty="0"/>
              <a:t>帕金森氏症</a:t>
            </a:r>
            <a:endParaRPr lang="en-US" altLang="zh-TW" dirty="0"/>
          </a:p>
          <a:p>
            <a:r>
              <a:rPr lang="zh-TW" altLang="en-US" dirty="0"/>
              <a:t>阿茲海默症</a:t>
            </a:r>
          </a:p>
        </p:txBody>
      </p:sp>
      <p:sp>
        <p:nvSpPr>
          <p:cNvPr id="4" name="投影片編號版面配置區 3"/>
          <p:cNvSpPr>
            <a:spLocks noGrp="1"/>
          </p:cNvSpPr>
          <p:nvPr>
            <p:ph type="sldNum" sz="quarter" idx="10"/>
          </p:nvPr>
        </p:nvSpPr>
        <p:spPr/>
        <p:txBody>
          <a:bodyPr/>
          <a:lstStyle/>
          <a:p>
            <a:fld id="{1E6DD3CC-7343-481E-A744-2F043A041743}" type="slidenum">
              <a:rPr lang="zh-TW" altLang="en-US" smtClean="0"/>
              <a:pPr/>
              <a:t>2</a:t>
            </a:fld>
            <a:endParaRPr lang="zh-TW" altLang="en-US"/>
          </a:p>
        </p:txBody>
      </p:sp>
    </p:spTree>
    <p:extLst>
      <p:ext uri="{BB962C8B-B14F-4D97-AF65-F5344CB8AC3E}">
        <p14:creationId xmlns:p14="http://schemas.microsoft.com/office/powerpoint/2010/main" val="39398910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TW" dirty="0"/>
              <a:t>SwissProt 51 (</a:t>
            </a:r>
            <a:r>
              <a:rPr lang="en-US" altLang="zh-TW" dirty="0" err="1"/>
              <a:t>Bairoch</a:t>
            </a:r>
            <a:r>
              <a:rPr lang="en-US" altLang="zh-TW" dirty="0"/>
              <a:t> et al., 2005), closest to the distribution of amino acids in nature among the four datasets</a:t>
            </a:r>
          </a:p>
          <a:p>
            <a:r>
              <a:rPr lang="en-US" altLang="zh-TW" dirty="0" err="1"/>
              <a:t>DisProt</a:t>
            </a:r>
            <a:r>
              <a:rPr lang="en-US" altLang="zh-TW" dirty="0"/>
              <a:t> 3.4, comprised of a set of consensus sequences of experimentally determined disordered regions (</a:t>
            </a:r>
            <a:r>
              <a:rPr lang="en-US" altLang="zh-TW" dirty="0" err="1"/>
              <a:t>Sickmeier</a:t>
            </a:r>
            <a:r>
              <a:rPr lang="en-US" altLang="zh-TW" dirty="0"/>
              <a:t> et al., 2007)</a:t>
            </a:r>
          </a:p>
          <a:p>
            <a:endParaRPr lang="en-US" altLang="zh-TW" dirty="0"/>
          </a:p>
          <a:p>
            <a:r>
              <a:rPr lang="en-US" altLang="zh-TW" sz="1200" b="0" i="0" kern="1200" dirty="0">
                <a:solidFill>
                  <a:schemeClr val="tx1"/>
                </a:solidFill>
                <a:effectLst/>
                <a:latin typeface="+mn-lt"/>
                <a:ea typeface="+mn-ea"/>
                <a:cs typeface="+mn-cs"/>
              </a:rPr>
              <a:t>Fractional difference in the amino acid composition (compositional profile) between the typical IDPs from the </a:t>
            </a:r>
            <a:r>
              <a:rPr lang="en-US" altLang="zh-TW" sz="1200" b="0" i="0" kern="1200" dirty="0" err="1">
                <a:solidFill>
                  <a:schemeClr val="tx1"/>
                </a:solidFill>
                <a:effectLst/>
                <a:latin typeface="+mn-lt"/>
                <a:ea typeface="+mn-ea"/>
                <a:cs typeface="+mn-cs"/>
              </a:rPr>
              <a:t>DisProt</a:t>
            </a:r>
            <a:r>
              <a:rPr lang="en-US" altLang="zh-TW" sz="1200" b="0" i="0" kern="1200" dirty="0">
                <a:solidFill>
                  <a:schemeClr val="tx1"/>
                </a:solidFill>
                <a:effectLst/>
                <a:latin typeface="+mn-lt"/>
                <a:ea typeface="+mn-ea"/>
                <a:cs typeface="+mn-cs"/>
              </a:rPr>
              <a:t> database</a:t>
            </a:r>
            <a:r>
              <a:rPr lang="en-US" altLang="zh-TW" sz="1200" b="0" i="0" kern="1200" baseline="30000" dirty="0">
                <a:solidFill>
                  <a:schemeClr val="tx1"/>
                </a:solidFill>
                <a:effectLst/>
                <a:latin typeface="+mn-lt"/>
                <a:ea typeface="+mn-ea"/>
                <a:cs typeface="+mn-cs"/>
                <a:hlinkClick r:id="rId3"/>
              </a:rPr>
              <a:t>49</a:t>
            </a:r>
            <a:r>
              <a:rPr lang="en-US" altLang="zh-TW" sz="1200" b="0" i="0" kern="1200" dirty="0">
                <a:solidFill>
                  <a:schemeClr val="tx1"/>
                </a:solidFill>
                <a:effectLst/>
                <a:latin typeface="+mn-lt"/>
                <a:ea typeface="+mn-ea"/>
                <a:cs typeface="+mn-cs"/>
              </a:rPr>
              <a:t> and a set of completely ordered proteins</a:t>
            </a:r>
            <a:r>
              <a:rPr lang="en-US" altLang="zh-TW" sz="1200" b="0" i="0" kern="1200" baseline="30000" dirty="0">
                <a:solidFill>
                  <a:schemeClr val="tx1"/>
                </a:solidFill>
                <a:effectLst/>
                <a:latin typeface="+mn-lt"/>
                <a:ea typeface="+mn-ea"/>
                <a:cs typeface="+mn-cs"/>
                <a:hlinkClick r:id="rId4"/>
              </a:rPr>
              <a:t>50</a:t>
            </a:r>
            <a:r>
              <a:rPr lang="en-US" altLang="zh-TW" sz="1200" b="0" i="0" kern="1200" dirty="0">
                <a:solidFill>
                  <a:schemeClr val="tx1"/>
                </a:solidFill>
                <a:effectLst/>
                <a:latin typeface="+mn-lt"/>
                <a:ea typeface="+mn-ea"/>
                <a:cs typeface="+mn-cs"/>
              </a:rPr>
              <a:t> calculated for each amino acid residue. The fractional difference was evaluated as (</a:t>
            </a:r>
            <a:r>
              <a:rPr lang="en-US" altLang="zh-TW" sz="1200" b="0" i="0" kern="1200" dirty="0" err="1">
                <a:solidFill>
                  <a:schemeClr val="tx1"/>
                </a:solidFill>
                <a:effectLst/>
                <a:latin typeface="+mn-lt"/>
                <a:ea typeface="+mn-ea"/>
                <a:cs typeface="+mn-cs"/>
              </a:rPr>
              <a:t>C</a:t>
            </a:r>
            <a:r>
              <a:rPr lang="en-US" altLang="zh-TW" sz="1200" b="0" i="0" kern="1200" baseline="-25000" dirty="0" err="1">
                <a:solidFill>
                  <a:schemeClr val="tx1"/>
                </a:solidFill>
                <a:effectLst/>
                <a:latin typeface="+mn-lt"/>
                <a:ea typeface="+mn-ea"/>
                <a:cs typeface="+mn-cs"/>
              </a:rPr>
              <a:t>DisProt</a:t>
            </a:r>
            <a:r>
              <a:rPr lang="en-US" altLang="zh-TW" sz="1200" b="0" i="0" kern="1200" dirty="0">
                <a:solidFill>
                  <a:schemeClr val="tx1"/>
                </a:solidFill>
                <a:effectLst/>
                <a:latin typeface="+mn-lt"/>
                <a:ea typeface="+mn-ea"/>
                <a:cs typeface="+mn-cs"/>
              </a:rPr>
              <a:t>-C</a:t>
            </a:r>
            <a:r>
              <a:rPr lang="en-US" altLang="zh-TW" sz="1200" b="0" i="0" kern="1200" baseline="-25000" dirty="0">
                <a:solidFill>
                  <a:schemeClr val="tx1"/>
                </a:solidFill>
                <a:effectLst/>
                <a:latin typeface="+mn-lt"/>
                <a:ea typeface="+mn-ea"/>
                <a:cs typeface="+mn-cs"/>
              </a:rPr>
              <a:t>PDB</a:t>
            </a:r>
            <a:r>
              <a:rPr lang="en-US" altLang="zh-TW" sz="1200" b="0" i="0" kern="1200" dirty="0">
                <a:solidFill>
                  <a:schemeClr val="tx1"/>
                </a:solidFill>
                <a:effectLst/>
                <a:latin typeface="+mn-lt"/>
                <a:ea typeface="+mn-ea"/>
                <a:cs typeface="+mn-cs"/>
              </a:rPr>
              <a:t>)/C</a:t>
            </a:r>
            <a:r>
              <a:rPr lang="en-US" altLang="zh-TW" sz="1200" b="0" i="0" kern="1200" baseline="-25000" dirty="0">
                <a:solidFill>
                  <a:schemeClr val="tx1"/>
                </a:solidFill>
                <a:effectLst/>
                <a:latin typeface="+mn-lt"/>
                <a:ea typeface="+mn-ea"/>
                <a:cs typeface="+mn-cs"/>
              </a:rPr>
              <a:t>PDB</a:t>
            </a:r>
            <a:r>
              <a:rPr lang="en-US" altLang="zh-TW" sz="1200" b="0" i="0" kern="1200" dirty="0">
                <a:solidFill>
                  <a:schemeClr val="tx1"/>
                </a:solidFill>
                <a:effectLst/>
                <a:latin typeface="+mn-lt"/>
                <a:ea typeface="+mn-ea"/>
                <a:cs typeface="+mn-cs"/>
              </a:rPr>
              <a:t>, where </a:t>
            </a:r>
            <a:r>
              <a:rPr lang="en-US" altLang="zh-TW" sz="1200" b="0" i="0" kern="1200" dirty="0" err="1">
                <a:solidFill>
                  <a:schemeClr val="tx1"/>
                </a:solidFill>
                <a:effectLst/>
                <a:latin typeface="+mn-lt"/>
                <a:ea typeface="+mn-ea"/>
                <a:cs typeface="+mn-cs"/>
              </a:rPr>
              <a:t>C</a:t>
            </a:r>
            <a:r>
              <a:rPr lang="en-US" altLang="zh-TW" sz="1200" b="0" i="0" kern="1200" baseline="-25000" dirty="0" err="1">
                <a:solidFill>
                  <a:schemeClr val="tx1"/>
                </a:solidFill>
                <a:effectLst/>
                <a:latin typeface="+mn-lt"/>
                <a:ea typeface="+mn-ea"/>
                <a:cs typeface="+mn-cs"/>
              </a:rPr>
              <a:t>DisProt</a:t>
            </a:r>
            <a:r>
              <a:rPr lang="en-US" altLang="zh-TW" sz="1200" b="0" i="0" kern="1200" dirty="0">
                <a:solidFill>
                  <a:schemeClr val="tx1"/>
                </a:solidFill>
                <a:effectLst/>
                <a:latin typeface="+mn-lt"/>
                <a:ea typeface="+mn-ea"/>
                <a:cs typeface="+mn-cs"/>
              </a:rPr>
              <a:t> is the content of a given amino acid in a </a:t>
            </a:r>
            <a:r>
              <a:rPr lang="en-US" altLang="zh-TW" sz="1200" b="0" i="0" kern="1200" dirty="0" err="1">
                <a:solidFill>
                  <a:schemeClr val="tx1"/>
                </a:solidFill>
                <a:effectLst/>
                <a:latin typeface="+mn-lt"/>
                <a:ea typeface="+mn-ea"/>
                <a:cs typeface="+mn-cs"/>
              </a:rPr>
              <a:t>DisProt</a:t>
            </a:r>
            <a:r>
              <a:rPr lang="en-US" altLang="zh-TW" sz="1200" b="0" i="0" kern="1200" dirty="0">
                <a:solidFill>
                  <a:schemeClr val="tx1"/>
                </a:solidFill>
                <a:effectLst/>
                <a:latin typeface="+mn-lt"/>
                <a:ea typeface="+mn-ea"/>
                <a:cs typeface="+mn-cs"/>
              </a:rPr>
              <a:t> </a:t>
            </a:r>
            <a:r>
              <a:rPr lang="en-US" altLang="zh-TW" sz="1200" b="0" i="0" kern="1200" dirty="0" err="1">
                <a:solidFill>
                  <a:schemeClr val="tx1"/>
                </a:solidFill>
                <a:effectLst/>
                <a:latin typeface="+mn-lt"/>
                <a:ea typeface="+mn-ea"/>
                <a:cs typeface="+mn-cs"/>
              </a:rPr>
              <a:t>databse</a:t>
            </a:r>
            <a:r>
              <a:rPr lang="en-US" altLang="zh-TW" sz="1200" b="0" i="0" kern="1200" dirty="0">
                <a:solidFill>
                  <a:schemeClr val="tx1"/>
                </a:solidFill>
                <a:effectLst/>
                <a:latin typeface="+mn-lt"/>
                <a:ea typeface="+mn-ea"/>
                <a:cs typeface="+mn-cs"/>
              </a:rPr>
              <a:t>, and C</a:t>
            </a:r>
            <a:r>
              <a:rPr lang="en-US" altLang="zh-TW" sz="1200" b="0" i="0" kern="1200" baseline="-25000" dirty="0">
                <a:solidFill>
                  <a:schemeClr val="tx1"/>
                </a:solidFill>
                <a:effectLst/>
                <a:latin typeface="+mn-lt"/>
                <a:ea typeface="+mn-ea"/>
                <a:cs typeface="+mn-cs"/>
              </a:rPr>
              <a:t>PDB</a:t>
            </a:r>
            <a:r>
              <a:rPr lang="en-US" altLang="zh-TW" sz="1200" b="0" i="0" kern="1200" dirty="0">
                <a:solidFill>
                  <a:schemeClr val="tx1"/>
                </a:solidFill>
                <a:effectLst/>
                <a:latin typeface="+mn-lt"/>
                <a:ea typeface="+mn-ea"/>
                <a:cs typeface="+mn-cs"/>
              </a:rPr>
              <a:t> is the corresponding content in the data set of fully ordered proteins. Positive bars correspond to residues found more abundantly in IDPs, whereas negative bars show residues, in which IDPs are depleted. Amino acid types were ranked according to their decreasing disorder-promoting potential</a:t>
            </a:r>
            <a:endParaRPr lang="en-US" altLang="zh-TW" dirty="0"/>
          </a:p>
        </p:txBody>
      </p:sp>
      <p:sp>
        <p:nvSpPr>
          <p:cNvPr id="4" name="投影片編號版面配置區 3"/>
          <p:cNvSpPr>
            <a:spLocks noGrp="1"/>
          </p:cNvSpPr>
          <p:nvPr>
            <p:ph type="sldNum" sz="quarter" idx="10"/>
          </p:nvPr>
        </p:nvSpPr>
        <p:spPr/>
        <p:txBody>
          <a:bodyPr/>
          <a:lstStyle/>
          <a:p>
            <a:fld id="{1E6DD3CC-7343-481E-A744-2F043A041743}" type="slidenum">
              <a:rPr lang="zh-TW" altLang="en-US" smtClean="0"/>
              <a:pPr/>
              <a:t>3</a:t>
            </a:fld>
            <a:endParaRPr lang="zh-TW" altLang="en-US"/>
          </a:p>
        </p:txBody>
      </p:sp>
    </p:spTree>
    <p:extLst>
      <p:ext uri="{BB962C8B-B14F-4D97-AF65-F5344CB8AC3E}">
        <p14:creationId xmlns:p14="http://schemas.microsoft.com/office/powerpoint/2010/main" val="27558509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一個適合的</a:t>
            </a:r>
            <a:r>
              <a:rPr lang="en-US" altLang="zh-TW" dirty="0"/>
              <a:t>scoring matrix</a:t>
            </a:r>
            <a:r>
              <a:rPr lang="zh-TW" altLang="en-US" dirty="0"/>
              <a:t> 就會影響到如何找到</a:t>
            </a:r>
            <a:r>
              <a:rPr lang="en-US" altLang="zh-TW" dirty="0"/>
              <a:t>alignment</a:t>
            </a:r>
            <a:r>
              <a:rPr lang="zh-TW" altLang="en-US" dirty="0" smtClean="0"/>
              <a:t>分數</a:t>
            </a:r>
            <a:r>
              <a:rPr lang="en-US" altLang="zh-TW" dirty="0" smtClean="0"/>
              <a:t/>
            </a:r>
            <a:br>
              <a:rPr lang="en-US" altLang="zh-TW" dirty="0" smtClean="0"/>
            </a:br>
            <a:r>
              <a:rPr lang="en-US" altLang="zh-TW" dirty="0" smtClean="0"/>
              <a:t/>
            </a:r>
            <a:br>
              <a:rPr lang="en-US" altLang="zh-TW" dirty="0" smtClean="0"/>
            </a:br>
            <a:r>
              <a:rPr lang="zh-TW" altLang="en-US" dirty="0" smtClean="0"/>
              <a:t>為何不用</a:t>
            </a:r>
            <a:r>
              <a:rPr lang="en-US" altLang="zh-TW" dirty="0" smtClean="0"/>
              <a:t>global</a:t>
            </a:r>
          </a:p>
          <a:p>
            <a:r>
              <a:rPr lang="zh-TW" altLang="en-US" dirty="0" smtClean="0"/>
              <a:t>想像一下</a:t>
            </a:r>
            <a:r>
              <a:rPr lang="en-US" altLang="zh-TW" dirty="0" smtClean="0"/>
              <a:t>A</a:t>
            </a:r>
            <a:r>
              <a:rPr lang="zh-TW" altLang="en-US" dirty="0" smtClean="0"/>
              <a:t>序列只有</a:t>
            </a:r>
            <a:r>
              <a:rPr lang="en-US" altLang="zh-TW" dirty="0" smtClean="0"/>
              <a:t>10</a:t>
            </a:r>
            <a:r>
              <a:rPr lang="zh-TW" altLang="en-US" dirty="0" smtClean="0"/>
              <a:t>個長度</a:t>
            </a:r>
            <a:endParaRPr lang="en-US" altLang="zh-TW" dirty="0" smtClean="0"/>
          </a:p>
          <a:p>
            <a:r>
              <a:rPr lang="en-US" altLang="zh-TW" dirty="0" smtClean="0"/>
              <a:t>B</a:t>
            </a:r>
            <a:r>
              <a:rPr lang="zh-TW" altLang="en-US" dirty="0" smtClean="0"/>
              <a:t>序列有</a:t>
            </a:r>
            <a:r>
              <a:rPr lang="en-US" altLang="zh-TW" dirty="0" smtClean="0"/>
              <a:t>50</a:t>
            </a:r>
            <a:r>
              <a:rPr lang="zh-TW" altLang="en-US" dirty="0" smtClean="0"/>
              <a:t>個長度</a:t>
            </a:r>
            <a:endParaRPr lang="zh-TW" altLang="en-US" dirty="0"/>
          </a:p>
        </p:txBody>
      </p:sp>
      <p:sp>
        <p:nvSpPr>
          <p:cNvPr id="4" name="投影片編號版面配置區 3"/>
          <p:cNvSpPr>
            <a:spLocks noGrp="1"/>
          </p:cNvSpPr>
          <p:nvPr>
            <p:ph type="sldNum" sz="quarter" idx="5"/>
          </p:nvPr>
        </p:nvSpPr>
        <p:spPr/>
        <p:txBody>
          <a:bodyPr/>
          <a:lstStyle/>
          <a:p>
            <a:fld id="{1E6DD3CC-7343-481E-A744-2F043A041743}" type="slidenum">
              <a:rPr lang="zh-TW" altLang="en-US" smtClean="0"/>
              <a:pPr/>
              <a:t>4</a:t>
            </a:fld>
            <a:endParaRPr lang="zh-TW" altLang="en-US"/>
          </a:p>
        </p:txBody>
      </p:sp>
    </p:spTree>
    <p:extLst>
      <p:ext uri="{BB962C8B-B14F-4D97-AF65-F5344CB8AC3E}">
        <p14:creationId xmlns:p14="http://schemas.microsoft.com/office/powerpoint/2010/main" val="29501942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zh-TW" altLang="en-US" dirty="0"/>
              <a:t>磷酸激酶</a:t>
            </a:r>
          </a:p>
        </p:txBody>
      </p:sp>
      <p:sp>
        <p:nvSpPr>
          <p:cNvPr id="4" name="投影片編號版面配置區 3"/>
          <p:cNvSpPr>
            <a:spLocks noGrp="1"/>
          </p:cNvSpPr>
          <p:nvPr>
            <p:ph type="sldNum" sz="quarter" idx="10"/>
          </p:nvPr>
        </p:nvSpPr>
        <p:spPr/>
        <p:txBody>
          <a:bodyPr/>
          <a:lstStyle/>
          <a:p>
            <a:fld id="{1E6DD3CC-7343-481E-A744-2F043A041743}" type="slidenum">
              <a:rPr lang="zh-TW" altLang="en-US" smtClean="0"/>
              <a:pPr/>
              <a:t>5</a:t>
            </a:fld>
            <a:endParaRPr lang="zh-TW" altLang="en-US"/>
          </a:p>
        </p:txBody>
      </p:sp>
    </p:spTree>
    <p:extLst>
      <p:ext uri="{BB962C8B-B14F-4D97-AF65-F5344CB8AC3E}">
        <p14:creationId xmlns:p14="http://schemas.microsoft.com/office/powerpoint/2010/main" val="22363423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1E6DD3CC-7343-481E-A744-2F043A041743}" type="slidenum">
              <a:rPr lang="zh-TW" altLang="en-US" smtClean="0"/>
              <a:pPr/>
              <a:t>6</a:t>
            </a:fld>
            <a:endParaRPr lang="zh-TW" altLang="en-US"/>
          </a:p>
        </p:txBody>
      </p:sp>
    </p:spTree>
    <p:extLst>
      <p:ext uri="{BB962C8B-B14F-4D97-AF65-F5344CB8AC3E}">
        <p14:creationId xmlns:p14="http://schemas.microsoft.com/office/powerpoint/2010/main" val="26386658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前側與後側</a:t>
            </a: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8</a:t>
            </a:fld>
            <a:endParaRPr lang="zh-TW" altLang="en-US"/>
          </a:p>
        </p:txBody>
      </p:sp>
    </p:spTree>
    <p:extLst>
      <p:ext uri="{BB962C8B-B14F-4D97-AF65-F5344CB8AC3E}">
        <p14:creationId xmlns:p14="http://schemas.microsoft.com/office/powerpoint/2010/main" val="42024669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9</a:t>
            </a:fld>
            <a:endParaRPr lang="zh-TW" altLang="en-US"/>
          </a:p>
        </p:txBody>
      </p:sp>
    </p:spTree>
    <p:extLst>
      <p:ext uri="{BB962C8B-B14F-4D97-AF65-F5344CB8AC3E}">
        <p14:creationId xmlns:p14="http://schemas.microsoft.com/office/powerpoint/2010/main" val="38233897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1E6DD3CC-7343-481E-A744-2F043A041743}" type="slidenum">
              <a:rPr lang="zh-TW" altLang="en-US" smtClean="0"/>
              <a:pPr/>
              <a:t>10</a:t>
            </a:fld>
            <a:endParaRPr lang="zh-TW" altLang="en-US"/>
          </a:p>
        </p:txBody>
      </p:sp>
    </p:spTree>
    <p:extLst>
      <p:ext uri="{BB962C8B-B14F-4D97-AF65-F5344CB8AC3E}">
        <p14:creationId xmlns:p14="http://schemas.microsoft.com/office/powerpoint/2010/main" val="41098483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fld id="{1E6DD3CC-7343-481E-A744-2F043A041743}" type="slidenum">
              <a:rPr lang="zh-TW" altLang="en-US" smtClean="0"/>
              <a:pPr/>
              <a:t>11</a:t>
            </a:fld>
            <a:endParaRPr lang="zh-TW" altLang="en-US"/>
          </a:p>
        </p:txBody>
      </p:sp>
    </p:spTree>
    <p:extLst>
      <p:ext uri="{BB962C8B-B14F-4D97-AF65-F5344CB8AC3E}">
        <p14:creationId xmlns:p14="http://schemas.microsoft.com/office/powerpoint/2010/main" val="30071835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fld id="{1E6DD3CC-7343-481E-A744-2F043A041743}" type="slidenum">
              <a:rPr lang="zh-TW" altLang="en-US" smtClean="0"/>
              <a:pPr/>
              <a:t>12</a:t>
            </a:fld>
            <a:endParaRPr lang="zh-TW" altLang="en-US"/>
          </a:p>
        </p:txBody>
      </p:sp>
    </p:spTree>
    <p:extLst>
      <p:ext uri="{BB962C8B-B14F-4D97-AF65-F5344CB8AC3E}">
        <p14:creationId xmlns:p14="http://schemas.microsoft.com/office/powerpoint/2010/main" val="29657796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1E6DD3CC-7343-481E-A744-2F043A041743}" type="slidenum">
              <a:rPr lang="zh-TW" altLang="en-US" smtClean="0"/>
              <a:pPr/>
              <a:t>13</a:t>
            </a:fld>
            <a:endParaRPr lang="zh-TW" altLang="en-US"/>
          </a:p>
        </p:txBody>
      </p:sp>
    </p:spTree>
    <p:extLst>
      <p:ext uri="{BB962C8B-B14F-4D97-AF65-F5344CB8AC3E}">
        <p14:creationId xmlns:p14="http://schemas.microsoft.com/office/powerpoint/2010/main" val="28820684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zh-TW" altLang="en-US" dirty="0"/>
              <a:t>綜上所述</a:t>
            </a:r>
          </a:p>
        </p:txBody>
      </p:sp>
      <p:sp>
        <p:nvSpPr>
          <p:cNvPr id="4" name="投影片編號版面配置區 3"/>
          <p:cNvSpPr>
            <a:spLocks noGrp="1"/>
          </p:cNvSpPr>
          <p:nvPr>
            <p:ph type="sldNum" sz="quarter" idx="10"/>
          </p:nvPr>
        </p:nvSpPr>
        <p:spPr/>
        <p:txBody>
          <a:bodyPr/>
          <a:lstStyle/>
          <a:p>
            <a:fld id="{1E6DD3CC-7343-481E-A744-2F043A041743}" type="slidenum">
              <a:rPr lang="zh-TW" altLang="en-US" smtClean="0"/>
              <a:pPr/>
              <a:t>14</a:t>
            </a:fld>
            <a:endParaRPr lang="zh-TW" altLang="en-US"/>
          </a:p>
        </p:txBody>
      </p:sp>
    </p:spTree>
    <p:extLst>
      <p:ext uri="{BB962C8B-B14F-4D97-AF65-F5344CB8AC3E}">
        <p14:creationId xmlns:p14="http://schemas.microsoft.com/office/powerpoint/2010/main" val="13889686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zh-TW" altLang="en-US" dirty="0"/>
              <a:t>綜上所述</a:t>
            </a:r>
          </a:p>
        </p:txBody>
      </p:sp>
      <p:sp>
        <p:nvSpPr>
          <p:cNvPr id="4" name="投影片編號版面配置區 3"/>
          <p:cNvSpPr>
            <a:spLocks noGrp="1"/>
          </p:cNvSpPr>
          <p:nvPr>
            <p:ph type="sldNum" sz="quarter" idx="10"/>
          </p:nvPr>
        </p:nvSpPr>
        <p:spPr/>
        <p:txBody>
          <a:bodyPr/>
          <a:lstStyle/>
          <a:p>
            <a:fld id="{1E6DD3CC-7343-481E-A744-2F043A041743}" type="slidenum">
              <a:rPr lang="zh-TW" altLang="en-US" smtClean="0"/>
              <a:pPr/>
              <a:t>15</a:t>
            </a:fld>
            <a:endParaRPr lang="zh-TW" altLang="en-US"/>
          </a:p>
        </p:txBody>
      </p:sp>
    </p:spTree>
    <p:extLst>
      <p:ext uri="{BB962C8B-B14F-4D97-AF65-F5344CB8AC3E}">
        <p14:creationId xmlns:p14="http://schemas.microsoft.com/office/powerpoint/2010/main" val="6385065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1E6DD3CC-7343-481E-A744-2F043A041743}" type="slidenum">
              <a:rPr lang="zh-TW" altLang="en-US" smtClean="0"/>
              <a:pPr/>
              <a:t>16</a:t>
            </a:fld>
            <a:endParaRPr lang="zh-TW" altLang="en-US"/>
          </a:p>
        </p:txBody>
      </p:sp>
    </p:spTree>
    <p:extLst>
      <p:ext uri="{BB962C8B-B14F-4D97-AF65-F5344CB8AC3E}">
        <p14:creationId xmlns:p14="http://schemas.microsoft.com/office/powerpoint/2010/main" val="22724730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1E6DD3CC-7343-481E-A744-2F043A041743}" type="slidenum">
              <a:rPr lang="zh-TW" altLang="en-US" smtClean="0"/>
              <a:pPr/>
              <a:t>17</a:t>
            </a:fld>
            <a:endParaRPr lang="zh-TW" altLang="en-US"/>
          </a:p>
        </p:txBody>
      </p:sp>
    </p:spTree>
    <p:extLst>
      <p:ext uri="{BB962C8B-B14F-4D97-AF65-F5344CB8AC3E}">
        <p14:creationId xmlns:p14="http://schemas.microsoft.com/office/powerpoint/2010/main" val="1683016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1E6DD3CC-7343-481E-A744-2F043A041743}" type="slidenum">
              <a:rPr lang="zh-TW" altLang="en-US" smtClean="0"/>
              <a:pPr/>
              <a:t>18</a:t>
            </a:fld>
            <a:endParaRPr lang="zh-TW" altLang="en-US"/>
          </a:p>
        </p:txBody>
      </p:sp>
    </p:spTree>
    <p:extLst>
      <p:ext uri="{BB962C8B-B14F-4D97-AF65-F5344CB8AC3E}">
        <p14:creationId xmlns:p14="http://schemas.microsoft.com/office/powerpoint/2010/main" val="4002607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1E6DD3CC-7343-481E-A744-2F043A041743}" type="slidenum">
              <a:rPr lang="zh-TW" altLang="en-US" smtClean="0"/>
              <a:pPr/>
              <a:t>19</a:t>
            </a:fld>
            <a:endParaRPr lang="zh-TW" altLang="en-US"/>
          </a:p>
        </p:txBody>
      </p:sp>
    </p:spTree>
    <p:extLst>
      <p:ext uri="{BB962C8B-B14F-4D97-AF65-F5344CB8AC3E}">
        <p14:creationId xmlns:p14="http://schemas.microsoft.com/office/powerpoint/2010/main" val="4744999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1E6DD3CC-7343-481E-A744-2F043A041743}" type="slidenum">
              <a:rPr lang="zh-TW" altLang="en-US" smtClean="0"/>
              <a:pPr/>
              <a:t>20</a:t>
            </a:fld>
            <a:endParaRPr lang="zh-TW" altLang="en-US"/>
          </a:p>
        </p:txBody>
      </p:sp>
    </p:spTree>
    <p:extLst>
      <p:ext uri="{BB962C8B-B14F-4D97-AF65-F5344CB8AC3E}">
        <p14:creationId xmlns:p14="http://schemas.microsoft.com/office/powerpoint/2010/main" val="14670776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1E6DD3CC-7343-481E-A744-2F043A041743}" type="slidenum">
              <a:rPr lang="zh-TW" altLang="en-US" smtClean="0"/>
              <a:pPr/>
              <a:t>21</a:t>
            </a:fld>
            <a:endParaRPr lang="zh-TW" altLang="en-US"/>
          </a:p>
        </p:txBody>
      </p:sp>
    </p:spTree>
    <p:extLst>
      <p:ext uri="{BB962C8B-B14F-4D97-AF65-F5344CB8AC3E}">
        <p14:creationId xmlns:p14="http://schemas.microsoft.com/office/powerpoint/2010/main" val="23705095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fld id="{1E6DD3CC-7343-481E-A744-2F043A041743}" type="slidenum">
              <a:rPr lang="zh-TW" altLang="en-US" smtClean="0"/>
              <a:pPr/>
              <a:t>22</a:t>
            </a:fld>
            <a:endParaRPr lang="zh-TW" altLang="en-US"/>
          </a:p>
        </p:txBody>
      </p:sp>
    </p:spTree>
    <p:extLst>
      <p:ext uri="{BB962C8B-B14F-4D97-AF65-F5344CB8AC3E}">
        <p14:creationId xmlns:p14="http://schemas.microsoft.com/office/powerpoint/2010/main" val="6254803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fld id="{1E6DD3CC-7343-481E-A744-2F043A041743}" type="slidenum">
              <a:rPr lang="zh-TW" altLang="en-US" smtClean="0"/>
              <a:pPr/>
              <a:t>23</a:t>
            </a:fld>
            <a:endParaRPr lang="zh-TW" altLang="en-US"/>
          </a:p>
        </p:txBody>
      </p:sp>
    </p:spTree>
    <p:extLst>
      <p:ext uri="{BB962C8B-B14F-4D97-AF65-F5344CB8AC3E}">
        <p14:creationId xmlns:p14="http://schemas.microsoft.com/office/powerpoint/2010/main" val="14140002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zh-TW" altLang="en-US" dirty="0"/>
              <a:t>一個多樣性的數值反而無法快速找到還不錯的解</a:t>
            </a:r>
          </a:p>
        </p:txBody>
      </p:sp>
      <p:sp>
        <p:nvSpPr>
          <p:cNvPr id="4" name="投影片編號版面配置區 3"/>
          <p:cNvSpPr>
            <a:spLocks noGrp="1"/>
          </p:cNvSpPr>
          <p:nvPr>
            <p:ph type="sldNum" sz="quarter" idx="10"/>
          </p:nvPr>
        </p:nvSpPr>
        <p:spPr/>
        <p:txBody>
          <a:bodyPr/>
          <a:lstStyle/>
          <a:p>
            <a:fld id="{1E6DD3CC-7343-481E-A744-2F043A041743}" type="slidenum">
              <a:rPr lang="zh-TW" altLang="en-US" smtClean="0"/>
              <a:pPr/>
              <a:t>24</a:t>
            </a:fld>
            <a:endParaRPr lang="zh-TW" altLang="en-US"/>
          </a:p>
        </p:txBody>
      </p:sp>
    </p:spTree>
    <p:extLst>
      <p:ext uri="{BB962C8B-B14F-4D97-AF65-F5344CB8AC3E}">
        <p14:creationId xmlns:p14="http://schemas.microsoft.com/office/powerpoint/2010/main" val="7783924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fld id="{1E6DD3CC-7343-481E-A744-2F043A041743}" type="slidenum">
              <a:rPr lang="zh-TW" altLang="en-US" smtClean="0"/>
              <a:pPr/>
              <a:t>25</a:t>
            </a:fld>
            <a:endParaRPr lang="zh-TW" altLang="en-US"/>
          </a:p>
        </p:txBody>
      </p:sp>
    </p:spTree>
    <p:extLst>
      <p:ext uri="{BB962C8B-B14F-4D97-AF65-F5344CB8AC3E}">
        <p14:creationId xmlns:p14="http://schemas.microsoft.com/office/powerpoint/2010/main" val="22128707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fld id="{1E6DD3CC-7343-481E-A744-2F043A041743}" type="slidenum">
              <a:rPr lang="zh-TW" altLang="en-US" smtClean="0"/>
              <a:pPr/>
              <a:t>26</a:t>
            </a:fld>
            <a:endParaRPr lang="zh-TW" altLang="en-US"/>
          </a:p>
        </p:txBody>
      </p:sp>
    </p:spTree>
    <p:extLst>
      <p:ext uri="{BB962C8B-B14F-4D97-AF65-F5344CB8AC3E}">
        <p14:creationId xmlns:p14="http://schemas.microsoft.com/office/powerpoint/2010/main" val="1755874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1E6DD3CC-7343-481E-A744-2F043A041743}" type="slidenum">
              <a:rPr lang="zh-TW" altLang="en-US" smtClean="0"/>
              <a:pPr/>
              <a:t>27</a:t>
            </a:fld>
            <a:endParaRPr lang="zh-TW" altLang="en-US"/>
          </a:p>
        </p:txBody>
      </p:sp>
    </p:spTree>
    <p:extLst>
      <p:ext uri="{BB962C8B-B14F-4D97-AF65-F5344CB8AC3E}">
        <p14:creationId xmlns:p14="http://schemas.microsoft.com/office/powerpoint/2010/main" val="7656863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1E6DD3CC-7343-481E-A744-2F043A041743}" type="slidenum">
              <a:rPr lang="zh-TW" altLang="en-US" smtClean="0"/>
              <a:pPr/>
              <a:t>28</a:t>
            </a:fld>
            <a:endParaRPr lang="zh-TW" altLang="en-US"/>
          </a:p>
        </p:txBody>
      </p:sp>
    </p:spTree>
    <p:extLst>
      <p:ext uri="{BB962C8B-B14F-4D97-AF65-F5344CB8AC3E}">
        <p14:creationId xmlns:p14="http://schemas.microsoft.com/office/powerpoint/2010/main" val="66876033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fld id="{1E6DD3CC-7343-481E-A744-2F043A041743}" type="slidenum">
              <a:rPr lang="zh-TW" altLang="en-US" smtClean="0"/>
              <a:pPr/>
              <a:t>29</a:t>
            </a:fld>
            <a:endParaRPr lang="zh-TW" altLang="en-US"/>
          </a:p>
        </p:txBody>
      </p:sp>
    </p:spTree>
    <p:extLst>
      <p:ext uri="{BB962C8B-B14F-4D97-AF65-F5344CB8AC3E}">
        <p14:creationId xmlns:p14="http://schemas.microsoft.com/office/powerpoint/2010/main" val="17049833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zh-TW" altLang="en-US" dirty="0"/>
              <a:t>除了</a:t>
            </a:r>
            <a:r>
              <a:rPr lang="en-US" altLang="zh-TW" dirty="0"/>
              <a:t>QQ</a:t>
            </a:r>
            <a:r>
              <a:rPr lang="zh-TW" altLang="en-US" dirty="0"/>
              <a:t>，</a:t>
            </a:r>
            <a:r>
              <a:rPr lang="en-US" altLang="zh-TW" dirty="0"/>
              <a:t>HH</a:t>
            </a:r>
            <a:r>
              <a:rPr lang="zh-TW" altLang="en-US" dirty="0"/>
              <a:t>，</a:t>
            </a:r>
            <a:r>
              <a:rPr lang="en-US" altLang="zh-TW" dirty="0"/>
              <a:t/>
            </a:r>
            <a:br>
              <a:rPr lang="en-US" altLang="zh-TW" dirty="0"/>
            </a:br>
            <a:r>
              <a:rPr lang="en-US" altLang="zh-TW" dirty="0"/>
              <a:t>D</a:t>
            </a:r>
            <a:r>
              <a:rPr lang="zh-TW" altLang="en-US" dirty="0"/>
              <a:t>列的</a:t>
            </a:r>
            <a:r>
              <a:rPr lang="en-US" altLang="zh-TW" dirty="0"/>
              <a:t>mismatch</a:t>
            </a:r>
            <a:r>
              <a:rPr lang="zh-TW" altLang="en-US" dirty="0"/>
              <a:t>對於</a:t>
            </a:r>
            <a:r>
              <a:rPr lang="en-US" altLang="zh-TW" dirty="0"/>
              <a:t>disorder</a:t>
            </a:r>
            <a:r>
              <a:rPr lang="en-US" altLang="zh-TW" baseline="0" dirty="0"/>
              <a:t> protein</a:t>
            </a:r>
            <a:r>
              <a:rPr lang="zh-TW" altLang="en-US" baseline="0" dirty="0"/>
              <a:t> 來說需要更多的</a:t>
            </a:r>
            <a:r>
              <a:rPr lang="en-US" altLang="zh-TW" baseline="0" dirty="0"/>
              <a:t>penalty</a:t>
            </a:r>
          </a:p>
          <a:p>
            <a:r>
              <a:rPr lang="en-US" altLang="zh-TW" baseline="0" dirty="0"/>
              <a:t>C</a:t>
            </a:r>
            <a:r>
              <a:rPr lang="zh-TW" altLang="en-US" baseline="0" dirty="0"/>
              <a:t>列的</a:t>
            </a:r>
            <a:r>
              <a:rPr lang="en-US" altLang="zh-TW" baseline="0" dirty="0"/>
              <a:t>mismatch</a:t>
            </a:r>
            <a:r>
              <a:rPr lang="zh-TW" altLang="en-US" baseline="0" dirty="0"/>
              <a:t>就相較於</a:t>
            </a:r>
            <a:r>
              <a:rPr lang="en-US" altLang="zh-TW" baseline="0" dirty="0"/>
              <a:t>disorder protein</a:t>
            </a:r>
            <a:r>
              <a:rPr lang="zh-TW" altLang="en-US" baseline="0" dirty="0"/>
              <a:t>採取是提升一些分數</a:t>
            </a:r>
            <a:endParaRPr lang="zh-TW" altLang="en-US" dirty="0"/>
          </a:p>
        </p:txBody>
      </p:sp>
      <p:sp>
        <p:nvSpPr>
          <p:cNvPr id="4" name="投影片編號版面配置區 3"/>
          <p:cNvSpPr>
            <a:spLocks noGrp="1"/>
          </p:cNvSpPr>
          <p:nvPr>
            <p:ph type="sldNum" sz="quarter" idx="10"/>
          </p:nvPr>
        </p:nvSpPr>
        <p:spPr/>
        <p:txBody>
          <a:bodyPr/>
          <a:lstStyle/>
          <a:p>
            <a:fld id="{1E6DD3CC-7343-481E-A744-2F043A041743}" type="slidenum">
              <a:rPr lang="zh-TW" altLang="en-US" smtClean="0"/>
              <a:pPr/>
              <a:t>30</a:t>
            </a:fld>
            <a:endParaRPr lang="zh-TW" altLang="en-US"/>
          </a:p>
        </p:txBody>
      </p:sp>
    </p:spTree>
    <p:extLst>
      <p:ext uri="{BB962C8B-B14F-4D97-AF65-F5344CB8AC3E}">
        <p14:creationId xmlns:p14="http://schemas.microsoft.com/office/powerpoint/2010/main" val="40455575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TW" dirty="0"/>
              <a:t>D</a:t>
            </a:r>
            <a:r>
              <a:rPr lang="zh-TW" altLang="en-US" dirty="0"/>
              <a:t>跟</a:t>
            </a:r>
            <a:r>
              <a:rPr lang="en-US" altLang="zh-TW" dirty="0"/>
              <a:t>C</a:t>
            </a:r>
            <a:r>
              <a:rPr lang="zh-TW" altLang="en-US" dirty="0"/>
              <a:t>和</a:t>
            </a:r>
            <a:r>
              <a:rPr lang="en-US" altLang="zh-TW" dirty="0"/>
              <a:t>N</a:t>
            </a:r>
            <a:r>
              <a:rPr lang="zh-TW" altLang="en-US" dirty="0"/>
              <a:t>根</a:t>
            </a:r>
            <a:r>
              <a:rPr lang="en-US" altLang="zh-TW" dirty="0"/>
              <a:t>Q</a:t>
            </a:r>
            <a:r>
              <a:rPr lang="zh-TW" altLang="en-US" dirty="0"/>
              <a:t>的</a:t>
            </a:r>
            <a:r>
              <a:rPr lang="en-US" altLang="zh-TW" dirty="0"/>
              <a:t>mismatch</a:t>
            </a:r>
            <a:r>
              <a:rPr lang="zh-TW" altLang="en-US" dirty="0"/>
              <a:t>變化又更大</a:t>
            </a:r>
          </a:p>
        </p:txBody>
      </p:sp>
      <p:sp>
        <p:nvSpPr>
          <p:cNvPr id="4" name="投影片編號版面配置區 3"/>
          <p:cNvSpPr>
            <a:spLocks noGrp="1"/>
          </p:cNvSpPr>
          <p:nvPr>
            <p:ph type="sldNum" sz="quarter" idx="10"/>
          </p:nvPr>
        </p:nvSpPr>
        <p:spPr/>
        <p:txBody>
          <a:bodyPr/>
          <a:lstStyle/>
          <a:p>
            <a:fld id="{1E6DD3CC-7343-481E-A744-2F043A041743}" type="slidenum">
              <a:rPr lang="zh-TW" altLang="en-US" smtClean="0"/>
              <a:pPr/>
              <a:t>31</a:t>
            </a:fld>
            <a:endParaRPr lang="zh-TW" altLang="en-US"/>
          </a:p>
        </p:txBody>
      </p:sp>
    </p:spTree>
    <p:extLst>
      <p:ext uri="{BB962C8B-B14F-4D97-AF65-F5344CB8AC3E}">
        <p14:creationId xmlns:p14="http://schemas.microsoft.com/office/powerpoint/2010/main" val="24386496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fld id="{1E6DD3CC-7343-481E-A744-2F043A041743}" type="slidenum">
              <a:rPr lang="zh-TW" altLang="en-US" smtClean="0"/>
              <a:pPr/>
              <a:t>32</a:t>
            </a:fld>
            <a:endParaRPr lang="zh-TW" altLang="en-US"/>
          </a:p>
        </p:txBody>
      </p:sp>
    </p:spTree>
    <p:extLst>
      <p:ext uri="{BB962C8B-B14F-4D97-AF65-F5344CB8AC3E}">
        <p14:creationId xmlns:p14="http://schemas.microsoft.com/office/powerpoint/2010/main" val="257016032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fld id="{1E6DD3CC-7343-481E-A744-2F043A041743}" type="slidenum">
              <a:rPr lang="zh-TW" altLang="en-US" smtClean="0"/>
              <a:pPr/>
              <a:t>33</a:t>
            </a:fld>
            <a:endParaRPr lang="zh-TW" altLang="en-US"/>
          </a:p>
        </p:txBody>
      </p:sp>
    </p:spTree>
    <p:extLst>
      <p:ext uri="{BB962C8B-B14F-4D97-AF65-F5344CB8AC3E}">
        <p14:creationId xmlns:p14="http://schemas.microsoft.com/office/powerpoint/2010/main" val="278502742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TW" dirty="0" smtClean="0"/>
              <a:t>V </a:t>
            </a:r>
            <a:r>
              <a:rPr lang="zh-TW" altLang="en-US" dirty="0" smtClean="0"/>
              <a:t>遠房親緝</a:t>
            </a:r>
            <a:endParaRPr lang="zh-TW" altLang="en-US" dirty="0"/>
          </a:p>
        </p:txBody>
      </p:sp>
      <p:sp>
        <p:nvSpPr>
          <p:cNvPr id="4" name="投影片編號版面配置區 3"/>
          <p:cNvSpPr>
            <a:spLocks noGrp="1"/>
          </p:cNvSpPr>
          <p:nvPr>
            <p:ph type="sldNum" sz="quarter" idx="10"/>
          </p:nvPr>
        </p:nvSpPr>
        <p:spPr/>
        <p:txBody>
          <a:bodyPr/>
          <a:lstStyle/>
          <a:p>
            <a:fld id="{1E6DD3CC-7343-481E-A744-2F043A041743}" type="slidenum">
              <a:rPr lang="zh-TW" altLang="en-US" smtClean="0"/>
              <a:pPr/>
              <a:t>34</a:t>
            </a:fld>
            <a:endParaRPr lang="zh-TW" altLang="en-US"/>
          </a:p>
        </p:txBody>
      </p:sp>
    </p:spTree>
    <p:extLst>
      <p:ext uri="{BB962C8B-B14F-4D97-AF65-F5344CB8AC3E}">
        <p14:creationId xmlns:p14="http://schemas.microsoft.com/office/powerpoint/2010/main" val="264656084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fld id="{1E6DD3CC-7343-481E-A744-2F043A041743}" type="slidenum">
              <a:rPr lang="zh-TW" altLang="en-US" smtClean="0"/>
              <a:pPr/>
              <a:t>35</a:t>
            </a:fld>
            <a:endParaRPr lang="zh-TW" altLang="en-US"/>
          </a:p>
        </p:txBody>
      </p:sp>
    </p:spTree>
    <p:extLst>
      <p:ext uri="{BB962C8B-B14F-4D97-AF65-F5344CB8AC3E}">
        <p14:creationId xmlns:p14="http://schemas.microsoft.com/office/powerpoint/2010/main" val="378605464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1E6DD3CC-7343-481E-A744-2F043A041743}" type="slidenum">
              <a:rPr lang="zh-TW" altLang="en-US" smtClean="0"/>
              <a:pPr/>
              <a:t>36</a:t>
            </a:fld>
            <a:endParaRPr lang="zh-TW" altLang="en-US"/>
          </a:p>
        </p:txBody>
      </p:sp>
    </p:spTree>
    <p:extLst>
      <p:ext uri="{BB962C8B-B14F-4D97-AF65-F5344CB8AC3E}">
        <p14:creationId xmlns:p14="http://schemas.microsoft.com/office/powerpoint/2010/main" val="366494853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1E6DD3CC-7343-481E-A744-2F043A041743}" type="slidenum">
              <a:rPr lang="zh-TW" altLang="en-US" smtClean="0"/>
              <a:pPr/>
              <a:t>37</a:t>
            </a:fld>
            <a:endParaRPr lang="zh-TW" altLang="en-US"/>
          </a:p>
        </p:txBody>
      </p:sp>
    </p:spTree>
    <p:extLst>
      <p:ext uri="{BB962C8B-B14F-4D97-AF65-F5344CB8AC3E}">
        <p14:creationId xmlns:p14="http://schemas.microsoft.com/office/powerpoint/2010/main" val="8461072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A64FAEB2-4D45-40CE-B1FA-B2A254170928}" type="datetime1">
              <a:rPr lang="zh-TW" altLang="en-US" smtClean="0"/>
              <a:t>2020/9/15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04C04D6A-2E29-441A-A244-9F1014899F6D}"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B7835125-2295-491E-B3DD-FE263D3200EF}" type="datetime1">
              <a:rPr lang="zh-TW" altLang="en-US" smtClean="0"/>
              <a:t>2020/9/15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04C04D6A-2E29-441A-A244-9F1014899F6D}"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A53F689C-4317-423E-9961-679B772D48FF}" type="datetime1">
              <a:rPr lang="zh-TW" altLang="en-US" smtClean="0"/>
              <a:t>2020/9/15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04C04D6A-2E29-441A-A244-9F1014899F6D}"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A0B443DD-8C8B-4E1B-8146-299672FDDC68}" type="datetime1">
              <a:rPr lang="zh-TW" altLang="en-US" smtClean="0"/>
              <a:t>2020/9/15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04C04D6A-2E29-441A-A244-9F1014899F6D}"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A7CA6703-1DBB-4C3B-B9A8-9CE0EE3A42D1}" type="datetime1">
              <a:rPr lang="zh-TW" altLang="en-US" smtClean="0"/>
              <a:t>2020/9/15</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04C04D6A-2E29-441A-A244-9F1014899F6D}"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2953E843-5549-4953-AAC8-FE4CBF24C96C}" type="datetime1">
              <a:rPr lang="zh-TW" altLang="en-US" smtClean="0"/>
              <a:t>2020/9/15</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04C04D6A-2E29-441A-A244-9F1014899F6D}"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D702CC9A-D171-4832-8964-C4DCE54C08B3}" type="datetime1">
              <a:rPr lang="zh-TW" altLang="en-US" smtClean="0"/>
              <a:t>2020/9/15</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04C04D6A-2E29-441A-A244-9F1014899F6D}"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827CDF53-4726-4073-9E86-DF50AF9D14C1}" type="datetime1">
              <a:rPr lang="zh-TW" altLang="en-US" smtClean="0"/>
              <a:t>2020/9/15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04C04D6A-2E29-441A-A244-9F1014899F6D}"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C1F2B7CE-174D-4A7E-B9EB-91EBF2CB97A2}" type="datetime1">
              <a:rPr lang="zh-TW" altLang="en-US" smtClean="0"/>
              <a:t>2020/9/15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04C04D6A-2E29-441A-A244-9F1014899F6D}"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36B18E92-72AC-4EC5-974D-DCF970459590}" type="datetime1">
              <a:rPr lang="zh-TW" altLang="en-US" smtClean="0"/>
              <a:t>2020/9/15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04C04D6A-2E29-441A-A244-9F1014899F6D}"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18C01D78-95D2-4A91-AC98-DBC481E01795}" type="datetime1">
              <a:rPr lang="zh-TW" altLang="en-US" smtClean="0"/>
              <a:t>2020/9/15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04C04D6A-2E29-441A-A244-9F1014899F6D}"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1763BE-BCB9-4201-A6BD-7E69367BB299}" type="datetime1">
              <a:rPr lang="zh-TW" altLang="en-US" smtClean="0"/>
              <a:t>2020/9/15</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C04D6A-2E29-441A-A244-9F1014899F6D}"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2.emf"/><Relationship Id="rId4"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00.png"/></Relationships>
</file>

<file path=ppt/slides/_rels/slide11.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130.png"/><Relationship Id="rId4" Type="http://schemas.openxmlformats.org/officeDocument/2006/relationships/image" Target="../media/image120.png"/></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1268759"/>
            <a:ext cx="7772400" cy="2331691"/>
          </a:xfrm>
        </p:spPr>
        <p:txBody>
          <a:bodyPr>
            <a:normAutofit fontScale="90000"/>
          </a:bodyPr>
          <a:lstStyle/>
          <a:p>
            <a:r>
              <a:rPr lang="en-US" dirty="0">
                <a:latin typeface="Times New Roman" pitchFamily="18" charset="0"/>
                <a:cs typeface="Times New Roman" pitchFamily="18" charset="0"/>
              </a:rPr>
              <a:t>Reconstructing the Amino Acid Scoring Matrices to</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Improve Homology Detection in Intrinsically Disordered</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Proteins</a:t>
            </a:r>
            <a:endParaRPr lang="zh-TW" altLang="en-US" dirty="0">
              <a:latin typeface="Times New Roman" pitchFamily="18" charset="0"/>
              <a:cs typeface="Times New Roman" pitchFamily="18" charset="0"/>
            </a:endParaRPr>
          </a:p>
        </p:txBody>
      </p:sp>
      <p:sp>
        <p:nvSpPr>
          <p:cNvPr id="3" name="副標題 2"/>
          <p:cNvSpPr>
            <a:spLocks noGrp="1"/>
          </p:cNvSpPr>
          <p:nvPr>
            <p:ph type="subTitle" idx="1"/>
          </p:nvPr>
        </p:nvSpPr>
        <p:spPr>
          <a:xfrm>
            <a:off x="1403648" y="4102100"/>
            <a:ext cx="6772300" cy="1752600"/>
          </a:xfrm>
        </p:spPr>
        <p:txBody>
          <a:bodyPr>
            <a:normAutofit fontScale="92500"/>
          </a:bodyPr>
          <a:lstStyle/>
          <a:p>
            <a:pPr algn="l"/>
            <a:r>
              <a:rPr lang="en-US" altLang="zh-TW" b="1" dirty="0">
                <a:solidFill>
                  <a:schemeClr val="tx1"/>
                </a:solidFill>
                <a:latin typeface="Times New Roman" pitchFamily="18" charset="0"/>
                <a:cs typeface="Times New Roman" pitchFamily="18" charset="0"/>
              </a:rPr>
              <a:t>Student:</a:t>
            </a:r>
            <a:r>
              <a:rPr lang="en-US" altLang="zh-TW" dirty="0">
                <a:solidFill>
                  <a:schemeClr val="tx1"/>
                </a:solidFill>
                <a:latin typeface="Times New Roman" pitchFamily="18" charset="0"/>
                <a:cs typeface="Times New Roman" pitchFamily="18" charset="0"/>
              </a:rPr>
              <a:t> Feng-Yang Tsai (</a:t>
            </a:r>
            <a:r>
              <a:rPr lang="zh-TW" altLang="en-US" dirty="0">
                <a:solidFill>
                  <a:schemeClr val="tx1"/>
                </a:solidFill>
                <a:latin typeface="標楷體" pitchFamily="65" charset="-120"/>
                <a:ea typeface="標楷體" pitchFamily="65" charset="-120"/>
                <a:cs typeface="Times New Roman" pitchFamily="18" charset="0"/>
              </a:rPr>
              <a:t>蔡豐仰</a:t>
            </a:r>
            <a:r>
              <a:rPr lang="en-US" altLang="zh-TW" dirty="0">
                <a:solidFill>
                  <a:schemeClr val="tx1"/>
                </a:solidFill>
                <a:latin typeface="Times New Roman" pitchFamily="18" charset="0"/>
                <a:cs typeface="Times New Roman" pitchFamily="18" charset="0"/>
              </a:rPr>
              <a:t>)</a:t>
            </a:r>
          </a:p>
          <a:p>
            <a:pPr algn="l"/>
            <a:r>
              <a:rPr lang="en-US" altLang="zh-TW" b="1" dirty="0">
                <a:solidFill>
                  <a:schemeClr val="tx1"/>
                </a:solidFill>
                <a:latin typeface="Times New Roman" pitchFamily="18" charset="0"/>
                <a:cs typeface="Times New Roman" pitchFamily="18" charset="0"/>
              </a:rPr>
              <a:t>Advisor:</a:t>
            </a:r>
            <a:r>
              <a:rPr lang="en-US" altLang="zh-TW" dirty="0">
                <a:solidFill>
                  <a:schemeClr val="tx1"/>
                </a:solidFill>
                <a:latin typeface="Times New Roman" pitchFamily="18" charset="0"/>
                <a:cs typeface="Times New Roman" pitchFamily="18" charset="0"/>
              </a:rPr>
              <a:t> Prof. Chang-</a:t>
            </a:r>
            <a:r>
              <a:rPr lang="en-US" altLang="zh-TW" dirty="0" err="1">
                <a:solidFill>
                  <a:schemeClr val="tx1"/>
                </a:solidFill>
                <a:latin typeface="Times New Roman" pitchFamily="18" charset="0"/>
                <a:cs typeface="Times New Roman" pitchFamily="18" charset="0"/>
              </a:rPr>
              <a:t>Biau</a:t>
            </a:r>
            <a:r>
              <a:rPr lang="en-US" altLang="zh-TW" dirty="0">
                <a:solidFill>
                  <a:schemeClr val="tx1"/>
                </a:solidFill>
                <a:latin typeface="Times New Roman" pitchFamily="18" charset="0"/>
                <a:cs typeface="Times New Roman" pitchFamily="18" charset="0"/>
              </a:rPr>
              <a:t> Yang (</a:t>
            </a:r>
            <a:r>
              <a:rPr lang="zh-TW" altLang="en-US" dirty="0">
                <a:solidFill>
                  <a:schemeClr val="tx1"/>
                </a:solidFill>
                <a:latin typeface="標楷體" pitchFamily="65" charset="-120"/>
                <a:ea typeface="標楷體" pitchFamily="65" charset="-120"/>
                <a:cs typeface="Times New Roman" pitchFamily="18" charset="0"/>
              </a:rPr>
              <a:t>楊昌彪</a:t>
            </a:r>
            <a:r>
              <a:rPr lang="en-US" altLang="zh-TW" dirty="0">
                <a:solidFill>
                  <a:schemeClr val="tx1"/>
                </a:solidFill>
                <a:latin typeface="Times New Roman" pitchFamily="18" charset="0"/>
                <a:cs typeface="Times New Roman" pitchFamily="18" charset="0"/>
              </a:rPr>
              <a:t>)</a:t>
            </a:r>
          </a:p>
          <a:p>
            <a:pPr algn="l"/>
            <a:r>
              <a:rPr lang="en-US" altLang="zh-TW" b="1" dirty="0">
                <a:solidFill>
                  <a:schemeClr val="tx1"/>
                </a:solidFill>
                <a:latin typeface="Times New Roman" pitchFamily="18" charset="0"/>
                <a:cs typeface="Times New Roman" pitchFamily="18" charset="0"/>
              </a:rPr>
              <a:t>Date:</a:t>
            </a:r>
            <a:r>
              <a:rPr lang="en-US" altLang="zh-TW" dirty="0">
                <a:solidFill>
                  <a:schemeClr val="tx1"/>
                </a:solidFill>
                <a:latin typeface="Times New Roman" pitchFamily="18" charset="0"/>
                <a:cs typeface="Times New Roman" pitchFamily="18" charset="0"/>
              </a:rPr>
              <a:t> Sept. 3, 2020</a:t>
            </a:r>
            <a:endParaRPr lang="zh-TW" altLang="en-US" dirty="0">
              <a:solidFill>
                <a:schemeClr val="tx1"/>
              </a:solidFill>
              <a:latin typeface="Times New Roman" pitchFamily="18" charset="0"/>
              <a:cs typeface="Times New Roman" pitchFamily="18" charset="0"/>
            </a:endParaRPr>
          </a:p>
          <a:p>
            <a:endParaRPr lang="zh-TW" altLang="en-US" dirty="0">
              <a:latin typeface="Times New Roman" pitchFamily="18" charset="0"/>
              <a:cs typeface="Times New Roman" pitchFamily="18" charset="0"/>
            </a:endParaRPr>
          </a:p>
        </p:txBody>
      </p:sp>
      <p:sp>
        <p:nvSpPr>
          <p:cNvPr id="5" name="投影片編號版面配置區 4"/>
          <p:cNvSpPr>
            <a:spLocks noGrp="1"/>
          </p:cNvSpPr>
          <p:nvPr>
            <p:ph type="sldNum" sz="quarter" idx="12"/>
          </p:nvPr>
        </p:nvSpPr>
        <p:spPr/>
        <p:txBody>
          <a:bodyPr/>
          <a:lstStyle/>
          <a:p>
            <a:fld id="{04C04D6A-2E29-441A-A244-9F1014899F6D}" type="slidenum">
              <a:rPr lang="zh-TW" altLang="en-US" sz="1600" smtClean="0"/>
              <a:pPr/>
              <a:t>1</a:t>
            </a:fld>
            <a:endParaRPr lang="zh-TW" altLang="en-US" sz="16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字方塊 10">
            <a:extLst>
              <a:ext uri="{FF2B5EF4-FFF2-40B4-BE49-F238E27FC236}">
                <a16:creationId xmlns:a16="http://schemas.microsoft.com/office/drawing/2014/main" id="{F7024DF5-78FF-4A3F-B7F4-E9879D39926E}"/>
              </a:ext>
            </a:extLst>
          </p:cNvPr>
          <p:cNvSpPr txBox="1"/>
          <p:nvPr/>
        </p:nvSpPr>
        <p:spPr>
          <a:xfrm>
            <a:off x="188616" y="91827"/>
            <a:ext cx="8755811" cy="707886"/>
          </a:xfrm>
          <a:prstGeom prst="rect">
            <a:avLst/>
          </a:prstGeom>
          <a:noFill/>
        </p:spPr>
        <p:txBody>
          <a:bodyPr wrap="square" rtlCol="0">
            <a:spAutoFit/>
          </a:bodyPr>
          <a:lstStyle/>
          <a:p>
            <a:r>
              <a:rPr lang="en-US" altLang="zh-TW" sz="4000" b="1" dirty="0">
                <a:latin typeface="Times New Roman" panose="02020603050405020304" pitchFamily="18" charset="0"/>
                <a:cs typeface="Times New Roman" panose="02020603050405020304" pitchFamily="18" charset="0"/>
              </a:rPr>
              <a:t>Intrinsically Disordered Proteins (IDPs)</a:t>
            </a:r>
            <a:endParaRPr lang="zh-TW" altLang="en-US" sz="4000" b="1" dirty="0">
              <a:latin typeface="Times New Roman" panose="02020603050405020304" pitchFamily="18" charset="0"/>
              <a:cs typeface="Times New Roman" panose="02020603050405020304" pitchFamily="18" charset="0"/>
            </a:endParaRPr>
          </a:p>
        </p:txBody>
      </p:sp>
      <p:sp>
        <p:nvSpPr>
          <p:cNvPr id="16" name="矩形 15">
            <a:extLst>
              <a:ext uri="{FF2B5EF4-FFF2-40B4-BE49-F238E27FC236}">
                <a16:creationId xmlns:a16="http://schemas.microsoft.com/office/drawing/2014/main" id="{527E1C93-FCFE-4838-88ED-BFD53015DC28}"/>
              </a:ext>
            </a:extLst>
          </p:cNvPr>
          <p:cNvSpPr/>
          <p:nvPr/>
        </p:nvSpPr>
        <p:spPr>
          <a:xfrm>
            <a:off x="323528" y="1052736"/>
            <a:ext cx="8127800" cy="1200329"/>
          </a:xfrm>
          <a:prstGeom prst="rect">
            <a:avLst/>
          </a:prstGeom>
        </p:spPr>
        <p:txBody>
          <a:bodyPr wrap="square">
            <a:spAutoFit/>
          </a:bodyPr>
          <a:lstStyle/>
          <a:p>
            <a:r>
              <a:rPr lang="en-US" altLang="zh-TW" sz="2400" dirty="0">
                <a:solidFill>
                  <a:srgbClr val="222222"/>
                </a:solidFill>
                <a:latin typeface="Times New Roman" panose="02020603050405020304" pitchFamily="18" charset="0"/>
                <a:cs typeface="Times New Roman" panose="02020603050405020304" pitchFamily="18" charset="0"/>
              </a:rPr>
              <a:t>Intrinsically disordered proteins (IDPs) :</a:t>
            </a:r>
          </a:p>
          <a:p>
            <a:r>
              <a:rPr lang="en-US" altLang="zh-TW" sz="1600" dirty="0">
                <a:solidFill>
                  <a:srgbClr val="222222"/>
                </a:solidFill>
                <a:latin typeface="Times New Roman" panose="02020603050405020304" pitchFamily="18" charset="0"/>
                <a:cs typeface="Times New Roman" panose="02020603050405020304" pitchFamily="18" charset="0"/>
              </a:rPr>
              <a:t>●</a:t>
            </a:r>
            <a:r>
              <a:rPr lang="en-US" altLang="zh-TW" sz="2400" dirty="0">
                <a:solidFill>
                  <a:srgbClr val="222222"/>
                </a:solidFill>
                <a:latin typeface="Times New Roman" panose="02020603050405020304" pitchFamily="18" charset="0"/>
                <a:cs typeface="Times New Roman" panose="02020603050405020304" pitchFamily="18" charset="0"/>
              </a:rPr>
              <a:t> not attain stable three-dimensional structures.  </a:t>
            </a:r>
          </a:p>
          <a:p>
            <a:r>
              <a:rPr lang="en-US" altLang="zh-TW" sz="1600" dirty="0">
                <a:solidFill>
                  <a:srgbClr val="222222"/>
                </a:solidFill>
                <a:latin typeface="Times New Roman" panose="02020603050405020304" pitchFamily="18" charset="0"/>
                <a:cs typeface="Times New Roman" panose="02020603050405020304" pitchFamily="18" charset="0"/>
              </a:rPr>
              <a:t>●</a:t>
            </a:r>
            <a:r>
              <a:rPr lang="en-US" altLang="zh-TW" sz="2400" dirty="0">
                <a:solidFill>
                  <a:srgbClr val="222222"/>
                </a:solidFill>
                <a:latin typeface="Times New Roman" panose="02020603050405020304" pitchFamily="18" charset="0"/>
                <a:cs typeface="Times New Roman" panose="02020603050405020304" pitchFamily="18" charset="0"/>
              </a:rPr>
              <a:t> appear unfolded.</a:t>
            </a:r>
            <a:endParaRPr lang="zh-TW" altLang="en-US" sz="2400" dirty="0">
              <a:latin typeface="Times New Roman" panose="02020603050405020304" pitchFamily="18" charset="0"/>
              <a:cs typeface="Times New Roman" panose="02020603050405020304" pitchFamily="18" charset="0"/>
            </a:endParaRPr>
          </a:p>
        </p:txBody>
      </p:sp>
      <p:pic>
        <p:nvPicPr>
          <p:cNvPr id="19" name="圖片 18">
            <a:extLst>
              <a:ext uri="{FF2B5EF4-FFF2-40B4-BE49-F238E27FC236}">
                <a16:creationId xmlns:a16="http://schemas.microsoft.com/office/drawing/2014/main" id="{D0ECCE95-0CA7-4E08-B0EE-0AB0D794DA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0966" y="2851170"/>
            <a:ext cx="5691110" cy="2725320"/>
          </a:xfrm>
          <a:prstGeom prst="rect">
            <a:avLst/>
          </a:prstGeom>
          <a:effectLst>
            <a:outerShdw blurRad="50800" dist="38100" dir="2700000" algn="tl" rotWithShape="0">
              <a:prstClr val="black">
                <a:alpha val="40000"/>
              </a:prstClr>
            </a:outerShdw>
          </a:effectLst>
        </p:spPr>
      </p:pic>
      <p:sp>
        <p:nvSpPr>
          <p:cNvPr id="20" name="矩形 19">
            <a:extLst>
              <a:ext uri="{FF2B5EF4-FFF2-40B4-BE49-F238E27FC236}">
                <a16:creationId xmlns:a16="http://schemas.microsoft.com/office/drawing/2014/main" id="{FD5B4012-13C5-4C89-A721-8B6BD8674EB5}"/>
              </a:ext>
            </a:extLst>
          </p:cNvPr>
          <p:cNvSpPr/>
          <p:nvPr/>
        </p:nvSpPr>
        <p:spPr>
          <a:xfrm>
            <a:off x="719596" y="5859968"/>
            <a:ext cx="7335664" cy="738664"/>
          </a:xfrm>
          <a:prstGeom prst="rect">
            <a:avLst/>
          </a:prstGeom>
        </p:spPr>
        <p:txBody>
          <a:bodyPr wrap="square">
            <a:spAutoFit/>
          </a:bodyPr>
          <a:lstStyle/>
          <a:p>
            <a:r>
              <a:rPr lang="en-US" altLang="zh-TW" sz="1400" dirty="0">
                <a:latin typeface="Times New Roman" panose="02020603050405020304" pitchFamily="18" charset="0"/>
                <a:cs typeface="Times New Roman" panose="02020603050405020304" pitchFamily="18" charset="0"/>
              </a:rPr>
              <a:t>Interactive version of figure from: </a:t>
            </a:r>
            <a:r>
              <a:rPr lang="en-US" altLang="zh-TW" sz="1400" dirty="0" err="1">
                <a:latin typeface="Times New Roman" panose="02020603050405020304" pitchFamily="18" charset="0"/>
                <a:cs typeface="Times New Roman" panose="02020603050405020304" pitchFamily="18" charset="0"/>
              </a:rPr>
              <a:t>Majorek</a:t>
            </a:r>
            <a:r>
              <a:rPr lang="en-US" altLang="zh-TW" sz="1400" dirty="0">
                <a:latin typeface="Times New Roman" panose="02020603050405020304" pitchFamily="18" charset="0"/>
                <a:cs typeface="Times New Roman" panose="02020603050405020304" pitchFamily="18" charset="0"/>
              </a:rPr>
              <a:t>, Karolina; Kozlowski, Lukasz; </a:t>
            </a:r>
            <a:r>
              <a:rPr lang="en-US" altLang="zh-TW" sz="1400" dirty="0" err="1">
                <a:latin typeface="Times New Roman" panose="02020603050405020304" pitchFamily="18" charset="0"/>
                <a:cs typeface="Times New Roman" panose="02020603050405020304" pitchFamily="18" charset="0"/>
              </a:rPr>
              <a:t>Jakalski</a:t>
            </a:r>
            <a:r>
              <a:rPr lang="en-US" altLang="zh-TW" sz="1400" dirty="0">
                <a:latin typeface="Times New Roman" panose="02020603050405020304" pitchFamily="18" charset="0"/>
                <a:cs typeface="Times New Roman" panose="02020603050405020304" pitchFamily="18" charset="0"/>
              </a:rPr>
              <a:t>, Marcin; </a:t>
            </a:r>
            <a:r>
              <a:rPr lang="en-US" altLang="zh-TW" sz="1400" dirty="0" err="1">
                <a:latin typeface="Times New Roman" panose="02020603050405020304" pitchFamily="18" charset="0"/>
                <a:cs typeface="Times New Roman" panose="02020603050405020304" pitchFamily="18" charset="0"/>
              </a:rPr>
              <a:t>Bujnicki</a:t>
            </a:r>
            <a:r>
              <a:rPr lang="en-US" altLang="zh-TW" sz="1400" dirty="0">
                <a:latin typeface="Times New Roman" panose="02020603050405020304" pitchFamily="18" charset="0"/>
                <a:cs typeface="Times New Roman" panose="02020603050405020304" pitchFamily="18" charset="0"/>
              </a:rPr>
              <a:t> </a:t>
            </a:r>
            <a:r>
              <a:rPr lang="en-US" altLang="zh-TW" sz="1400" dirty="0" err="1">
                <a:latin typeface="Times New Roman" panose="02020603050405020304" pitchFamily="18" charset="0"/>
                <a:cs typeface="Times New Roman" panose="02020603050405020304" pitchFamily="18" charset="0"/>
              </a:rPr>
              <a:t>Janusz</a:t>
            </a:r>
            <a:r>
              <a:rPr lang="en-US" altLang="zh-TW" sz="1400" dirty="0">
                <a:latin typeface="Times New Roman" panose="02020603050405020304" pitchFamily="18" charset="0"/>
                <a:cs typeface="Times New Roman" panose="02020603050405020304" pitchFamily="18" charset="0"/>
              </a:rPr>
              <a:t> M. (2008) First Steps of Protein Structure Prediction. In: Prediction of Protein Structures, Functions, and Interactions Pages: 39-62.</a:t>
            </a:r>
            <a:endParaRPr lang="zh-TW" altLang="en-US" sz="1400" dirty="0">
              <a:latin typeface="Times New Roman" panose="02020603050405020304" pitchFamily="18" charset="0"/>
              <a:cs typeface="Times New Roman" panose="02020603050405020304" pitchFamily="18" charset="0"/>
            </a:endParaRPr>
          </a:p>
        </p:txBody>
      </p:sp>
      <p:sp>
        <p:nvSpPr>
          <p:cNvPr id="21" name="投影片編號版面配置區 3">
            <a:extLst>
              <a:ext uri="{FF2B5EF4-FFF2-40B4-BE49-F238E27FC236}">
                <a16:creationId xmlns:a16="http://schemas.microsoft.com/office/drawing/2014/main" id="{6CA611E3-4519-4E10-8641-2EE6C54DC9AB}"/>
              </a:ext>
            </a:extLst>
          </p:cNvPr>
          <p:cNvSpPr>
            <a:spLocks noGrp="1"/>
          </p:cNvSpPr>
          <p:nvPr>
            <p:ph type="sldNum" sz="quarter" idx="12"/>
          </p:nvPr>
        </p:nvSpPr>
        <p:spPr>
          <a:xfrm>
            <a:off x="6553200" y="6356350"/>
            <a:ext cx="2133600" cy="365125"/>
          </a:xfrm>
        </p:spPr>
        <p:txBody>
          <a:bodyPr/>
          <a:lstStyle/>
          <a:p>
            <a:fld id="{04C04D6A-2E29-441A-A244-9F1014899F6D}" type="slidenum">
              <a:rPr lang="zh-TW" altLang="en-US" sz="1600" smtClean="0"/>
              <a:pPr/>
              <a:t>2</a:t>
            </a:fld>
            <a:endParaRPr lang="zh-TW" altLang="en-US" sz="16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字方塊 10">
            <a:extLst>
              <a:ext uri="{FF2B5EF4-FFF2-40B4-BE49-F238E27FC236}">
                <a16:creationId xmlns:a16="http://schemas.microsoft.com/office/drawing/2014/main" id="{F7024DF5-78FF-4A3F-B7F4-E9879D39926E}"/>
              </a:ext>
            </a:extLst>
          </p:cNvPr>
          <p:cNvSpPr txBox="1"/>
          <p:nvPr/>
        </p:nvSpPr>
        <p:spPr>
          <a:xfrm>
            <a:off x="188616" y="91827"/>
            <a:ext cx="8755811" cy="707886"/>
          </a:xfrm>
          <a:prstGeom prst="rect">
            <a:avLst/>
          </a:prstGeom>
          <a:noFill/>
        </p:spPr>
        <p:txBody>
          <a:bodyPr wrap="square" rtlCol="0">
            <a:spAutoFit/>
          </a:bodyPr>
          <a:lstStyle/>
          <a:p>
            <a:r>
              <a:rPr lang="en-US" altLang="zh-TW" sz="4000" b="1" dirty="0">
                <a:latin typeface="Times New Roman" panose="02020603050405020304" pitchFamily="18" charset="0"/>
                <a:cs typeface="Times New Roman" panose="02020603050405020304" pitchFamily="18" charset="0"/>
              </a:rPr>
              <a:t>Intrinsically Disordered Proteins (IDPs)</a:t>
            </a:r>
            <a:endParaRPr lang="zh-TW" altLang="en-US" sz="4000" b="1" dirty="0">
              <a:latin typeface="Times New Roman" panose="02020603050405020304" pitchFamily="18" charset="0"/>
              <a:cs typeface="Times New Roman" panose="02020603050405020304" pitchFamily="18" charset="0"/>
            </a:endParaRPr>
          </a:p>
        </p:txBody>
      </p:sp>
      <p:sp>
        <p:nvSpPr>
          <p:cNvPr id="3" name="矩形 2">
            <a:extLst>
              <a:ext uri="{FF2B5EF4-FFF2-40B4-BE49-F238E27FC236}">
                <a16:creationId xmlns:a16="http://schemas.microsoft.com/office/drawing/2014/main" id="{2C19B5E9-4DBB-4657-9571-7CDBD2F0CACF}"/>
              </a:ext>
            </a:extLst>
          </p:cNvPr>
          <p:cNvSpPr/>
          <p:nvPr/>
        </p:nvSpPr>
        <p:spPr>
          <a:xfrm>
            <a:off x="1043608" y="5892581"/>
            <a:ext cx="5256584" cy="646331"/>
          </a:xfrm>
          <a:prstGeom prst="rect">
            <a:avLst/>
          </a:prstGeom>
        </p:spPr>
        <p:txBody>
          <a:bodyPr wrap="square">
            <a:spAutoFit/>
          </a:bodyPr>
          <a:lstStyle/>
          <a:p>
            <a:r>
              <a:rPr lang="en-US" altLang="zh-TW" sz="1200" dirty="0">
                <a:latin typeface="Times New Roman" panose="02020603050405020304" pitchFamily="18" charset="0"/>
                <a:cs typeface="Times New Roman" panose="02020603050405020304" pitchFamily="18" charset="0"/>
              </a:rPr>
              <a:t>Vladimir N </a:t>
            </a:r>
            <a:r>
              <a:rPr lang="en-US" altLang="zh-TW" sz="1200" dirty="0" err="1">
                <a:latin typeface="Times New Roman" panose="02020603050405020304" pitchFamily="18" charset="0"/>
                <a:cs typeface="Times New Roman" panose="02020603050405020304" pitchFamily="18" charset="0"/>
              </a:rPr>
              <a:t>Uversky</a:t>
            </a:r>
            <a:r>
              <a:rPr lang="en-US" altLang="zh-TW" sz="1200" dirty="0">
                <a:latin typeface="Times New Roman" panose="02020603050405020304" pitchFamily="18" charset="0"/>
                <a:cs typeface="Times New Roman" panose="02020603050405020304" pitchFamily="18" charset="0"/>
              </a:rPr>
              <a:t>, The alphabet of intrinsic disorder II. Various roles of glutamic acid in ordered and intrinsically disordered proteins, Intrinsically </a:t>
            </a:r>
            <a:r>
              <a:rPr lang="en-US" altLang="zh-TW" sz="1200" dirty="0" err="1">
                <a:latin typeface="Times New Roman" panose="02020603050405020304" pitchFamily="18" charset="0"/>
                <a:cs typeface="Times New Roman" panose="02020603050405020304" pitchFamily="18" charset="0"/>
              </a:rPr>
              <a:t>Disord</a:t>
            </a:r>
            <a:r>
              <a:rPr lang="en-US" altLang="zh-TW" sz="1200" dirty="0">
                <a:latin typeface="Times New Roman" panose="02020603050405020304" pitchFamily="18" charset="0"/>
                <a:cs typeface="Times New Roman" panose="02020603050405020304" pitchFamily="18" charset="0"/>
              </a:rPr>
              <a:t> Proteins. 1(1): 1-23, 2013.</a:t>
            </a:r>
            <a:endParaRPr lang="zh-TW" altLang="en-US" sz="1200" dirty="0">
              <a:latin typeface="Times New Roman" panose="02020603050405020304" pitchFamily="18" charset="0"/>
              <a:cs typeface="Times New Roman" panose="02020603050405020304" pitchFamily="18" charset="0"/>
            </a:endParaRPr>
          </a:p>
        </p:txBody>
      </p:sp>
      <p:sp>
        <p:nvSpPr>
          <p:cNvPr id="8" name="投影片編號版面配置區 3">
            <a:extLst>
              <a:ext uri="{FF2B5EF4-FFF2-40B4-BE49-F238E27FC236}">
                <a16:creationId xmlns:a16="http://schemas.microsoft.com/office/drawing/2014/main" id="{8E971F22-0D2A-42AF-AD40-2D7B970E2CDF}"/>
              </a:ext>
            </a:extLst>
          </p:cNvPr>
          <p:cNvSpPr>
            <a:spLocks noGrp="1"/>
          </p:cNvSpPr>
          <p:nvPr>
            <p:ph type="sldNum" sz="quarter" idx="12"/>
          </p:nvPr>
        </p:nvSpPr>
        <p:spPr>
          <a:xfrm>
            <a:off x="6553200" y="6356350"/>
            <a:ext cx="2133600" cy="365125"/>
          </a:xfrm>
        </p:spPr>
        <p:txBody>
          <a:bodyPr/>
          <a:lstStyle/>
          <a:p>
            <a:fld id="{04C04D6A-2E29-441A-A244-9F1014899F6D}" type="slidenum">
              <a:rPr lang="zh-TW" altLang="en-US" sz="1600" smtClean="0"/>
              <a:pPr/>
              <a:t>3</a:t>
            </a:fld>
            <a:endParaRPr lang="zh-TW" altLang="en-US" sz="1600" dirty="0"/>
          </a:p>
        </p:txBody>
      </p:sp>
      <p:sp>
        <p:nvSpPr>
          <p:cNvPr id="10" name="矩形 9">
            <a:extLst>
              <a:ext uri="{FF2B5EF4-FFF2-40B4-BE49-F238E27FC236}">
                <a16:creationId xmlns:a16="http://schemas.microsoft.com/office/drawing/2014/main" id="{1DB71675-2B6D-4BA7-89E5-B5BF8BC22B18}"/>
              </a:ext>
            </a:extLst>
          </p:cNvPr>
          <p:cNvSpPr/>
          <p:nvPr/>
        </p:nvSpPr>
        <p:spPr>
          <a:xfrm>
            <a:off x="1106066" y="2517728"/>
            <a:ext cx="6534472" cy="830997"/>
          </a:xfrm>
          <a:prstGeom prst="rect">
            <a:avLst/>
          </a:prstGeom>
        </p:spPr>
        <p:txBody>
          <a:bodyPr wrap="square">
            <a:spAutoFit/>
          </a:bodyPr>
          <a:lstStyle/>
          <a:p>
            <a:r>
              <a:rPr lang="en-US" altLang="zh-TW" sz="1600" dirty="0">
                <a:solidFill>
                  <a:srgbClr val="222222"/>
                </a:solidFill>
                <a:latin typeface="Times New Roman" panose="02020603050405020304" pitchFamily="18" charset="0"/>
                <a:cs typeface="Times New Roman" panose="02020603050405020304" pitchFamily="18" charset="0"/>
              </a:rPr>
              <a:t>●</a:t>
            </a:r>
            <a:r>
              <a:rPr lang="en-US" altLang="zh-TW" sz="2000" dirty="0">
                <a:solidFill>
                  <a:srgbClr val="222222"/>
                </a:solidFill>
                <a:latin typeface="Times New Roman" panose="02020603050405020304" pitchFamily="18" charset="0"/>
                <a:cs typeface="Times New Roman" panose="02020603050405020304" pitchFamily="18" charset="0"/>
              </a:rPr>
              <a:t>  </a:t>
            </a:r>
            <a:r>
              <a:rPr lang="zh-TW" altLang="en-US" sz="2400" dirty="0">
                <a:latin typeface="Times New Roman" panose="02020603050405020304" pitchFamily="18" charset="0"/>
                <a:cs typeface="Times New Roman" panose="02020603050405020304" pitchFamily="18" charset="0"/>
              </a:rPr>
              <a:t>order-promoting residues </a:t>
            </a:r>
            <a:endParaRPr lang="en-US" altLang="zh-TW" sz="2400" dirty="0">
              <a:latin typeface="Times New Roman" panose="02020603050405020304" pitchFamily="18" charset="0"/>
              <a:cs typeface="Times New Roman" panose="02020603050405020304" pitchFamily="18" charset="0"/>
            </a:endParaRPr>
          </a:p>
          <a:p>
            <a:r>
              <a:rPr lang="zh-TW" altLang="en-US" sz="2400" dirty="0" smtClean="0">
                <a:latin typeface="Courier"/>
                <a:cs typeface="Times New Roman" panose="02020603050405020304" pitchFamily="18" charset="0"/>
              </a:rPr>
              <a:t>(</a:t>
            </a:r>
            <a:r>
              <a:rPr lang="en-US" altLang="zh-TW" sz="2400" dirty="0" smtClean="0">
                <a:latin typeface="Courier"/>
                <a:cs typeface="Times New Roman" panose="02020603050405020304" pitchFamily="18" charset="0"/>
              </a:rPr>
              <a:t>H, M, W</a:t>
            </a:r>
            <a:r>
              <a:rPr lang="zh-TW" altLang="en-US" sz="2400" dirty="0" smtClean="0">
                <a:latin typeface="Courier"/>
                <a:cs typeface="Times New Roman" panose="02020603050405020304" pitchFamily="18" charset="0"/>
              </a:rPr>
              <a:t>, </a:t>
            </a:r>
            <a:r>
              <a:rPr lang="en-US" altLang="zh-TW" sz="2400" dirty="0" smtClean="0">
                <a:latin typeface="Courier"/>
                <a:cs typeface="Times New Roman" panose="02020603050405020304" pitchFamily="18" charset="0"/>
              </a:rPr>
              <a:t>C</a:t>
            </a:r>
            <a:r>
              <a:rPr lang="zh-TW" altLang="en-US" sz="2400" dirty="0" smtClean="0">
                <a:latin typeface="Courier"/>
                <a:cs typeface="Times New Roman" panose="02020603050405020304" pitchFamily="18" charset="0"/>
              </a:rPr>
              <a:t>, </a:t>
            </a:r>
            <a:r>
              <a:rPr lang="en-US" altLang="zh-TW" sz="2400" dirty="0" smtClean="0">
                <a:latin typeface="Courier"/>
                <a:cs typeface="Times New Roman" panose="02020603050405020304" pitchFamily="18" charset="0"/>
              </a:rPr>
              <a:t>F</a:t>
            </a:r>
            <a:r>
              <a:rPr lang="zh-TW" altLang="en-US" sz="2400" dirty="0" smtClean="0">
                <a:latin typeface="Courier"/>
                <a:cs typeface="Times New Roman" panose="02020603050405020304" pitchFamily="18" charset="0"/>
              </a:rPr>
              <a:t>, </a:t>
            </a:r>
            <a:r>
              <a:rPr lang="en-US" altLang="zh-TW" sz="2400" dirty="0" smtClean="0">
                <a:latin typeface="Courier"/>
                <a:cs typeface="Times New Roman" panose="02020603050405020304" pitchFamily="18" charset="0"/>
              </a:rPr>
              <a:t>I</a:t>
            </a:r>
            <a:r>
              <a:rPr lang="zh-TW" altLang="en-US" sz="2400" dirty="0" smtClean="0">
                <a:latin typeface="Courier"/>
                <a:cs typeface="Times New Roman" panose="02020603050405020304" pitchFamily="18" charset="0"/>
              </a:rPr>
              <a:t>, Y, </a:t>
            </a:r>
            <a:r>
              <a:rPr lang="en-US" altLang="zh-TW" sz="2400" dirty="0" smtClean="0">
                <a:latin typeface="Courier"/>
                <a:cs typeface="Times New Roman" panose="02020603050405020304" pitchFamily="18" charset="0"/>
              </a:rPr>
              <a:t>V</a:t>
            </a:r>
            <a:r>
              <a:rPr lang="zh-TW" altLang="en-US" sz="2400" dirty="0" smtClean="0">
                <a:latin typeface="Courier"/>
                <a:cs typeface="Times New Roman" panose="02020603050405020304" pitchFamily="18" charset="0"/>
              </a:rPr>
              <a:t>, </a:t>
            </a:r>
            <a:r>
              <a:rPr lang="en-US" altLang="zh-TW" sz="2400" dirty="0" smtClean="0">
                <a:latin typeface="Courier"/>
                <a:cs typeface="Times New Roman" panose="02020603050405020304" pitchFamily="18" charset="0"/>
              </a:rPr>
              <a:t>L</a:t>
            </a:r>
            <a:r>
              <a:rPr lang="zh-TW" altLang="en-US" sz="2400" dirty="0" smtClean="0">
                <a:latin typeface="Courier"/>
                <a:cs typeface="Times New Roman" panose="02020603050405020304" pitchFamily="18" charset="0"/>
              </a:rPr>
              <a:t> and </a:t>
            </a:r>
            <a:r>
              <a:rPr lang="en-US" altLang="zh-TW" sz="2400" dirty="0" smtClean="0">
                <a:latin typeface="Courier"/>
                <a:cs typeface="Times New Roman" panose="02020603050405020304" pitchFamily="18" charset="0"/>
              </a:rPr>
              <a:t>N</a:t>
            </a:r>
            <a:r>
              <a:rPr lang="zh-TW" altLang="en-US" sz="2400" dirty="0" smtClean="0">
                <a:latin typeface="Courier"/>
                <a:cs typeface="Times New Roman" panose="02020603050405020304" pitchFamily="18" charset="0"/>
              </a:rPr>
              <a:t>)</a:t>
            </a:r>
            <a:endParaRPr lang="zh-TW" altLang="en-US" sz="2400" dirty="0">
              <a:latin typeface="Courier"/>
              <a:cs typeface="Times New Roman" panose="02020603050405020304" pitchFamily="18" charset="0"/>
            </a:endParaRPr>
          </a:p>
        </p:txBody>
      </p:sp>
      <p:sp>
        <p:nvSpPr>
          <p:cNvPr id="12" name="矩形 11">
            <a:extLst>
              <a:ext uri="{FF2B5EF4-FFF2-40B4-BE49-F238E27FC236}">
                <a16:creationId xmlns:a16="http://schemas.microsoft.com/office/drawing/2014/main" id="{7953FA45-7572-49F8-B95F-292F3A70AD70}"/>
              </a:ext>
            </a:extLst>
          </p:cNvPr>
          <p:cNvSpPr/>
          <p:nvPr/>
        </p:nvSpPr>
        <p:spPr>
          <a:xfrm>
            <a:off x="1106066" y="3580002"/>
            <a:ext cx="5876566" cy="830997"/>
          </a:xfrm>
          <a:prstGeom prst="rect">
            <a:avLst/>
          </a:prstGeom>
        </p:spPr>
        <p:txBody>
          <a:bodyPr wrap="square">
            <a:spAutoFit/>
          </a:bodyPr>
          <a:lstStyle/>
          <a:p>
            <a:r>
              <a:rPr lang="en-US" altLang="zh-TW" sz="1600" dirty="0">
                <a:solidFill>
                  <a:srgbClr val="222222"/>
                </a:solidFill>
                <a:latin typeface="Times New Roman" panose="02020603050405020304" pitchFamily="18" charset="0"/>
                <a:cs typeface="Times New Roman" panose="02020603050405020304" pitchFamily="18" charset="0"/>
              </a:rPr>
              <a:t>●</a:t>
            </a:r>
            <a:r>
              <a:rPr lang="en-US" altLang="zh-TW" sz="2000" dirty="0">
                <a:solidFill>
                  <a:srgbClr val="222222"/>
                </a:solidFill>
                <a:latin typeface="Times New Roman" panose="02020603050405020304" pitchFamily="18" charset="0"/>
                <a:cs typeface="Times New Roman" panose="02020603050405020304" pitchFamily="18" charset="0"/>
              </a:rPr>
              <a:t> </a:t>
            </a:r>
            <a:r>
              <a:rPr lang="zh-TW" altLang="en-US" sz="2400" dirty="0">
                <a:latin typeface="Times New Roman" panose="02020603050405020304" pitchFamily="18" charset="0"/>
                <a:cs typeface="Times New Roman" panose="02020603050405020304" pitchFamily="18" charset="0"/>
              </a:rPr>
              <a:t>disorder-promoting residues</a:t>
            </a:r>
            <a:endParaRPr lang="en-US" altLang="zh-TW" sz="2400" dirty="0">
              <a:latin typeface="Times New Roman" panose="02020603050405020304" pitchFamily="18" charset="0"/>
              <a:cs typeface="Times New Roman" panose="02020603050405020304" pitchFamily="18" charset="0"/>
            </a:endParaRPr>
          </a:p>
          <a:p>
            <a:r>
              <a:rPr lang="zh-TW" altLang="en-US" sz="2400" dirty="0" smtClean="0">
                <a:latin typeface="Courier"/>
                <a:cs typeface="Times New Roman" panose="02020603050405020304" pitchFamily="18" charset="0"/>
              </a:rPr>
              <a:t>(</a:t>
            </a:r>
            <a:r>
              <a:rPr lang="en-US" altLang="zh-TW" sz="2400" dirty="0">
                <a:latin typeface="Courier"/>
                <a:cs typeface="Times New Roman" panose="02020603050405020304" pitchFamily="18" charset="0"/>
              </a:rPr>
              <a:t>A</a:t>
            </a:r>
            <a:r>
              <a:rPr lang="zh-TW" altLang="en-US" sz="2400" dirty="0" smtClean="0">
                <a:latin typeface="Courier"/>
                <a:cs typeface="Times New Roman" panose="02020603050405020304" pitchFamily="18" charset="0"/>
              </a:rPr>
              <a:t>, </a:t>
            </a:r>
            <a:r>
              <a:rPr lang="en-US" altLang="zh-TW" sz="2400" dirty="0">
                <a:latin typeface="Courier"/>
                <a:cs typeface="Times New Roman" panose="02020603050405020304" pitchFamily="18" charset="0"/>
              </a:rPr>
              <a:t>G</a:t>
            </a:r>
            <a:r>
              <a:rPr lang="zh-TW" altLang="en-US" sz="2400" dirty="0">
                <a:latin typeface="Courier"/>
                <a:cs typeface="Times New Roman" panose="02020603050405020304" pitchFamily="18" charset="0"/>
              </a:rPr>
              <a:t>, </a:t>
            </a:r>
            <a:r>
              <a:rPr lang="en-US" altLang="zh-TW" sz="2400" dirty="0">
                <a:latin typeface="Courier"/>
                <a:cs typeface="Times New Roman" panose="02020603050405020304" pitchFamily="18" charset="0"/>
              </a:rPr>
              <a:t>Q</a:t>
            </a:r>
            <a:r>
              <a:rPr lang="zh-TW" altLang="en-US" sz="2400" dirty="0">
                <a:latin typeface="Courier"/>
                <a:cs typeface="Times New Roman" panose="02020603050405020304" pitchFamily="18" charset="0"/>
              </a:rPr>
              <a:t>, </a:t>
            </a:r>
            <a:r>
              <a:rPr lang="en-US" altLang="zh-TW" sz="2400" dirty="0">
                <a:latin typeface="Courier"/>
                <a:cs typeface="Times New Roman" panose="02020603050405020304" pitchFamily="18" charset="0"/>
              </a:rPr>
              <a:t>S</a:t>
            </a:r>
            <a:r>
              <a:rPr lang="zh-TW" altLang="en-US" sz="2400" dirty="0">
                <a:latin typeface="Courier"/>
                <a:cs typeface="Times New Roman" panose="02020603050405020304" pitchFamily="18" charset="0"/>
              </a:rPr>
              <a:t>, </a:t>
            </a:r>
            <a:r>
              <a:rPr lang="en-US" altLang="zh-TW" sz="2400" dirty="0">
                <a:latin typeface="Courier"/>
                <a:cs typeface="Times New Roman" panose="02020603050405020304" pitchFamily="18" charset="0"/>
              </a:rPr>
              <a:t>P</a:t>
            </a:r>
            <a:r>
              <a:rPr lang="zh-TW" altLang="en-US" sz="2400" dirty="0">
                <a:latin typeface="Courier"/>
                <a:cs typeface="Times New Roman" panose="02020603050405020304" pitchFamily="18" charset="0"/>
              </a:rPr>
              <a:t>, </a:t>
            </a:r>
            <a:r>
              <a:rPr lang="en-US" altLang="zh-TW" sz="2400" dirty="0">
                <a:latin typeface="Courier"/>
                <a:cs typeface="Times New Roman" panose="02020603050405020304" pitchFamily="18" charset="0"/>
              </a:rPr>
              <a:t>E </a:t>
            </a:r>
            <a:r>
              <a:rPr lang="zh-TW" altLang="en-US" sz="2400" dirty="0">
                <a:latin typeface="Courier"/>
                <a:cs typeface="Times New Roman" panose="02020603050405020304" pitchFamily="18" charset="0"/>
              </a:rPr>
              <a:t>and </a:t>
            </a:r>
            <a:r>
              <a:rPr lang="en-US" altLang="zh-TW" sz="2400" dirty="0">
                <a:latin typeface="Courier"/>
                <a:cs typeface="Times New Roman" panose="02020603050405020304" pitchFamily="18" charset="0"/>
              </a:rPr>
              <a:t>K</a:t>
            </a:r>
            <a:r>
              <a:rPr lang="zh-TW" altLang="en-US" sz="2400" dirty="0">
                <a:latin typeface="Courier"/>
                <a:cs typeface="Times New Roman" panose="02020603050405020304" pitchFamily="18" charset="0"/>
              </a:rPr>
              <a:t>)</a:t>
            </a:r>
          </a:p>
        </p:txBody>
      </p:sp>
      <p:sp>
        <p:nvSpPr>
          <p:cNvPr id="2" name="文字方塊 1"/>
          <p:cNvSpPr txBox="1"/>
          <p:nvPr/>
        </p:nvSpPr>
        <p:spPr>
          <a:xfrm>
            <a:off x="611560" y="1508455"/>
            <a:ext cx="7200800" cy="830997"/>
          </a:xfrm>
          <a:prstGeom prst="rect">
            <a:avLst/>
          </a:prstGeom>
          <a:noFill/>
        </p:spPr>
        <p:txBody>
          <a:bodyPr wrap="square" rtlCol="0">
            <a:spAutoFit/>
          </a:bodyPr>
          <a:lstStyle/>
          <a:p>
            <a:r>
              <a:rPr lang="en-US" altLang="zh-TW" sz="2400" dirty="0" err="1">
                <a:latin typeface="Times New Roman" panose="02020603050405020304" pitchFamily="18" charset="0"/>
                <a:cs typeface="Times New Roman" panose="02020603050405020304" pitchFamily="18" charset="0"/>
              </a:rPr>
              <a:t>Uversky</a:t>
            </a:r>
            <a:r>
              <a:rPr lang="en-US" altLang="zh-TW" sz="2400" dirty="0">
                <a:latin typeface="Times New Roman" panose="02020603050405020304" pitchFamily="18" charset="0"/>
                <a:cs typeface="Times New Roman" panose="02020603050405020304" pitchFamily="18" charset="0"/>
              </a:rPr>
              <a:t> in 2013 calculated the amino acid composition of disordered regions in </a:t>
            </a:r>
            <a:r>
              <a:rPr lang="en-US" altLang="zh-TW" sz="2400" dirty="0" err="1">
                <a:latin typeface="Times New Roman" panose="02020603050405020304" pitchFamily="18" charset="0"/>
                <a:cs typeface="Times New Roman" panose="02020603050405020304" pitchFamily="18" charset="0"/>
              </a:rPr>
              <a:t>DisProt</a:t>
            </a:r>
            <a:r>
              <a:rPr lang="en-US" altLang="zh-TW" sz="2400" dirty="0">
                <a:latin typeface="Times New Roman" panose="02020603050405020304" pitchFamily="18" charset="0"/>
                <a:cs typeface="Times New Roman" panose="02020603050405020304" pitchFamily="18" charset="0"/>
              </a:rPr>
              <a:t> and PDB.</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975636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C1D770D2-D665-415E-9C5D-B84D9FBF311A}"/>
              </a:ext>
            </a:extLst>
          </p:cNvPr>
          <p:cNvSpPr>
            <a:spLocks noGrp="1"/>
          </p:cNvSpPr>
          <p:nvPr>
            <p:ph type="sldNum" sz="quarter" idx="12"/>
          </p:nvPr>
        </p:nvSpPr>
        <p:spPr/>
        <p:txBody>
          <a:bodyPr/>
          <a:lstStyle/>
          <a:p>
            <a:fld id="{04C04D6A-2E29-441A-A244-9F1014899F6D}" type="slidenum">
              <a:rPr lang="zh-TW" altLang="en-US" sz="1600" smtClean="0">
                <a:latin typeface="Times New Roman" panose="02020603050405020304" pitchFamily="18" charset="0"/>
                <a:cs typeface="Times New Roman" panose="02020603050405020304" pitchFamily="18" charset="0"/>
              </a:rPr>
              <a:pPr/>
              <a:t>4</a:t>
            </a:fld>
            <a:endParaRPr lang="zh-TW" altLang="en-US" sz="1600" dirty="0">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1ADC3AF1-9FD5-4A54-950C-A888DE163158}"/>
              </a:ext>
            </a:extLst>
          </p:cNvPr>
          <p:cNvSpPr>
            <a:spLocks noGrp="1" noChangeArrowheads="1"/>
          </p:cNvSpPr>
          <p:nvPr>
            <p:ph type="title"/>
          </p:nvPr>
        </p:nvSpPr>
        <p:spPr>
          <a:xfrm>
            <a:off x="-1274366" y="99179"/>
            <a:ext cx="9144000" cy="461963"/>
          </a:xfrm>
        </p:spPr>
        <p:txBody>
          <a:bodyPr>
            <a:noAutofit/>
          </a:bodyPr>
          <a:lstStyle/>
          <a:p>
            <a:pPr eaLnBrk="1" hangingPunct="1">
              <a:defRPr/>
            </a:pPr>
            <a:r>
              <a:rPr lang="en-GB" sz="4000" b="1" dirty="0">
                <a:latin typeface="Times New Roman" panose="02020603050405020304" pitchFamily="18" charset="0"/>
                <a:cs typeface="Times New Roman" panose="02020603050405020304" pitchFamily="18" charset="0"/>
              </a:rPr>
              <a:t>Smith-Waterman Algorithm:</a:t>
            </a:r>
            <a:endParaRPr lang="en-US" sz="4000" b="1" dirty="0">
              <a:latin typeface="Times New Roman" panose="02020603050405020304" pitchFamily="18" charset="0"/>
              <a:cs typeface="Times New Roman" panose="02020603050405020304" pitchFamily="18" charset="0"/>
            </a:endParaRPr>
          </a:p>
        </p:txBody>
      </p:sp>
      <p:sp>
        <p:nvSpPr>
          <p:cNvPr id="6" name="Rectangle 3">
            <a:extLst>
              <a:ext uri="{FF2B5EF4-FFF2-40B4-BE49-F238E27FC236}">
                <a16:creationId xmlns:a16="http://schemas.microsoft.com/office/drawing/2014/main" id="{E61D8193-023E-4DC5-BC24-00BB6514BAF8}"/>
              </a:ext>
            </a:extLst>
          </p:cNvPr>
          <p:cNvSpPr>
            <a:spLocks noGrp="1" noChangeArrowheads="1"/>
          </p:cNvSpPr>
          <p:nvPr>
            <p:ph sz="half" idx="1"/>
          </p:nvPr>
        </p:nvSpPr>
        <p:spPr>
          <a:xfrm>
            <a:off x="471462" y="5337175"/>
            <a:ext cx="4286250" cy="1520825"/>
          </a:xfrm>
        </p:spPr>
        <p:txBody>
          <a:bodyPr>
            <a:noAutofit/>
          </a:bodyPr>
          <a:lstStyle/>
          <a:p>
            <a:pPr marL="533400" lvl="1" indent="0">
              <a:buNone/>
              <a:defRPr/>
            </a:pPr>
            <a:r>
              <a:rPr lang="en-US" altLang="zh-TW" sz="2000" dirty="0">
                <a:solidFill>
                  <a:srgbClr val="222222"/>
                </a:solidFill>
                <a:latin typeface="Times New Roman" panose="02020603050405020304" pitchFamily="18" charset="0"/>
                <a:cs typeface="Times New Roman" panose="02020603050405020304" pitchFamily="18" charset="0"/>
              </a:rPr>
              <a:t>● </a:t>
            </a:r>
            <a:r>
              <a:rPr lang="en-GB" sz="2000" dirty="0">
                <a:latin typeface="Times New Roman" panose="02020603050405020304" pitchFamily="18" charset="0"/>
                <a:cs typeface="Times New Roman" panose="02020603050405020304" pitchFamily="18" charset="0"/>
              </a:rPr>
              <a:t>Gap opening penalty: -5</a:t>
            </a:r>
          </a:p>
          <a:p>
            <a:pPr marL="533400" lvl="1" indent="0">
              <a:buNone/>
              <a:defRPr/>
            </a:pPr>
            <a:r>
              <a:rPr lang="en-US" altLang="zh-TW" sz="2000" dirty="0">
                <a:solidFill>
                  <a:srgbClr val="222222"/>
                </a:solidFill>
                <a:latin typeface="Times New Roman" panose="02020603050405020304" pitchFamily="18" charset="0"/>
                <a:cs typeface="Times New Roman" panose="02020603050405020304" pitchFamily="18" charset="0"/>
              </a:rPr>
              <a:t>● </a:t>
            </a:r>
            <a:r>
              <a:rPr lang="en-GB" sz="2000" dirty="0">
                <a:latin typeface="Times New Roman" panose="02020603050405020304" pitchFamily="18" charset="0"/>
                <a:cs typeface="Times New Roman" panose="02020603050405020304" pitchFamily="18" charset="0"/>
              </a:rPr>
              <a:t>Gap extension penalty: -1</a:t>
            </a:r>
          </a:p>
        </p:txBody>
      </p:sp>
      <p:cxnSp>
        <p:nvCxnSpPr>
          <p:cNvPr id="7" name="AutoShape 5">
            <a:extLst>
              <a:ext uri="{FF2B5EF4-FFF2-40B4-BE49-F238E27FC236}">
                <a16:creationId xmlns:a16="http://schemas.microsoft.com/office/drawing/2014/main" id="{0DE7A5BE-10DA-454C-9777-8DCF6A5C6054}"/>
              </a:ext>
            </a:extLst>
          </p:cNvPr>
          <p:cNvCxnSpPr>
            <a:cxnSpLocks noChangeShapeType="1"/>
            <a:stCxn id="83" idx="6"/>
            <a:endCxn id="99" idx="2"/>
          </p:cNvCxnSpPr>
          <p:nvPr/>
        </p:nvCxnSpPr>
        <p:spPr bwMode="auto">
          <a:xfrm>
            <a:off x="5683250" y="1441450"/>
            <a:ext cx="257175" cy="7938"/>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8" name="AutoShape 6">
            <a:extLst>
              <a:ext uri="{FF2B5EF4-FFF2-40B4-BE49-F238E27FC236}">
                <a16:creationId xmlns:a16="http://schemas.microsoft.com/office/drawing/2014/main" id="{12240ECD-09CB-40A0-84DC-0985A779AFF8}"/>
              </a:ext>
            </a:extLst>
          </p:cNvPr>
          <p:cNvCxnSpPr>
            <a:cxnSpLocks noChangeShapeType="1"/>
            <a:stCxn id="84" idx="6"/>
            <a:endCxn id="100" idx="2"/>
          </p:cNvCxnSpPr>
          <p:nvPr/>
        </p:nvCxnSpPr>
        <p:spPr bwMode="auto">
          <a:xfrm>
            <a:off x="5664200" y="2001838"/>
            <a:ext cx="276225"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9" name="AutoShape 7">
            <a:extLst>
              <a:ext uri="{FF2B5EF4-FFF2-40B4-BE49-F238E27FC236}">
                <a16:creationId xmlns:a16="http://schemas.microsoft.com/office/drawing/2014/main" id="{AEF960EF-A266-42E1-A2C6-893BABB58FBB}"/>
              </a:ext>
            </a:extLst>
          </p:cNvPr>
          <p:cNvCxnSpPr>
            <a:cxnSpLocks noChangeShapeType="1"/>
            <a:stCxn id="85" idx="6"/>
            <a:endCxn id="101" idx="2"/>
          </p:cNvCxnSpPr>
          <p:nvPr/>
        </p:nvCxnSpPr>
        <p:spPr bwMode="auto">
          <a:xfrm>
            <a:off x="5664200" y="2552700"/>
            <a:ext cx="276225"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0" name="AutoShape 8">
            <a:extLst>
              <a:ext uri="{FF2B5EF4-FFF2-40B4-BE49-F238E27FC236}">
                <a16:creationId xmlns:a16="http://schemas.microsoft.com/office/drawing/2014/main" id="{B6972CB9-7E88-4AC6-BA5E-24D3B31FEBBE}"/>
              </a:ext>
            </a:extLst>
          </p:cNvPr>
          <p:cNvCxnSpPr>
            <a:cxnSpLocks noChangeShapeType="1"/>
            <a:stCxn id="86" idx="6"/>
            <a:endCxn id="102" idx="2"/>
          </p:cNvCxnSpPr>
          <p:nvPr/>
        </p:nvCxnSpPr>
        <p:spPr bwMode="auto">
          <a:xfrm>
            <a:off x="5664200" y="3103563"/>
            <a:ext cx="276225"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1" name="AutoShape 9">
            <a:extLst>
              <a:ext uri="{FF2B5EF4-FFF2-40B4-BE49-F238E27FC236}">
                <a16:creationId xmlns:a16="http://schemas.microsoft.com/office/drawing/2014/main" id="{2966DB31-EBA1-4FEE-85F4-0B90C03B9448}"/>
              </a:ext>
            </a:extLst>
          </p:cNvPr>
          <p:cNvCxnSpPr>
            <a:cxnSpLocks noChangeShapeType="1"/>
            <a:stCxn id="83" idx="5"/>
            <a:endCxn id="100" idx="1"/>
          </p:cNvCxnSpPr>
          <p:nvPr/>
        </p:nvCxnSpPr>
        <p:spPr bwMode="auto">
          <a:xfrm>
            <a:off x="5635625" y="1557338"/>
            <a:ext cx="352425" cy="327025"/>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2" name="AutoShape 10">
            <a:extLst>
              <a:ext uri="{FF2B5EF4-FFF2-40B4-BE49-F238E27FC236}">
                <a16:creationId xmlns:a16="http://schemas.microsoft.com/office/drawing/2014/main" id="{4340D4D0-5A96-486A-BC8B-9CE54136017D}"/>
              </a:ext>
            </a:extLst>
          </p:cNvPr>
          <p:cNvCxnSpPr>
            <a:cxnSpLocks noChangeShapeType="1"/>
            <a:stCxn id="101" idx="1"/>
            <a:endCxn id="84" idx="5"/>
          </p:cNvCxnSpPr>
          <p:nvPr/>
        </p:nvCxnSpPr>
        <p:spPr bwMode="auto">
          <a:xfrm flipH="1" flipV="1">
            <a:off x="5616308" y="2115871"/>
            <a:ext cx="372241" cy="319853"/>
          </a:xfrm>
          <a:prstGeom prst="straightConnector1">
            <a:avLst/>
          </a:prstGeom>
          <a:noFill/>
          <a:ln w="63500">
            <a:solidFill>
              <a:srgbClr val="0066FF"/>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3" name="AutoShape 11">
            <a:extLst>
              <a:ext uri="{FF2B5EF4-FFF2-40B4-BE49-F238E27FC236}">
                <a16:creationId xmlns:a16="http://schemas.microsoft.com/office/drawing/2014/main" id="{61B41E2B-4439-49D2-A31B-1EB4581F432E}"/>
              </a:ext>
            </a:extLst>
          </p:cNvPr>
          <p:cNvCxnSpPr>
            <a:cxnSpLocks noChangeShapeType="1"/>
            <a:stCxn id="85" idx="5"/>
            <a:endCxn id="102" idx="1"/>
          </p:cNvCxnSpPr>
          <p:nvPr/>
        </p:nvCxnSpPr>
        <p:spPr bwMode="auto">
          <a:xfrm>
            <a:off x="5614988" y="2668588"/>
            <a:ext cx="373062" cy="31750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4" name="AutoShape 12">
            <a:extLst>
              <a:ext uri="{FF2B5EF4-FFF2-40B4-BE49-F238E27FC236}">
                <a16:creationId xmlns:a16="http://schemas.microsoft.com/office/drawing/2014/main" id="{7A7BBE87-CBD7-461B-A5BA-B742683BCEF7}"/>
              </a:ext>
            </a:extLst>
          </p:cNvPr>
          <p:cNvCxnSpPr>
            <a:cxnSpLocks noChangeShapeType="1"/>
            <a:stCxn id="99" idx="6"/>
            <a:endCxn id="116" idx="2"/>
          </p:cNvCxnSpPr>
          <p:nvPr/>
        </p:nvCxnSpPr>
        <p:spPr bwMode="auto">
          <a:xfrm>
            <a:off x="6269038" y="1450975"/>
            <a:ext cx="274637" cy="0"/>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 name="AutoShape 13">
            <a:extLst>
              <a:ext uri="{FF2B5EF4-FFF2-40B4-BE49-F238E27FC236}">
                <a16:creationId xmlns:a16="http://schemas.microsoft.com/office/drawing/2014/main" id="{E8B30FBC-18FC-48C9-A7CD-088A9C106F5F}"/>
              </a:ext>
            </a:extLst>
          </p:cNvPr>
          <p:cNvCxnSpPr>
            <a:cxnSpLocks noChangeShapeType="1"/>
            <a:stCxn id="100" idx="6"/>
            <a:endCxn id="117" idx="2"/>
          </p:cNvCxnSpPr>
          <p:nvPr/>
        </p:nvCxnSpPr>
        <p:spPr bwMode="auto">
          <a:xfrm>
            <a:off x="6269038" y="2001838"/>
            <a:ext cx="274637"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6" name="AutoShape 14">
            <a:extLst>
              <a:ext uri="{FF2B5EF4-FFF2-40B4-BE49-F238E27FC236}">
                <a16:creationId xmlns:a16="http://schemas.microsoft.com/office/drawing/2014/main" id="{FAC25028-BE2D-496E-8DBE-F32673DBD23F}"/>
              </a:ext>
            </a:extLst>
          </p:cNvPr>
          <p:cNvCxnSpPr>
            <a:cxnSpLocks noChangeShapeType="1"/>
            <a:stCxn id="101" idx="6"/>
            <a:endCxn id="118" idx="2"/>
          </p:cNvCxnSpPr>
          <p:nvPr/>
        </p:nvCxnSpPr>
        <p:spPr bwMode="auto">
          <a:xfrm>
            <a:off x="6269038" y="2552700"/>
            <a:ext cx="274637"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7" name="AutoShape 15">
            <a:extLst>
              <a:ext uri="{FF2B5EF4-FFF2-40B4-BE49-F238E27FC236}">
                <a16:creationId xmlns:a16="http://schemas.microsoft.com/office/drawing/2014/main" id="{72EA196A-95EC-4E7A-95C8-79E9E9B89BDC}"/>
              </a:ext>
            </a:extLst>
          </p:cNvPr>
          <p:cNvCxnSpPr>
            <a:cxnSpLocks noChangeShapeType="1"/>
            <a:stCxn id="102" idx="6"/>
            <a:endCxn id="119" idx="2"/>
          </p:cNvCxnSpPr>
          <p:nvPr/>
        </p:nvCxnSpPr>
        <p:spPr bwMode="auto">
          <a:xfrm>
            <a:off x="6269038" y="3103563"/>
            <a:ext cx="274637"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8" name="AutoShape 16">
            <a:extLst>
              <a:ext uri="{FF2B5EF4-FFF2-40B4-BE49-F238E27FC236}">
                <a16:creationId xmlns:a16="http://schemas.microsoft.com/office/drawing/2014/main" id="{395F7E9B-739A-4359-878B-A6B15C6EB06C}"/>
              </a:ext>
            </a:extLst>
          </p:cNvPr>
          <p:cNvCxnSpPr>
            <a:cxnSpLocks noChangeShapeType="1"/>
            <a:stCxn id="99" idx="5"/>
            <a:endCxn id="117" idx="1"/>
          </p:cNvCxnSpPr>
          <p:nvPr/>
        </p:nvCxnSpPr>
        <p:spPr bwMode="auto">
          <a:xfrm>
            <a:off x="6221413" y="1566863"/>
            <a:ext cx="369887" cy="319087"/>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9" name="AutoShape 17">
            <a:extLst>
              <a:ext uri="{FF2B5EF4-FFF2-40B4-BE49-F238E27FC236}">
                <a16:creationId xmlns:a16="http://schemas.microsoft.com/office/drawing/2014/main" id="{B13F2990-5FD2-48A4-A02F-2A109B4D66AD}"/>
              </a:ext>
            </a:extLst>
          </p:cNvPr>
          <p:cNvCxnSpPr>
            <a:cxnSpLocks noChangeShapeType="1"/>
            <a:stCxn id="100" idx="5"/>
            <a:endCxn id="118" idx="1"/>
          </p:cNvCxnSpPr>
          <p:nvPr/>
        </p:nvCxnSpPr>
        <p:spPr bwMode="auto">
          <a:xfrm>
            <a:off x="6221413" y="2117725"/>
            <a:ext cx="369887" cy="319088"/>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20" name="AutoShape 18">
            <a:extLst>
              <a:ext uri="{FF2B5EF4-FFF2-40B4-BE49-F238E27FC236}">
                <a16:creationId xmlns:a16="http://schemas.microsoft.com/office/drawing/2014/main" id="{4644B2D2-81AC-43A9-A4EF-0530F522FC51}"/>
              </a:ext>
            </a:extLst>
          </p:cNvPr>
          <p:cNvCxnSpPr>
            <a:cxnSpLocks noChangeShapeType="1"/>
            <a:stCxn id="119" idx="1"/>
            <a:endCxn id="101" idx="5"/>
          </p:cNvCxnSpPr>
          <p:nvPr/>
        </p:nvCxnSpPr>
        <p:spPr bwMode="auto">
          <a:xfrm flipH="1" flipV="1">
            <a:off x="6220914" y="2668089"/>
            <a:ext cx="370885" cy="318498"/>
          </a:xfrm>
          <a:prstGeom prst="straightConnector1">
            <a:avLst/>
          </a:prstGeom>
          <a:noFill/>
          <a:ln w="63500">
            <a:solidFill>
              <a:srgbClr val="0066FF"/>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21" name="AutoShape 19">
            <a:extLst>
              <a:ext uri="{FF2B5EF4-FFF2-40B4-BE49-F238E27FC236}">
                <a16:creationId xmlns:a16="http://schemas.microsoft.com/office/drawing/2014/main" id="{8BAAC49D-97A4-46A4-90E0-F66F374DF5FA}"/>
              </a:ext>
            </a:extLst>
          </p:cNvPr>
          <p:cNvCxnSpPr>
            <a:cxnSpLocks noChangeShapeType="1"/>
            <a:stCxn id="90" idx="6"/>
            <a:endCxn id="106" idx="2"/>
          </p:cNvCxnSpPr>
          <p:nvPr/>
        </p:nvCxnSpPr>
        <p:spPr bwMode="auto">
          <a:xfrm>
            <a:off x="5664200" y="3654425"/>
            <a:ext cx="276225"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22" name="AutoShape 20">
            <a:extLst>
              <a:ext uri="{FF2B5EF4-FFF2-40B4-BE49-F238E27FC236}">
                <a16:creationId xmlns:a16="http://schemas.microsoft.com/office/drawing/2014/main" id="{61B99F03-ADC9-4775-958A-1660974D5EEB}"/>
              </a:ext>
            </a:extLst>
          </p:cNvPr>
          <p:cNvCxnSpPr>
            <a:cxnSpLocks noChangeShapeType="1"/>
            <a:stCxn id="86" idx="5"/>
            <a:endCxn id="106" idx="1"/>
          </p:cNvCxnSpPr>
          <p:nvPr/>
        </p:nvCxnSpPr>
        <p:spPr bwMode="auto">
          <a:xfrm>
            <a:off x="5614988" y="3219450"/>
            <a:ext cx="373062" cy="317500"/>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23" name="AutoShape 21">
            <a:extLst>
              <a:ext uri="{FF2B5EF4-FFF2-40B4-BE49-F238E27FC236}">
                <a16:creationId xmlns:a16="http://schemas.microsoft.com/office/drawing/2014/main" id="{D3780A0C-AF8A-4FF0-96E1-A5A6A1E2EBF3}"/>
              </a:ext>
            </a:extLst>
          </p:cNvPr>
          <p:cNvCxnSpPr>
            <a:cxnSpLocks noChangeShapeType="1"/>
            <a:stCxn id="106" idx="6"/>
            <a:endCxn id="123" idx="2"/>
          </p:cNvCxnSpPr>
          <p:nvPr/>
        </p:nvCxnSpPr>
        <p:spPr bwMode="auto">
          <a:xfrm>
            <a:off x="6269038" y="3654425"/>
            <a:ext cx="274637"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24" name="AutoShape 22">
            <a:extLst>
              <a:ext uri="{FF2B5EF4-FFF2-40B4-BE49-F238E27FC236}">
                <a16:creationId xmlns:a16="http://schemas.microsoft.com/office/drawing/2014/main" id="{BE860464-0525-447A-8205-4FFB2AA849BD}"/>
              </a:ext>
            </a:extLst>
          </p:cNvPr>
          <p:cNvCxnSpPr>
            <a:cxnSpLocks noChangeShapeType="1"/>
            <a:stCxn id="102" idx="5"/>
            <a:endCxn id="123" idx="1"/>
          </p:cNvCxnSpPr>
          <p:nvPr/>
        </p:nvCxnSpPr>
        <p:spPr bwMode="auto">
          <a:xfrm>
            <a:off x="6221413" y="3219450"/>
            <a:ext cx="369887" cy="31750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25" name="AutoShape 23">
            <a:extLst>
              <a:ext uri="{FF2B5EF4-FFF2-40B4-BE49-F238E27FC236}">
                <a16:creationId xmlns:a16="http://schemas.microsoft.com/office/drawing/2014/main" id="{B4A18750-E26F-43CF-98B0-CE1BD4E0AEEF}"/>
              </a:ext>
            </a:extLst>
          </p:cNvPr>
          <p:cNvCxnSpPr>
            <a:cxnSpLocks noChangeShapeType="1"/>
            <a:stCxn id="116" idx="6"/>
            <a:endCxn id="133" idx="2"/>
          </p:cNvCxnSpPr>
          <p:nvPr/>
        </p:nvCxnSpPr>
        <p:spPr bwMode="auto">
          <a:xfrm>
            <a:off x="6872288" y="1450975"/>
            <a:ext cx="277812" cy="0"/>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26" name="AutoShape 24">
            <a:extLst>
              <a:ext uri="{FF2B5EF4-FFF2-40B4-BE49-F238E27FC236}">
                <a16:creationId xmlns:a16="http://schemas.microsoft.com/office/drawing/2014/main" id="{D29933B4-EF78-4830-A330-B0172DA1773E}"/>
              </a:ext>
            </a:extLst>
          </p:cNvPr>
          <p:cNvCxnSpPr>
            <a:cxnSpLocks noChangeShapeType="1"/>
            <a:stCxn id="117" idx="6"/>
            <a:endCxn id="134" idx="2"/>
          </p:cNvCxnSpPr>
          <p:nvPr/>
        </p:nvCxnSpPr>
        <p:spPr bwMode="auto">
          <a:xfrm>
            <a:off x="6872288" y="2001838"/>
            <a:ext cx="277812"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27" name="AutoShape 25">
            <a:extLst>
              <a:ext uri="{FF2B5EF4-FFF2-40B4-BE49-F238E27FC236}">
                <a16:creationId xmlns:a16="http://schemas.microsoft.com/office/drawing/2014/main" id="{CEF5BCF5-B615-41CA-96F9-C20C949373F4}"/>
              </a:ext>
            </a:extLst>
          </p:cNvPr>
          <p:cNvCxnSpPr>
            <a:cxnSpLocks noChangeShapeType="1"/>
            <a:stCxn id="118" idx="6"/>
            <a:endCxn id="135" idx="2"/>
          </p:cNvCxnSpPr>
          <p:nvPr/>
        </p:nvCxnSpPr>
        <p:spPr bwMode="auto">
          <a:xfrm>
            <a:off x="6872288" y="2552700"/>
            <a:ext cx="277812"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28" name="AutoShape 26">
            <a:extLst>
              <a:ext uri="{FF2B5EF4-FFF2-40B4-BE49-F238E27FC236}">
                <a16:creationId xmlns:a16="http://schemas.microsoft.com/office/drawing/2014/main" id="{D62066BF-BBC5-4344-9089-3C2C523E9EDC}"/>
              </a:ext>
            </a:extLst>
          </p:cNvPr>
          <p:cNvCxnSpPr>
            <a:cxnSpLocks noChangeShapeType="1"/>
            <a:stCxn id="119" idx="6"/>
            <a:endCxn id="136" idx="2"/>
          </p:cNvCxnSpPr>
          <p:nvPr/>
        </p:nvCxnSpPr>
        <p:spPr bwMode="auto">
          <a:xfrm>
            <a:off x="6872288" y="3103563"/>
            <a:ext cx="277812" cy="0"/>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29" name="AutoShape 27">
            <a:extLst>
              <a:ext uri="{FF2B5EF4-FFF2-40B4-BE49-F238E27FC236}">
                <a16:creationId xmlns:a16="http://schemas.microsoft.com/office/drawing/2014/main" id="{4CDCF756-4E4A-42F8-B08C-382B37EA8731}"/>
              </a:ext>
            </a:extLst>
          </p:cNvPr>
          <p:cNvCxnSpPr>
            <a:cxnSpLocks noChangeShapeType="1"/>
            <a:stCxn id="116" idx="5"/>
            <a:endCxn id="134" idx="1"/>
          </p:cNvCxnSpPr>
          <p:nvPr/>
        </p:nvCxnSpPr>
        <p:spPr bwMode="auto">
          <a:xfrm>
            <a:off x="6824663" y="1566863"/>
            <a:ext cx="371475" cy="319087"/>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30" name="AutoShape 28">
            <a:extLst>
              <a:ext uri="{FF2B5EF4-FFF2-40B4-BE49-F238E27FC236}">
                <a16:creationId xmlns:a16="http://schemas.microsoft.com/office/drawing/2014/main" id="{FBFC4A94-514B-42C5-97DC-1B32FD2BA4B3}"/>
              </a:ext>
            </a:extLst>
          </p:cNvPr>
          <p:cNvCxnSpPr>
            <a:cxnSpLocks noChangeShapeType="1"/>
            <a:stCxn id="117" idx="5"/>
            <a:endCxn id="135" idx="1"/>
          </p:cNvCxnSpPr>
          <p:nvPr/>
        </p:nvCxnSpPr>
        <p:spPr bwMode="auto">
          <a:xfrm>
            <a:off x="6824663" y="2117725"/>
            <a:ext cx="371475" cy="319088"/>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31" name="AutoShape 29">
            <a:extLst>
              <a:ext uri="{FF2B5EF4-FFF2-40B4-BE49-F238E27FC236}">
                <a16:creationId xmlns:a16="http://schemas.microsoft.com/office/drawing/2014/main" id="{AFCD2B12-89C4-4F46-AA9C-0A7AFD170DD1}"/>
              </a:ext>
            </a:extLst>
          </p:cNvPr>
          <p:cNvCxnSpPr>
            <a:cxnSpLocks noChangeShapeType="1"/>
            <a:stCxn id="118" idx="5"/>
            <a:endCxn id="136" idx="1"/>
          </p:cNvCxnSpPr>
          <p:nvPr/>
        </p:nvCxnSpPr>
        <p:spPr bwMode="auto">
          <a:xfrm>
            <a:off x="6824663" y="2668588"/>
            <a:ext cx="371475" cy="31750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32" name="AutoShape 30">
            <a:extLst>
              <a:ext uri="{FF2B5EF4-FFF2-40B4-BE49-F238E27FC236}">
                <a16:creationId xmlns:a16="http://schemas.microsoft.com/office/drawing/2014/main" id="{E3EB5052-1A17-48D3-9F4F-53B54559F3EF}"/>
              </a:ext>
            </a:extLst>
          </p:cNvPr>
          <p:cNvCxnSpPr>
            <a:cxnSpLocks noChangeShapeType="1"/>
            <a:stCxn id="133" idx="6"/>
            <a:endCxn id="150" idx="2"/>
          </p:cNvCxnSpPr>
          <p:nvPr/>
        </p:nvCxnSpPr>
        <p:spPr bwMode="auto">
          <a:xfrm>
            <a:off x="7477125" y="1450975"/>
            <a:ext cx="276225" cy="0"/>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33" name="AutoShape 31">
            <a:extLst>
              <a:ext uri="{FF2B5EF4-FFF2-40B4-BE49-F238E27FC236}">
                <a16:creationId xmlns:a16="http://schemas.microsoft.com/office/drawing/2014/main" id="{9178B77F-FFE3-4F69-B49C-9C375E072D81}"/>
              </a:ext>
            </a:extLst>
          </p:cNvPr>
          <p:cNvCxnSpPr>
            <a:cxnSpLocks noChangeShapeType="1"/>
            <a:stCxn id="134" idx="6"/>
            <a:endCxn id="151" idx="2"/>
          </p:cNvCxnSpPr>
          <p:nvPr/>
        </p:nvCxnSpPr>
        <p:spPr bwMode="auto">
          <a:xfrm>
            <a:off x="7477125" y="2001838"/>
            <a:ext cx="276225"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34" name="AutoShape 32">
            <a:extLst>
              <a:ext uri="{FF2B5EF4-FFF2-40B4-BE49-F238E27FC236}">
                <a16:creationId xmlns:a16="http://schemas.microsoft.com/office/drawing/2014/main" id="{A873EEE6-6F85-40DC-BE4A-7912B53BA5FA}"/>
              </a:ext>
            </a:extLst>
          </p:cNvPr>
          <p:cNvCxnSpPr>
            <a:cxnSpLocks noChangeShapeType="1"/>
            <a:stCxn id="135" idx="6"/>
            <a:endCxn id="152" idx="2"/>
          </p:cNvCxnSpPr>
          <p:nvPr/>
        </p:nvCxnSpPr>
        <p:spPr bwMode="auto">
          <a:xfrm>
            <a:off x="7477125" y="2552700"/>
            <a:ext cx="276225"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35" name="AutoShape 33">
            <a:extLst>
              <a:ext uri="{FF2B5EF4-FFF2-40B4-BE49-F238E27FC236}">
                <a16:creationId xmlns:a16="http://schemas.microsoft.com/office/drawing/2014/main" id="{FC891FC6-196A-4245-B54E-4D96B2884C29}"/>
              </a:ext>
            </a:extLst>
          </p:cNvPr>
          <p:cNvCxnSpPr>
            <a:cxnSpLocks noChangeShapeType="1"/>
            <a:stCxn id="136" idx="6"/>
            <a:endCxn id="153" idx="2"/>
          </p:cNvCxnSpPr>
          <p:nvPr/>
        </p:nvCxnSpPr>
        <p:spPr bwMode="auto">
          <a:xfrm>
            <a:off x="7477125" y="3103563"/>
            <a:ext cx="276225" cy="0"/>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36" name="AutoShape 34">
            <a:extLst>
              <a:ext uri="{FF2B5EF4-FFF2-40B4-BE49-F238E27FC236}">
                <a16:creationId xmlns:a16="http://schemas.microsoft.com/office/drawing/2014/main" id="{92ECCA31-CB52-45C7-B5F7-83C9739EC2D8}"/>
              </a:ext>
            </a:extLst>
          </p:cNvPr>
          <p:cNvCxnSpPr>
            <a:cxnSpLocks noChangeShapeType="1"/>
            <a:stCxn id="133" idx="5"/>
            <a:endCxn id="151" idx="1"/>
          </p:cNvCxnSpPr>
          <p:nvPr/>
        </p:nvCxnSpPr>
        <p:spPr bwMode="auto">
          <a:xfrm>
            <a:off x="7427913" y="1566863"/>
            <a:ext cx="373062" cy="319087"/>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37" name="AutoShape 35">
            <a:extLst>
              <a:ext uri="{FF2B5EF4-FFF2-40B4-BE49-F238E27FC236}">
                <a16:creationId xmlns:a16="http://schemas.microsoft.com/office/drawing/2014/main" id="{1E9B9BC6-5CD6-4C68-96AA-2753F786246F}"/>
              </a:ext>
            </a:extLst>
          </p:cNvPr>
          <p:cNvCxnSpPr>
            <a:cxnSpLocks noChangeShapeType="1"/>
            <a:stCxn id="134" idx="5"/>
            <a:endCxn id="152" idx="1"/>
          </p:cNvCxnSpPr>
          <p:nvPr/>
        </p:nvCxnSpPr>
        <p:spPr bwMode="auto">
          <a:xfrm>
            <a:off x="7427913" y="2117725"/>
            <a:ext cx="373062" cy="319088"/>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38" name="AutoShape 36">
            <a:extLst>
              <a:ext uri="{FF2B5EF4-FFF2-40B4-BE49-F238E27FC236}">
                <a16:creationId xmlns:a16="http://schemas.microsoft.com/office/drawing/2014/main" id="{4F77A9E8-61C4-45A6-B060-16100F25352E}"/>
              </a:ext>
            </a:extLst>
          </p:cNvPr>
          <p:cNvCxnSpPr>
            <a:cxnSpLocks noChangeShapeType="1"/>
            <a:stCxn id="135" idx="5"/>
            <a:endCxn id="153" idx="1"/>
          </p:cNvCxnSpPr>
          <p:nvPr/>
        </p:nvCxnSpPr>
        <p:spPr bwMode="auto">
          <a:xfrm>
            <a:off x="7427913" y="2668588"/>
            <a:ext cx="373062" cy="31750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39" name="AutoShape 37">
            <a:extLst>
              <a:ext uri="{FF2B5EF4-FFF2-40B4-BE49-F238E27FC236}">
                <a16:creationId xmlns:a16="http://schemas.microsoft.com/office/drawing/2014/main" id="{0D1365B1-1956-478A-B9B9-16D5B66678BA}"/>
              </a:ext>
            </a:extLst>
          </p:cNvPr>
          <p:cNvCxnSpPr>
            <a:cxnSpLocks noChangeShapeType="1"/>
            <a:stCxn id="123" idx="6"/>
            <a:endCxn id="140" idx="2"/>
          </p:cNvCxnSpPr>
          <p:nvPr/>
        </p:nvCxnSpPr>
        <p:spPr bwMode="auto">
          <a:xfrm>
            <a:off x="6872288" y="3654425"/>
            <a:ext cx="277812"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40" name="AutoShape 38">
            <a:extLst>
              <a:ext uri="{FF2B5EF4-FFF2-40B4-BE49-F238E27FC236}">
                <a16:creationId xmlns:a16="http://schemas.microsoft.com/office/drawing/2014/main" id="{6D191295-8F35-41EA-AC8E-10357B782377}"/>
              </a:ext>
            </a:extLst>
          </p:cNvPr>
          <p:cNvCxnSpPr>
            <a:cxnSpLocks noChangeShapeType="1"/>
            <a:stCxn id="119" idx="5"/>
            <a:endCxn id="140" idx="1"/>
          </p:cNvCxnSpPr>
          <p:nvPr/>
        </p:nvCxnSpPr>
        <p:spPr bwMode="auto">
          <a:xfrm>
            <a:off x="6824663" y="3219450"/>
            <a:ext cx="371475" cy="317500"/>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41" name="AutoShape 39">
            <a:extLst>
              <a:ext uri="{FF2B5EF4-FFF2-40B4-BE49-F238E27FC236}">
                <a16:creationId xmlns:a16="http://schemas.microsoft.com/office/drawing/2014/main" id="{B7FC55F3-EB8E-4E9B-AA31-373A276F6DCB}"/>
              </a:ext>
            </a:extLst>
          </p:cNvPr>
          <p:cNvCxnSpPr>
            <a:cxnSpLocks noChangeShapeType="1"/>
            <a:stCxn id="140" idx="6"/>
            <a:endCxn id="157" idx="2"/>
          </p:cNvCxnSpPr>
          <p:nvPr/>
        </p:nvCxnSpPr>
        <p:spPr bwMode="auto">
          <a:xfrm>
            <a:off x="7477125" y="3654425"/>
            <a:ext cx="276225" cy="0"/>
          </a:xfrm>
          <a:prstGeom prst="straightConnector1">
            <a:avLst/>
          </a:prstGeom>
          <a:noFill/>
          <a:ln w="28575">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42" name="AutoShape 40">
            <a:extLst>
              <a:ext uri="{FF2B5EF4-FFF2-40B4-BE49-F238E27FC236}">
                <a16:creationId xmlns:a16="http://schemas.microsoft.com/office/drawing/2014/main" id="{54706E33-0059-4F52-AE85-8157F55587EC}"/>
              </a:ext>
            </a:extLst>
          </p:cNvPr>
          <p:cNvCxnSpPr>
            <a:cxnSpLocks noChangeShapeType="1"/>
            <a:stCxn id="136" idx="5"/>
            <a:endCxn id="157" idx="1"/>
          </p:cNvCxnSpPr>
          <p:nvPr/>
        </p:nvCxnSpPr>
        <p:spPr bwMode="auto">
          <a:xfrm>
            <a:off x="7427913" y="3219450"/>
            <a:ext cx="373062" cy="317500"/>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43" name="AutoShape 41">
            <a:extLst>
              <a:ext uri="{FF2B5EF4-FFF2-40B4-BE49-F238E27FC236}">
                <a16:creationId xmlns:a16="http://schemas.microsoft.com/office/drawing/2014/main" id="{30C0760D-5153-4DD3-A596-C435E69AE62C}"/>
              </a:ext>
            </a:extLst>
          </p:cNvPr>
          <p:cNvCxnSpPr>
            <a:cxnSpLocks noChangeShapeType="1"/>
            <a:stCxn id="92" idx="6"/>
            <a:endCxn id="108" idx="2"/>
          </p:cNvCxnSpPr>
          <p:nvPr/>
        </p:nvCxnSpPr>
        <p:spPr bwMode="auto">
          <a:xfrm>
            <a:off x="5664200" y="4208463"/>
            <a:ext cx="276225"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44" name="AutoShape 42">
            <a:extLst>
              <a:ext uri="{FF2B5EF4-FFF2-40B4-BE49-F238E27FC236}">
                <a16:creationId xmlns:a16="http://schemas.microsoft.com/office/drawing/2014/main" id="{7C83AF30-FADE-4E76-9CBD-2E189FF189B2}"/>
              </a:ext>
            </a:extLst>
          </p:cNvPr>
          <p:cNvCxnSpPr>
            <a:cxnSpLocks noChangeShapeType="1"/>
            <a:stCxn id="90" idx="5"/>
            <a:endCxn id="108" idx="1"/>
          </p:cNvCxnSpPr>
          <p:nvPr/>
        </p:nvCxnSpPr>
        <p:spPr bwMode="auto">
          <a:xfrm>
            <a:off x="5614988" y="3770313"/>
            <a:ext cx="373062" cy="320675"/>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45" name="AutoShape 43">
            <a:extLst>
              <a:ext uri="{FF2B5EF4-FFF2-40B4-BE49-F238E27FC236}">
                <a16:creationId xmlns:a16="http://schemas.microsoft.com/office/drawing/2014/main" id="{BDC70FA9-09D1-42DE-B53E-CA0631F7AB3F}"/>
              </a:ext>
            </a:extLst>
          </p:cNvPr>
          <p:cNvCxnSpPr>
            <a:cxnSpLocks noChangeShapeType="1"/>
            <a:stCxn id="108" idx="6"/>
            <a:endCxn id="125" idx="2"/>
          </p:cNvCxnSpPr>
          <p:nvPr/>
        </p:nvCxnSpPr>
        <p:spPr bwMode="auto">
          <a:xfrm>
            <a:off x="6269038" y="4208463"/>
            <a:ext cx="274637"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46" name="AutoShape 44">
            <a:extLst>
              <a:ext uri="{FF2B5EF4-FFF2-40B4-BE49-F238E27FC236}">
                <a16:creationId xmlns:a16="http://schemas.microsoft.com/office/drawing/2014/main" id="{B747C4D3-01DD-49B4-93CB-7DE5EA98ACB0}"/>
              </a:ext>
            </a:extLst>
          </p:cNvPr>
          <p:cNvCxnSpPr>
            <a:cxnSpLocks noChangeShapeType="1"/>
            <a:stCxn id="106" idx="5"/>
            <a:endCxn id="125" idx="1"/>
          </p:cNvCxnSpPr>
          <p:nvPr/>
        </p:nvCxnSpPr>
        <p:spPr bwMode="auto">
          <a:xfrm>
            <a:off x="6221413" y="3770313"/>
            <a:ext cx="369887" cy="320675"/>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47" name="AutoShape 45">
            <a:extLst>
              <a:ext uri="{FF2B5EF4-FFF2-40B4-BE49-F238E27FC236}">
                <a16:creationId xmlns:a16="http://schemas.microsoft.com/office/drawing/2014/main" id="{7BDEEB5E-6186-48FF-8F6C-BAB41C49E583}"/>
              </a:ext>
            </a:extLst>
          </p:cNvPr>
          <p:cNvCxnSpPr>
            <a:cxnSpLocks noChangeShapeType="1"/>
            <a:stCxn id="125" idx="6"/>
            <a:endCxn id="142" idx="2"/>
          </p:cNvCxnSpPr>
          <p:nvPr/>
        </p:nvCxnSpPr>
        <p:spPr bwMode="auto">
          <a:xfrm>
            <a:off x="6872288" y="4208463"/>
            <a:ext cx="277812"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48" name="AutoShape 46">
            <a:extLst>
              <a:ext uri="{FF2B5EF4-FFF2-40B4-BE49-F238E27FC236}">
                <a16:creationId xmlns:a16="http://schemas.microsoft.com/office/drawing/2014/main" id="{ED82CB1B-DC22-416D-83CE-B9677356CA9E}"/>
              </a:ext>
            </a:extLst>
          </p:cNvPr>
          <p:cNvCxnSpPr>
            <a:cxnSpLocks noChangeShapeType="1"/>
            <a:stCxn id="123" idx="5"/>
            <a:endCxn id="142" idx="1"/>
          </p:cNvCxnSpPr>
          <p:nvPr/>
        </p:nvCxnSpPr>
        <p:spPr bwMode="auto">
          <a:xfrm>
            <a:off x="6824663" y="3770313"/>
            <a:ext cx="371475" cy="320675"/>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49" name="AutoShape 47">
            <a:extLst>
              <a:ext uri="{FF2B5EF4-FFF2-40B4-BE49-F238E27FC236}">
                <a16:creationId xmlns:a16="http://schemas.microsoft.com/office/drawing/2014/main" id="{C25964E6-8761-47B0-887B-DA4B18D5C530}"/>
              </a:ext>
            </a:extLst>
          </p:cNvPr>
          <p:cNvCxnSpPr>
            <a:cxnSpLocks noChangeShapeType="1"/>
            <a:stCxn id="142" idx="6"/>
            <a:endCxn id="159" idx="2"/>
          </p:cNvCxnSpPr>
          <p:nvPr/>
        </p:nvCxnSpPr>
        <p:spPr bwMode="auto">
          <a:xfrm>
            <a:off x="7477125" y="4208463"/>
            <a:ext cx="276225"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50" name="AutoShape 48">
            <a:extLst>
              <a:ext uri="{FF2B5EF4-FFF2-40B4-BE49-F238E27FC236}">
                <a16:creationId xmlns:a16="http://schemas.microsoft.com/office/drawing/2014/main" id="{5A8C6A8E-4D5B-4547-96B1-30E2824F6318}"/>
              </a:ext>
            </a:extLst>
          </p:cNvPr>
          <p:cNvCxnSpPr>
            <a:cxnSpLocks noChangeShapeType="1"/>
            <a:stCxn id="140" idx="5"/>
            <a:endCxn id="159" idx="1"/>
          </p:cNvCxnSpPr>
          <p:nvPr/>
        </p:nvCxnSpPr>
        <p:spPr bwMode="auto">
          <a:xfrm>
            <a:off x="7427913" y="3770313"/>
            <a:ext cx="373062" cy="320675"/>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51" name="Text Box 49">
            <a:extLst>
              <a:ext uri="{FF2B5EF4-FFF2-40B4-BE49-F238E27FC236}">
                <a16:creationId xmlns:a16="http://schemas.microsoft.com/office/drawing/2014/main" id="{0D6A4573-F546-4923-B0CF-1582CCE68013}"/>
              </a:ext>
            </a:extLst>
          </p:cNvPr>
          <p:cNvSpPr txBox="1">
            <a:spLocks noChangeArrowheads="1"/>
          </p:cNvSpPr>
          <p:nvPr/>
        </p:nvSpPr>
        <p:spPr bwMode="auto">
          <a:xfrm>
            <a:off x="5910694" y="913517"/>
            <a:ext cx="327334"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GB" sz="2000" dirty="0">
                <a:latin typeface="Times New Roman" panose="02020603050405020304" pitchFamily="18" charset="0"/>
                <a:ea typeface="ＭＳ Ｐゴシック" charset="0"/>
                <a:cs typeface="Times New Roman" panose="02020603050405020304" pitchFamily="18" charset="0"/>
              </a:rPr>
              <a:t>S</a:t>
            </a:r>
            <a:endParaRPr lang="en-US" sz="2000" dirty="0">
              <a:latin typeface="Times New Roman" panose="02020603050405020304" pitchFamily="18" charset="0"/>
              <a:ea typeface="ＭＳ Ｐゴシック" charset="0"/>
              <a:cs typeface="Times New Roman" panose="02020603050405020304" pitchFamily="18" charset="0"/>
            </a:endParaRPr>
          </a:p>
        </p:txBody>
      </p:sp>
      <p:sp>
        <p:nvSpPr>
          <p:cNvPr id="52" name="Text Box 50">
            <a:extLst>
              <a:ext uri="{FF2B5EF4-FFF2-40B4-BE49-F238E27FC236}">
                <a16:creationId xmlns:a16="http://schemas.microsoft.com/office/drawing/2014/main" id="{8310DF33-E07B-468E-920D-E8A12079CDDF}"/>
              </a:ext>
            </a:extLst>
          </p:cNvPr>
          <p:cNvSpPr txBox="1">
            <a:spLocks noChangeArrowheads="1"/>
          </p:cNvSpPr>
          <p:nvPr/>
        </p:nvSpPr>
        <p:spPr bwMode="auto">
          <a:xfrm>
            <a:off x="6501244" y="913517"/>
            <a:ext cx="370614"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GB" sz="2000" dirty="0">
                <a:latin typeface="Times New Roman" panose="02020603050405020304" pitchFamily="18" charset="0"/>
                <a:ea typeface="ＭＳ Ｐゴシック" charset="0"/>
                <a:cs typeface="Times New Roman" panose="02020603050405020304" pitchFamily="18" charset="0"/>
              </a:rPr>
              <a:t>V</a:t>
            </a:r>
            <a:endParaRPr lang="en-US" sz="2000" dirty="0">
              <a:latin typeface="Times New Roman" panose="02020603050405020304" pitchFamily="18" charset="0"/>
              <a:ea typeface="ＭＳ Ｐゴシック" charset="0"/>
              <a:cs typeface="Times New Roman" panose="02020603050405020304" pitchFamily="18" charset="0"/>
            </a:endParaRPr>
          </a:p>
        </p:txBody>
      </p:sp>
      <p:sp>
        <p:nvSpPr>
          <p:cNvPr id="53" name="Text Box 51">
            <a:extLst>
              <a:ext uri="{FF2B5EF4-FFF2-40B4-BE49-F238E27FC236}">
                <a16:creationId xmlns:a16="http://schemas.microsoft.com/office/drawing/2014/main" id="{7E984CF9-48FF-4C0A-8BAC-919161AB79CE}"/>
              </a:ext>
            </a:extLst>
          </p:cNvPr>
          <p:cNvSpPr txBox="1">
            <a:spLocks noChangeArrowheads="1"/>
          </p:cNvSpPr>
          <p:nvPr/>
        </p:nvSpPr>
        <p:spPr bwMode="auto">
          <a:xfrm>
            <a:off x="7104494" y="913517"/>
            <a:ext cx="341760"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GB" sz="2000">
                <a:latin typeface="Times New Roman" panose="02020603050405020304" pitchFamily="18" charset="0"/>
                <a:ea typeface="ＭＳ Ｐゴシック" charset="0"/>
                <a:cs typeface="Times New Roman" panose="02020603050405020304" pitchFamily="18" charset="0"/>
              </a:rPr>
              <a:t>E</a:t>
            </a:r>
            <a:endParaRPr lang="en-US" sz="2000">
              <a:latin typeface="Times New Roman" panose="02020603050405020304" pitchFamily="18" charset="0"/>
              <a:ea typeface="ＭＳ Ｐゴシック" charset="0"/>
              <a:cs typeface="Times New Roman" panose="02020603050405020304" pitchFamily="18" charset="0"/>
            </a:endParaRPr>
          </a:p>
        </p:txBody>
      </p:sp>
      <p:sp>
        <p:nvSpPr>
          <p:cNvPr id="54" name="Text Box 52">
            <a:extLst>
              <a:ext uri="{FF2B5EF4-FFF2-40B4-BE49-F238E27FC236}">
                <a16:creationId xmlns:a16="http://schemas.microsoft.com/office/drawing/2014/main" id="{440012B8-E388-44FC-85BE-BE5A246112E7}"/>
              </a:ext>
            </a:extLst>
          </p:cNvPr>
          <p:cNvSpPr txBox="1">
            <a:spLocks noChangeArrowheads="1"/>
          </p:cNvSpPr>
          <p:nvPr/>
        </p:nvSpPr>
        <p:spPr bwMode="auto">
          <a:xfrm>
            <a:off x="7714094" y="913517"/>
            <a:ext cx="341760"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GB" sz="2000">
                <a:latin typeface="Times New Roman" panose="02020603050405020304" pitchFamily="18" charset="0"/>
                <a:ea typeface="ＭＳ Ｐゴシック" charset="0"/>
                <a:cs typeface="Times New Roman" panose="02020603050405020304" pitchFamily="18" charset="0"/>
              </a:rPr>
              <a:t>T</a:t>
            </a:r>
            <a:endParaRPr lang="en-US" sz="2000">
              <a:latin typeface="Times New Roman" panose="02020603050405020304" pitchFamily="18" charset="0"/>
              <a:ea typeface="ＭＳ Ｐゴシック" charset="0"/>
              <a:cs typeface="Times New Roman" panose="02020603050405020304" pitchFamily="18" charset="0"/>
            </a:endParaRPr>
          </a:p>
        </p:txBody>
      </p:sp>
      <p:sp>
        <p:nvSpPr>
          <p:cNvPr id="55" name="Text Box 53">
            <a:extLst>
              <a:ext uri="{FF2B5EF4-FFF2-40B4-BE49-F238E27FC236}">
                <a16:creationId xmlns:a16="http://schemas.microsoft.com/office/drawing/2014/main" id="{5F75AFFF-CECF-4BF0-B1F3-8B7D722744D7}"/>
              </a:ext>
            </a:extLst>
          </p:cNvPr>
          <p:cNvSpPr txBox="1">
            <a:spLocks noChangeArrowheads="1"/>
          </p:cNvSpPr>
          <p:nvPr/>
        </p:nvSpPr>
        <p:spPr bwMode="auto">
          <a:xfrm>
            <a:off x="8337981" y="913517"/>
            <a:ext cx="370614"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GB" sz="2000">
                <a:latin typeface="Times New Roman" panose="02020603050405020304" pitchFamily="18" charset="0"/>
                <a:ea typeface="ＭＳ Ｐゴシック" charset="0"/>
                <a:cs typeface="Times New Roman" panose="02020603050405020304" pitchFamily="18" charset="0"/>
              </a:rPr>
              <a:t>D</a:t>
            </a:r>
            <a:endParaRPr lang="en-US" sz="2000">
              <a:latin typeface="Times New Roman" panose="02020603050405020304" pitchFamily="18" charset="0"/>
              <a:ea typeface="ＭＳ Ｐゴシック" charset="0"/>
              <a:cs typeface="Times New Roman" panose="02020603050405020304" pitchFamily="18" charset="0"/>
            </a:endParaRPr>
          </a:p>
        </p:txBody>
      </p:sp>
      <p:sp>
        <p:nvSpPr>
          <p:cNvPr id="56" name="Text Box 54">
            <a:extLst>
              <a:ext uri="{FF2B5EF4-FFF2-40B4-BE49-F238E27FC236}">
                <a16:creationId xmlns:a16="http://schemas.microsoft.com/office/drawing/2014/main" id="{7B273DF5-70D7-40D0-85A2-0A682D6708BD}"/>
              </a:ext>
            </a:extLst>
          </p:cNvPr>
          <p:cNvSpPr txBox="1">
            <a:spLocks noChangeArrowheads="1"/>
          </p:cNvSpPr>
          <p:nvPr/>
        </p:nvSpPr>
        <p:spPr bwMode="auto">
          <a:xfrm>
            <a:off x="4966911" y="1807045"/>
            <a:ext cx="341760"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GB" sz="2000">
                <a:latin typeface="Times New Roman" panose="02020603050405020304" pitchFamily="18" charset="0"/>
                <a:ea typeface="ＭＳ Ｐゴシック" charset="0"/>
                <a:cs typeface="Times New Roman" panose="02020603050405020304" pitchFamily="18" charset="0"/>
              </a:rPr>
              <a:t>T</a:t>
            </a:r>
            <a:endParaRPr lang="en-US" sz="2000">
              <a:latin typeface="Times New Roman" panose="02020603050405020304" pitchFamily="18" charset="0"/>
              <a:ea typeface="ＭＳ Ｐゴシック" charset="0"/>
              <a:cs typeface="Times New Roman" panose="02020603050405020304" pitchFamily="18" charset="0"/>
            </a:endParaRPr>
          </a:p>
        </p:txBody>
      </p:sp>
      <p:sp>
        <p:nvSpPr>
          <p:cNvPr id="57" name="Text Box 55">
            <a:extLst>
              <a:ext uri="{FF2B5EF4-FFF2-40B4-BE49-F238E27FC236}">
                <a16:creationId xmlns:a16="http://schemas.microsoft.com/office/drawing/2014/main" id="{A59795DC-5334-4583-8E12-AA460F1082BA}"/>
              </a:ext>
            </a:extLst>
          </p:cNvPr>
          <p:cNvSpPr txBox="1">
            <a:spLocks noChangeArrowheads="1"/>
          </p:cNvSpPr>
          <p:nvPr/>
        </p:nvSpPr>
        <p:spPr bwMode="auto">
          <a:xfrm>
            <a:off x="4966911" y="2356320"/>
            <a:ext cx="327334"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GB" sz="2000">
                <a:latin typeface="Times New Roman" panose="02020603050405020304" pitchFamily="18" charset="0"/>
                <a:ea typeface="ＭＳ Ｐゴシック" charset="0"/>
                <a:cs typeface="Times New Roman" panose="02020603050405020304" pitchFamily="18" charset="0"/>
              </a:rPr>
              <a:t>S</a:t>
            </a:r>
            <a:endParaRPr lang="en-US" sz="2000">
              <a:latin typeface="Times New Roman" panose="02020603050405020304" pitchFamily="18" charset="0"/>
              <a:ea typeface="ＭＳ Ｐゴシック" charset="0"/>
              <a:cs typeface="Times New Roman" panose="02020603050405020304" pitchFamily="18" charset="0"/>
            </a:endParaRPr>
          </a:p>
        </p:txBody>
      </p:sp>
      <p:sp>
        <p:nvSpPr>
          <p:cNvPr id="58" name="Text Box 56">
            <a:extLst>
              <a:ext uri="{FF2B5EF4-FFF2-40B4-BE49-F238E27FC236}">
                <a16:creationId xmlns:a16="http://schemas.microsoft.com/office/drawing/2014/main" id="{D888B5D4-012A-44FB-BFEF-FB3D69529557}"/>
              </a:ext>
            </a:extLst>
          </p:cNvPr>
          <p:cNvSpPr txBox="1">
            <a:spLocks noChangeArrowheads="1"/>
          </p:cNvSpPr>
          <p:nvPr/>
        </p:nvSpPr>
        <p:spPr bwMode="auto">
          <a:xfrm>
            <a:off x="4966911" y="2908770"/>
            <a:ext cx="370614"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GB" sz="2000" dirty="0">
                <a:latin typeface="Times New Roman" panose="02020603050405020304" pitchFamily="18" charset="0"/>
                <a:ea typeface="ＭＳ Ｐゴシック" charset="0"/>
                <a:cs typeface="Times New Roman" panose="02020603050405020304" pitchFamily="18" charset="0"/>
              </a:rPr>
              <a:t>V</a:t>
            </a:r>
            <a:endParaRPr lang="en-US" sz="2000" dirty="0">
              <a:latin typeface="Times New Roman" panose="02020603050405020304" pitchFamily="18" charset="0"/>
              <a:ea typeface="ＭＳ Ｐゴシック" charset="0"/>
              <a:cs typeface="Times New Roman" panose="02020603050405020304" pitchFamily="18" charset="0"/>
            </a:endParaRPr>
          </a:p>
        </p:txBody>
      </p:sp>
      <p:sp>
        <p:nvSpPr>
          <p:cNvPr id="59" name="Text Box 57">
            <a:extLst>
              <a:ext uri="{FF2B5EF4-FFF2-40B4-BE49-F238E27FC236}">
                <a16:creationId xmlns:a16="http://schemas.microsoft.com/office/drawing/2014/main" id="{46BAA882-76BB-436C-BE75-E248F7F3AB97}"/>
              </a:ext>
            </a:extLst>
          </p:cNvPr>
          <p:cNvSpPr txBox="1">
            <a:spLocks noChangeArrowheads="1"/>
          </p:cNvSpPr>
          <p:nvPr/>
        </p:nvSpPr>
        <p:spPr bwMode="auto">
          <a:xfrm>
            <a:off x="4966911" y="3459633"/>
            <a:ext cx="370614"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GB" sz="2000">
                <a:latin typeface="Times New Roman" panose="02020603050405020304" pitchFamily="18" charset="0"/>
                <a:ea typeface="ＭＳ Ｐゴシック" charset="0"/>
                <a:cs typeface="Times New Roman" panose="02020603050405020304" pitchFamily="18" charset="0"/>
              </a:rPr>
              <a:t>N</a:t>
            </a:r>
            <a:endParaRPr lang="en-US" sz="2000">
              <a:latin typeface="Times New Roman" panose="02020603050405020304" pitchFamily="18" charset="0"/>
              <a:ea typeface="ＭＳ Ｐゴシック" charset="0"/>
              <a:cs typeface="Times New Roman" panose="02020603050405020304" pitchFamily="18" charset="0"/>
            </a:endParaRPr>
          </a:p>
        </p:txBody>
      </p:sp>
      <p:sp>
        <p:nvSpPr>
          <p:cNvPr id="60" name="Text Box 58">
            <a:extLst>
              <a:ext uri="{FF2B5EF4-FFF2-40B4-BE49-F238E27FC236}">
                <a16:creationId xmlns:a16="http://schemas.microsoft.com/office/drawing/2014/main" id="{F425EAD1-F7CF-4F4C-A255-4D0AC7DB8F3D}"/>
              </a:ext>
            </a:extLst>
          </p:cNvPr>
          <p:cNvSpPr txBox="1">
            <a:spLocks noChangeArrowheads="1"/>
          </p:cNvSpPr>
          <p:nvPr/>
        </p:nvSpPr>
        <p:spPr bwMode="auto">
          <a:xfrm>
            <a:off x="4966911" y="4013670"/>
            <a:ext cx="370614"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GB" sz="2000" dirty="0">
                <a:latin typeface="Times New Roman" panose="02020603050405020304" pitchFamily="18" charset="0"/>
                <a:ea typeface="ＭＳ Ｐゴシック" charset="0"/>
                <a:cs typeface="Times New Roman" panose="02020603050405020304" pitchFamily="18" charset="0"/>
              </a:rPr>
              <a:t>Q</a:t>
            </a:r>
            <a:endParaRPr lang="en-US" sz="2000" dirty="0">
              <a:latin typeface="Times New Roman" panose="02020603050405020304" pitchFamily="18" charset="0"/>
              <a:ea typeface="ＭＳ Ｐゴシック" charset="0"/>
              <a:cs typeface="Times New Roman" panose="02020603050405020304" pitchFamily="18" charset="0"/>
            </a:endParaRPr>
          </a:p>
        </p:txBody>
      </p:sp>
      <p:sp>
        <p:nvSpPr>
          <p:cNvPr id="61" name="Text Box 59">
            <a:extLst>
              <a:ext uri="{FF2B5EF4-FFF2-40B4-BE49-F238E27FC236}">
                <a16:creationId xmlns:a16="http://schemas.microsoft.com/office/drawing/2014/main" id="{79256590-313F-4A10-9657-BED959E451C8}"/>
              </a:ext>
            </a:extLst>
          </p:cNvPr>
          <p:cNvSpPr txBox="1">
            <a:spLocks noChangeArrowheads="1"/>
          </p:cNvSpPr>
          <p:nvPr/>
        </p:nvSpPr>
        <p:spPr bwMode="auto">
          <a:xfrm>
            <a:off x="4966911" y="4562945"/>
            <a:ext cx="341760"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GB" sz="2000">
                <a:latin typeface="Times New Roman" panose="02020603050405020304" pitchFamily="18" charset="0"/>
                <a:ea typeface="ＭＳ Ｐゴシック" charset="0"/>
                <a:cs typeface="Times New Roman" panose="02020603050405020304" pitchFamily="18" charset="0"/>
              </a:rPr>
              <a:t>E</a:t>
            </a:r>
            <a:endParaRPr lang="en-US" sz="2000">
              <a:latin typeface="Times New Roman" panose="02020603050405020304" pitchFamily="18" charset="0"/>
              <a:ea typeface="ＭＳ Ｐゴシック" charset="0"/>
              <a:cs typeface="Times New Roman" panose="02020603050405020304" pitchFamily="18" charset="0"/>
            </a:endParaRPr>
          </a:p>
        </p:txBody>
      </p:sp>
      <p:sp>
        <p:nvSpPr>
          <p:cNvPr id="62" name="Text Box 60">
            <a:extLst>
              <a:ext uri="{FF2B5EF4-FFF2-40B4-BE49-F238E27FC236}">
                <a16:creationId xmlns:a16="http://schemas.microsoft.com/office/drawing/2014/main" id="{5925B690-E6FC-4A76-9F30-78D7F253B9C8}"/>
              </a:ext>
            </a:extLst>
          </p:cNvPr>
          <p:cNvSpPr txBox="1">
            <a:spLocks noChangeArrowheads="1"/>
          </p:cNvSpPr>
          <p:nvPr/>
        </p:nvSpPr>
        <p:spPr bwMode="auto">
          <a:xfrm>
            <a:off x="4966911" y="5113808"/>
            <a:ext cx="341760"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GB" sz="2000">
                <a:latin typeface="Times New Roman" panose="02020603050405020304" pitchFamily="18" charset="0"/>
                <a:ea typeface="ＭＳ Ｐゴシック" charset="0"/>
                <a:cs typeface="Times New Roman" panose="02020603050405020304" pitchFamily="18" charset="0"/>
              </a:rPr>
              <a:t>T</a:t>
            </a:r>
            <a:endParaRPr lang="en-US" sz="2000">
              <a:latin typeface="Times New Roman" panose="02020603050405020304" pitchFamily="18" charset="0"/>
              <a:ea typeface="ＭＳ Ｐゴシック" charset="0"/>
              <a:cs typeface="Times New Roman" panose="02020603050405020304" pitchFamily="18" charset="0"/>
            </a:endParaRPr>
          </a:p>
        </p:txBody>
      </p:sp>
      <p:cxnSp>
        <p:nvCxnSpPr>
          <p:cNvPr id="63" name="AutoShape 61">
            <a:extLst>
              <a:ext uri="{FF2B5EF4-FFF2-40B4-BE49-F238E27FC236}">
                <a16:creationId xmlns:a16="http://schemas.microsoft.com/office/drawing/2014/main" id="{A93E2062-FC60-49A2-93AC-19A1C2E2D16B}"/>
              </a:ext>
            </a:extLst>
          </p:cNvPr>
          <p:cNvCxnSpPr>
            <a:cxnSpLocks noChangeShapeType="1"/>
            <a:stCxn id="150" idx="6"/>
            <a:endCxn id="168" idx="2"/>
          </p:cNvCxnSpPr>
          <p:nvPr/>
        </p:nvCxnSpPr>
        <p:spPr bwMode="auto">
          <a:xfrm>
            <a:off x="8081963" y="1450975"/>
            <a:ext cx="277812" cy="0"/>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64" name="AutoShape 62">
            <a:extLst>
              <a:ext uri="{FF2B5EF4-FFF2-40B4-BE49-F238E27FC236}">
                <a16:creationId xmlns:a16="http://schemas.microsoft.com/office/drawing/2014/main" id="{3DF6AE8A-316E-4615-9CAF-6E5ABE2ABBFD}"/>
              </a:ext>
            </a:extLst>
          </p:cNvPr>
          <p:cNvCxnSpPr>
            <a:cxnSpLocks noChangeShapeType="1"/>
            <a:stCxn id="151" idx="6"/>
            <a:endCxn id="169" idx="2"/>
          </p:cNvCxnSpPr>
          <p:nvPr/>
        </p:nvCxnSpPr>
        <p:spPr bwMode="auto">
          <a:xfrm>
            <a:off x="8081963" y="2001838"/>
            <a:ext cx="277812" cy="0"/>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65" name="AutoShape 63">
            <a:extLst>
              <a:ext uri="{FF2B5EF4-FFF2-40B4-BE49-F238E27FC236}">
                <a16:creationId xmlns:a16="http://schemas.microsoft.com/office/drawing/2014/main" id="{3B5FB0F5-1DFE-4D0B-8A2E-8894AC7ACBCB}"/>
              </a:ext>
            </a:extLst>
          </p:cNvPr>
          <p:cNvCxnSpPr>
            <a:cxnSpLocks noChangeShapeType="1"/>
            <a:stCxn id="152" idx="6"/>
            <a:endCxn id="170" idx="2"/>
          </p:cNvCxnSpPr>
          <p:nvPr/>
        </p:nvCxnSpPr>
        <p:spPr bwMode="auto">
          <a:xfrm>
            <a:off x="8081963" y="2552700"/>
            <a:ext cx="277812"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66" name="AutoShape 64">
            <a:extLst>
              <a:ext uri="{FF2B5EF4-FFF2-40B4-BE49-F238E27FC236}">
                <a16:creationId xmlns:a16="http://schemas.microsoft.com/office/drawing/2014/main" id="{C829599C-F53D-4DBC-B763-9C0467797707}"/>
              </a:ext>
            </a:extLst>
          </p:cNvPr>
          <p:cNvCxnSpPr>
            <a:cxnSpLocks noChangeShapeType="1"/>
            <a:stCxn id="153" idx="6"/>
            <a:endCxn id="171" idx="2"/>
          </p:cNvCxnSpPr>
          <p:nvPr/>
        </p:nvCxnSpPr>
        <p:spPr bwMode="auto">
          <a:xfrm>
            <a:off x="8081963" y="3103563"/>
            <a:ext cx="277812"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67" name="AutoShape 65">
            <a:extLst>
              <a:ext uri="{FF2B5EF4-FFF2-40B4-BE49-F238E27FC236}">
                <a16:creationId xmlns:a16="http://schemas.microsoft.com/office/drawing/2014/main" id="{E64E2DD0-99D9-432B-AA78-6C2E30D42728}"/>
              </a:ext>
            </a:extLst>
          </p:cNvPr>
          <p:cNvCxnSpPr>
            <a:cxnSpLocks noChangeShapeType="1"/>
            <a:stCxn id="150" idx="5"/>
            <a:endCxn id="169" idx="1"/>
          </p:cNvCxnSpPr>
          <p:nvPr/>
        </p:nvCxnSpPr>
        <p:spPr bwMode="auto">
          <a:xfrm>
            <a:off x="8034338" y="1566863"/>
            <a:ext cx="371475" cy="319087"/>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68" name="AutoShape 66">
            <a:extLst>
              <a:ext uri="{FF2B5EF4-FFF2-40B4-BE49-F238E27FC236}">
                <a16:creationId xmlns:a16="http://schemas.microsoft.com/office/drawing/2014/main" id="{00B3A747-D251-4B17-9599-A8F2CE213BC4}"/>
              </a:ext>
            </a:extLst>
          </p:cNvPr>
          <p:cNvCxnSpPr>
            <a:cxnSpLocks noChangeShapeType="1"/>
            <a:stCxn id="151" idx="5"/>
            <a:endCxn id="170" idx="1"/>
          </p:cNvCxnSpPr>
          <p:nvPr/>
        </p:nvCxnSpPr>
        <p:spPr bwMode="auto">
          <a:xfrm>
            <a:off x="8034338" y="2117725"/>
            <a:ext cx="371475" cy="319088"/>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69" name="AutoShape 67">
            <a:extLst>
              <a:ext uri="{FF2B5EF4-FFF2-40B4-BE49-F238E27FC236}">
                <a16:creationId xmlns:a16="http://schemas.microsoft.com/office/drawing/2014/main" id="{2712F363-D890-4497-A984-629FB9057F3C}"/>
              </a:ext>
            </a:extLst>
          </p:cNvPr>
          <p:cNvCxnSpPr>
            <a:cxnSpLocks noChangeShapeType="1"/>
            <a:stCxn id="152" idx="5"/>
            <a:endCxn id="171" idx="1"/>
          </p:cNvCxnSpPr>
          <p:nvPr/>
        </p:nvCxnSpPr>
        <p:spPr bwMode="auto">
          <a:xfrm>
            <a:off x="8034338" y="2668588"/>
            <a:ext cx="371475" cy="31750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70" name="AutoShape 68">
            <a:extLst>
              <a:ext uri="{FF2B5EF4-FFF2-40B4-BE49-F238E27FC236}">
                <a16:creationId xmlns:a16="http://schemas.microsoft.com/office/drawing/2014/main" id="{23BC3BA7-B2B5-4DBD-A417-953F01DF574F}"/>
              </a:ext>
            </a:extLst>
          </p:cNvPr>
          <p:cNvCxnSpPr>
            <a:cxnSpLocks noChangeShapeType="1"/>
            <a:stCxn id="157" idx="6"/>
            <a:endCxn id="175" idx="2"/>
          </p:cNvCxnSpPr>
          <p:nvPr/>
        </p:nvCxnSpPr>
        <p:spPr bwMode="auto">
          <a:xfrm>
            <a:off x="8081963" y="3654425"/>
            <a:ext cx="277812"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71" name="AutoShape 69">
            <a:extLst>
              <a:ext uri="{FF2B5EF4-FFF2-40B4-BE49-F238E27FC236}">
                <a16:creationId xmlns:a16="http://schemas.microsoft.com/office/drawing/2014/main" id="{642AA471-04ED-43AA-B1B3-4D77C32C42C0}"/>
              </a:ext>
            </a:extLst>
          </p:cNvPr>
          <p:cNvCxnSpPr>
            <a:cxnSpLocks noChangeShapeType="1"/>
            <a:stCxn id="153" idx="5"/>
            <a:endCxn id="175" idx="1"/>
          </p:cNvCxnSpPr>
          <p:nvPr/>
        </p:nvCxnSpPr>
        <p:spPr bwMode="auto">
          <a:xfrm>
            <a:off x="8034338" y="3219450"/>
            <a:ext cx="371475" cy="317500"/>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72" name="AutoShape 70">
            <a:extLst>
              <a:ext uri="{FF2B5EF4-FFF2-40B4-BE49-F238E27FC236}">
                <a16:creationId xmlns:a16="http://schemas.microsoft.com/office/drawing/2014/main" id="{C9339C4D-04D8-4B9A-A481-A6569ED504C2}"/>
              </a:ext>
            </a:extLst>
          </p:cNvPr>
          <p:cNvCxnSpPr>
            <a:cxnSpLocks noChangeShapeType="1"/>
            <a:stCxn id="159" idx="6"/>
            <a:endCxn id="177" idx="2"/>
          </p:cNvCxnSpPr>
          <p:nvPr/>
        </p:nvCxnSpPr>
        <p:spPr bwMode="auto">
          <a:xfrm>
            <a:off x="8081963" y="4208463"/>
            <a:ext cx="277812"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73" name="AutoShape 71">
            <a:extLst>
              <a:ext uri="{FF2B5EF4-FFF2-40B4-BE49-F238E27FC236}">
                <a16:creationId xmlns:a16="http://schemas.microsoft.com/office/drawing/2014/main" id="{CE0DAC4C-F3DF-43C0-826F-7213D4A20492}"/>
              </a:ext>
            </a:extLst>
          </p:cNvPr>
          <p:cNvCxnSpPr>
            <a:cxnSpLocks noChangeShapeType="1"/>
            <a:stCxn id="157" idx="5"/>
            <a:endCxn id="177" idx="1"/>
          </p:cNvCxnSpPr>
          <p:nvPr/>
        </p:nvCxnSpPr>
        <p:spPr bwMode="auto">
          <a:xfrm>
            <a:off x="8034338" y="3770313"/>
            <a:ext cx="371475" cy="320675"/>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74" name="AutoShape 72">
            <a:extLst>
              <a:ext uri="{FF2B5EF4-FFF2-40B4-BE49-F238E27FC236}">
                <a16:creationId xmlns:a16="http://schemas.microsoft.com/office/drawing/2014/main" id="{5CE907A5-7D5B-48FD-A594-B0D7E02C3A11}"/>
              </a:ext>
            </a:extLst>
          </p:cNvPr>
          <p:cNvCxnSpPr>
            <a:cxnSpLocks noChangeShapeType="1"/>
            <a:stCxn id="92" idx="5"/>
            <a:endCxn id="111" idx="1"/>
          </p:cNvCxnSpPr>
          <p:nvPr/>
        </p:nvCxnSpPr>
        <p:spPr bwMode="auto">
          <a:xfrm>
            <a:off x="5614988" y="4322763"/>
            <a:ext cx="373062" cy="330200"/>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75" name="AutoShape 73">
            <a:extLst>
              <a:ext uri="{FF2B5EF4-FFF2-40B4-BE49-F238E27FC236}">
                <a16:creationId xmlns:a16="http://schemas.microsoft.com/office/drawing/2014/main" id="{D47B0D14-9D9C-4B2F-8776-32D34B703F74}"/>
              </a:ext>
            </a:extLst>
          </p:cNvPr>
          <p:cNvCxnSpPr>
            <a:cxnSpLocks noChangeShapeType="1"/>
            <a:stCxn id="108" idx="5"/>
            <a:endCxn id="128" idx="1"/>
          </p:cNvCxnSpPr>
          <p:nvPr/>
        </p:nvCxnSpPr>
        <p:spPr bwMode="auto">
          <a:xfrm>
            <a:off x="6221413" y="4322763"/>
            <a:ext cx="369887" cy="33020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76" name="AutoShape 74">
            <a:extLst>
              <a:ext uri="{FF2B5EF4-FFF2-40B4-BE49-F238E27FC236}">
                <a16:creationId xmlns:a16="http://schemas.microsoft.com/office/drawing/2014/main" id="{768DDCC5-5DF2-40FE-A9A6-A39E7D788A9F}"/>
              </a:ext>
            </a:extLst>
          </p:cNvPr>
          <p:cNvCxnSpPr>
            <a:cxnSpLocks noChangeShapeType="1"/>
          </p:cNvCxnSpPr>
          <p:nvPr/>
        </p:nvCxnSpPr>
        <p:spPr bwMode="auto">
          <a:xfrm flipH="1" flipV="1">
            <a:off x="6819135" y="4322380"/>
            <a:ext cx="373828" cy="330966"/>
          </a:xfrm>
          <a:prstGeom prst="straightConnector1">
            <a:avLst/>
          </a:prstGeom>
          <a:noFill/>
          <a:ln w="63500">
            <a:solidFill>
              <a:srgbClr val="0066FF"/>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77" name="AutoShape 75">
            <a:extLst>
              <a:ext uri="{FF2B5EF4-FFF2-40B4-BE49-F238E27FC236}">
                <a16:creationId xmlns:a16="http://schemas.microsoft.com/office/drawing/2014/main" id="{7487B6BC-96AC-47A0-B210-0DD4C335663C}"/>
              </a:ext>
            </a:extLst>
          </p:cNvPr>
          <p:cNvCxnSpPr>
            <a:cxnSpLocks noChangeShapeType="1"/>
            <a:stCxn id="142" idx="5"/>
            <a:endCxn id="162" idx="1"/>
          </p:cNvCxnSpPr>
          <p:nvPr/>
        </p:nvCxnSpPr>
        <p:spPr bwMode="auto">
          <a:xfrm>
            <a:off x="7427913" y="4322763"/>
            <a:ext cx="373062" cy="330200"/>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78" name="AutoShape 76">
            <a:extLst>
              <a:ext uri="{FF2B5EF4-FFF2-40B4-BE49-F238E27FC236}">
                <a16:creationId xmlns:a16="http://schemas.microsoft.com/office/drawing/2014/main" id="{768187EE-C098-49EB-B8C9-920668850A17}"/>
              </a:ext>
            </a:extLst>
          </p:cNvPr>
          <p:cNvCxnSpPr>
            <a:cxnSpLocks noChangeShapeType="1"/>
            <a:stCxn id="159" idx="5"/>
            <a:endCxn id="180" idx="1"/>
          </p:cNvCxnSpPr>
          <p:nvPr/>
        </p:nvCxnSpPr>
        <p:spPr bwMode="auto">
          <a:xfrm>
            <a:off x="8034338" y="4322763"/>
            <a:ext cx="371475" cy="330200"/>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79" name="AutoShape 77">
            <a:extLst>
              <a:ext uri="{FF2B5EF4-FFF2-40B4-BE49-F238E27FC236}">
                <a16:creationId xmlns:a16="http://schemas.microsoft.com/office/drawing/2014/main" id="{374727AF-4360-46BF-9771-5A71B2C69252}"/>
              </a:ext>
            </a:extLst>
          </p:cNvPr>
          <p:cNvCxnSpPr>
            <a:cxnSpLocks noChangeShapeType="1"/>
            <a:stCxn id="95" idx="6"/>
            <a:endCxn id="111" idx="2"/>
          </p:cNvCxnSpPr>
          <p:nvPr/>
        </p:nvCxnSpPr>
        <p:spPr bwMode="auto">
          <a:xfrm>
            <a:off x="5664200" y="4770438"/>
            <a:ext cx="276225"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80" name="AutoShape 78">
            <a:extLst>
              <a:ext uri="{FF2B5EF4-FFF2-40B4-BE49-F238E27FC236}">
                <a16:creationId xmlns:a16="http://schemas.microsoft.com/office/drawing/2014/main" id="{81D1AC39-D408-4AAF-841E-DB9740F4E98E}"/>
              </a:ext>
            </a:extLst>
          </p:cNvPr>
          <p:cNvCxnSpPr>
            <a:cxnSpLocks noChangeShapeType="1"/>
            <a:stCxn id="111" idx="6"/>
            <a:endCxn id="128" idx="2"/>
          </p:cNvCxnSpPr>
          <p:nvPr/>
        </p:nvCxnSpPr>
        <p:spPr bwMode="auto">
          <a:xfrm>
            <a:off x="6269038" y="4770438"/>
            <a:ext cx="274637"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81" name="AutoShape 79">
            <a:extLst>
              <a:ext uri="{FF2B5EF4-FFF2-40B4-BE49-F238E27FC236}">
                <a16:creationId xmlns:a16="http://schemas.microsoft.com/office/drawing/2014/main" id="{973AA839-C947-460F-8672-366387563064}"/>
              </a:ext>
            </a:extLst>
          </p:cNvPr>
          <p:cNvCxnSpPr>
            <a:cxnSpLocks noChangeShapeType="1"/>
            <a:stCxn id="128" idx="6"/>
            <a:endCxn id="145" idx="2"/>
          </p:cNvCxnSpPr>
          <p:nvPr/>
        </p:nvCxnSpPr>
        <p:spPr bwMode="auto">
          <a:xfrm>
            <a:off x="6872288" y="4770438"/>
            <a:ext cx="277812"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82" name="AutoShape 80">
            <a:extLst>
              <a:ext uri="{FF2B5EF4-FFF2-40B4-BE49-F238E27FC236}">
                <a16:creationId xmlns:a16="http://schemas.microsoft.com/office/drawing/2014/main" id="{26604CF4-FD58-4344-917E-FE990E282B7E}"/>
              </a:ext>
            </a:extLst>
          </p:cNvPr>
          <p:cNvCxnSpPr>
            <a:cxnSpLocks noChangeShapeType="1"/>
            <a:stCxn id="145" idx="6"/>
            <a:endCxn id="162" idx="2"/>
          </p:cNvCxnSpPr>
          <p:nvPr/>
        </p:nvCxnSpPr>
        <p:spPr bwMode="auto">
          <a:xfrm>
            <a:off x="7477125" y="4770438"/>
            <a:ext cx="276225"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83" name="Oval 81">
            <a:extLst>
              <a:ext uri="{FF2B5EF4-FFF2-40B4-BE49-F238E27FC236}">
                <a16:creationId xmlns:a16="http://schemas.microsoft.com/office/drawing/2014/main" id="{14FE2109-2034-4383-814E-DB10C924C807}"/>
              </a:ext>
            </a:extLst>
          </p:cNvPr>
          <p:cNvSpPr>
            <a:spLocks noChangeArrowheads="1"/>
          </p:cNvSpPr>
          <p:nvPr/>
        </p:nvSpPr>
        <p:spPr bwMode="auto">
          <a:xfrm>
            <a:off x="5357813" y="1277938"/>
            <a:ext cx="325437" cy="327025"/>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a:latin typeface="Times New Roman" panose="02020603050405020304" pitchFamily="18" charset="0"/>
                <a:ea typeface="ＭＳ Ｐゴシック" charset="0"/>
                <a:cs typeface="Times New Roman" panose="02020603050405020304" pitchFamily="18" charset="0"/>
              </a:rPr>
              <a:t>0</a:t>
            </a:r>
          </a:p>
        </p:txBody>
      </p:sp>
      <p:sp>
        <p:nvSpPr>
          <p:cNvPr id="84" name="Oval 82">
            <a:extLst>
              <a:ext uri="{FF2B5EF4-FFF2-40B4-BE49-F238E27FC236}">
                <a16:creationId xmlns:a16="http://schemas.microsoft.com/office/drawing/2014/main" id="{0A2E87C6-6859-4FAD-9C09-331A7ACDF511}"/>
              </a:ext>
            </a:extLst>
          </p:cNvPr>
          <p:cNvSpPr>
            <a:spLocks noChangeArrowheads="1"/>
          </p:cNvSpPr>
          <p:nvPr/>
        </p:nvSpPr>
        <p:spPr bwMode="auto">
          <a:xfrm>
            <a:off x="5337175" y="1836738"/>
            <a:ext cx="327025" cy="327025"/>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a:latin typeface="Times New Roman" panose="02020603050405020304" pitchFamily="18" charset="0"/>
                <a:ea typeface="ＭＳ Ｐゴシック" charset="0"/>
                <a:cs typeface="Times New Roman" panose="02020603050405020304" pitchFamily="18" charset="0"/>
              </a:rPr>
              <a:t>0</a:t>
            </a:r>
          </a:p>
        </p:txBody>
      </p:sp>
      <p:sp>
        <p:nvSpPr>
          <p:cNvPr id="85" name="Oval 83">
            <a:extLst>
              <a:ext uri="{FF2B5EF4-FFF2-40B4-BE49-F238E27FC236}">
                <a16:creationId xmlns:a16="http://schemas.microsoft.com/office/drawing/2014/main" id="{BED7C15C-A25F-41A1-A40C-26AFC12DA5F1}"/>
              </a:ext>
            </a:extLst>
          </p:cNvPr>
          <p:cNvSpPr>
            <a:spLocks noChangeArrowheads="1"/>
          </p:cNvSpPr>
          <p:nvPr/>
        </p:nvSpPr>
        <p:spPr bwMode="auto">
          <a:xfrm>
            <a:off x="5337175" y="2387600"/>
            <a:ext cx="327025" cy="328613"/>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a:latin typeface="Times New Roman" panose="02020603050405020304" pitchFamily="18" charset="0"/>
                <a:ea typeface="ＭＳ Ｐゴシック" charset="0"/>
                <a:cs typeface="Times New Roman" panose="02020603050405020304" pitchFamily="18" charset="0"/>
              </a:rPr>
              <a:t>0</a:t>
            </a:r>
          </a:p>
        </p:txBody>
      </p:sp>
      <p:sp>
        <p:nvSpPr>
          <p:cNvPr id="86" name="Oval 84">
            <a:extLst>
              <a:ext uri="{FF2B5EF4-FFF2-40B4-BE49-F238E27FC236}">
                <a16:creationId xmlns:a16="http://schemas.microsoft.com/office/drawing/2014/main" id="{3A9268FF-FF35-4ADE-9F14-E7BD3BEBF124}"/>
              </a:ext>
            </a:extLst>
          </p:cNvPr>
          <p:cNvSpPr>
            <a:spLocks noChangeArrowheads="1"/>
          </p:cNvSpPr>
          <p:nvPr/>
        </p:nvSpPr>
        <p:spPr bwMode="auto">
          <a:xfrm>
            <a:off x="5337175" y="2938463"/>
            <a:ext cx="327025" cy="328612"/>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a:latin typeface="Times New Roman" panose="02020603050405020304" pitchFamily="18" charset="0"/>
                <a:ea typeface="ＭＳ Ｐゴシック" charset="0"/>
                <a:cs typeface="Times New Roman" panose="02020603050405020304" pitchFamily="18" charset="0"/>
              </a:rPr>
              <a:t>0</a:t>
            </a:r>
          </a:p>
        </p:txBody>
      </p:sp>
      <p:cxnSp>
        <p:nvCxnSpPr>
          <p:cNvPr id="87" name="AutoShape 85">
            <a:extLst>
              <a:ext uri="{FF2B5EF4-FFF2-40B4-BE49-F238E27FC236}">
                <a16:creationId xmlns:a16="http://schemas.microsoft.com/office/drawing/2014/main" id="{45C172B2-328D-48D0-8BA4-A227E3375671}"/>
              </a:ext>
            </a:extLst>
          </p:cNvPr>
          <p:cNvCxnSpPr>
            <a:cxnSpLocks noChangeShapeType="1"/>
            <a:stCxn id="83" idx="4"/>
            <a:endCxn id="84" idx="0"/>
          </p:cNvCxnSpPr>
          <p:nvPr/>
        </p:nvCxnSpPr>
        <p:spPr bwMode="auto">
          <a:xfrm flipH="1">
            <a:off x="5500688" y="1604963"/>
            <a:ext cx="20637" cy="231775"/>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88" name="AutoShape 86">
            <a:extLst>
              <a:ext uri="{FF2B5EF4-FFF2-40B4-BE49-F238E27FC236}">
                <a16:creationId xmlns:a16="http://schemas.microsoft.com/office/drawing/2014/main" id="{5EFD0F9F-F8B7-4402-8882-96ED5855D96A}"/>
              </a:ext>
            </a:extLst>
          </p:cNvPr>
          <p:cNvCxnSpPr>
            <a:cxnSpLocks noChangeShapeType="1"/>
            <a:stCxn id="84" idx="4"/>
            <a:endCxn id="85" idx="0"/>
          </p:cNvCxnSpPr>
          <p:nvPr/>
        </p:nvCxnSpPr>
        <p:spPr bwMode="auto">
          <a:xfrm>
            <a:off x="5499100" y="2163763"/>
            <a:ext cx="0" cy="223837"/>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89" name="AutoShape 87">
            <a:extLst>
              <a:ext uri="{FF2B5EF4-FFF2-40B4-BE49-F238E27FC236}">
                <a16:creationId xmlns:a16="http://schemas.microsoft.com/office/drawing/2014/main" id="{08CD5F74-C19E-42D7-924E-A6E203431C10}"/>
              </a:ext>
            </a:extLst>
          </p:cNvPr>
          <p:cNvCxnSpPr>
            <a:cxnSpLocks noChangeShapeType="1"/>
            <a:stCxn id="85" idx="4"/>
            <a:endCxn id="86" idx="0"/>
          </p:cNvCxnSpPr>
          <p:nvPr/>
        </p:nvCxnSpPr>
        <p:spPr bwMode="auto">
          <a:xfrm>
            <a:off x="5499100" y="2716213"/>
            <a:ext cx="0" cy="222250"/>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90" name="Oval 88">
            <a:extLst>
              <a:ext uri="{FF2B5EF4-FFF2-40B4-BE49-F238E27FC236}">
                <a16:creationId xmlns:a16="http://schemas.microsoft.com/office/drawing/2014/main" id="{3FF1028D-A923-4B14-9687-42A19AEAC31B}"/>
              </a:ext>
            </a:extLst>
          </p:cNvPr>
          <p:cNvSpPr>
            <a:spLocks noChangeArrowheads="1"/>
          </p:cNvSpPr>
          <p:nvPr/>
        </p:nvSpPr>
        <p:spPr bwMode="auto">
          <a:xfrm>
            <a:off x="5337175" y="3489325"/>
            <a:ext cx="327025" cy="328613"/>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a:latin typeface="Times New Roman" panose="02020603050405020304" pitchFamily="18" charset="0"/>
                <a:ea typeface="ＭＳ Ｐゴシック" charset="0"/>
                <a:cs typeface="Times New Roman" panose="02020603050405020304" pitchFamily="18" charset="0"/>
              </a:rPr>
              <a:t>0</a:t>
            </a:r>
          </a:p>
        </p:txBody>
      </p:sp>
      <p:cxnSp>
        <p:nvCxnSpPr>
          <p:cNvPr id="91" name="AutoShape 89">
            <a:extLst>
              <a:ext uri="{FF2B5EF4-FFF2-40B4-BE49-F238E27FC236}">
                <a16:creationId xmlns:a16="http://schemas.microsoft.com/office/drawing/2014/main" id="{0AE2C458-523E-4C38-A325-25422D0FD456}"/>
              </a:ext>
            </a:extLst>
          </p:cNvPr>
          <p:cNvCxnSpPr>
            <a:cxnSpLocks noChangeShapeType="1"/>
            <a:stCxn id="86" idx="4"/>
            <a:endCxn id="90" idx="0"/>
          </p:cNvCxnSpPr>
          <p:nvPr/>
        </p:nvCxnSpPr>
        <p:spPr bwMode="auto">
          <a:xfrm>
            <a:off x="5499100" y="3267075"/>
            <a:ext cx="0" cy="222250"/>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92" name="Oval 90">
            <a:extLst>
              <a:ext uri="{FF2B5EF4-FFF2-40B4-BE49-F238E27FC236}">
                <a16:creationId xmlns:a16="http://schemas.microsoft.com/office/drawing/2014/main" id="{30943652-8A11-413E-B1DB-281D3320A290}"/>
              </a:ext>
            </a:extLst>
          </p:cNvPr>
          <p:cNvSpPr>
            <a:spLocks noChangeArrowheads="1"/>
          </p:cNvSpPr>
          <p:nvPr/>
        </p:nvSpPr>
        <p:spPr bwMode="auto">
          <a:xfrm>
            <a:off x="5337175" y="4043363"/>
            <a:ext cx="327025" cy="327025"/>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b="1">
                <a:latin typeface="Times New Roman" panose="02020603050405020304" pitchFamily="18" charset="0"/>
                <a:ea typeface="ＭＳ Ｐゴシック" charset="0"/>
                <a:cs typeface="Times New Roman" panose="02020603050405020304" pitchFamily="18" charset="0"/>
              </a:rPr>
              <a:t>0</a:t>
            </a:r>
          </a:p>
        </p:txBody>
      </p:sp>
      <p:cxnSp>
        <p:nvCxnSpPr>
          <p:cNvPr id="93" name="AutoShape 91">
            <a:extLst>
              <a:ext uri="{FF2B5EF4-FFF2-40B4-BE49-F238E27FC236}">
                <a16:creationId xmlns:a16="http://schemas.microsoft.com/office/drawing/2014/main" id="{30EBD24A-768E-45E6-AE6E-2B1EC626A38B}"/>
              </a:ext>
            </a:extLst>
          </p:cNvPr>
          <p:cNvCxnSpPr>
            <a:cxnSpLocks noChangeShapeType="1"/>
            <a:stCxn id="90" idx="4"/>
            <a:endCxn id="92" idx="0"/>
          </p:cNvCxnSpPr>
          <p:nvPr/>
        </p:nvCxnSpPr>
        <p:spPr bwMode="auto">
          <a:xfrm>
            <a:off x="5499100" y="3817938"/>
            <a:ext cx="0" cy="225425"/>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94" name="AutoShape 92">
            <a:extLst>
              <a:ext uri="{FF2B5EF4-FFF2-40B4-BE49-F238E27FC236}">
                <a16:creationId xmlns:a16="http://schemas.microsoft.com/office/drawing/2014/main" id="{8304A713-EB2C-4660-8AF5-051586070B62}"/>
              </a:ext>
            </a:extLst>
          </p:cNvPr>
          <p:cNvCxnSpPr>
            <a:cxnSpLocks noChangeShapeType="1"/>
            <a:stCxn id="92" idx="4"/>
            <a:endCxn id="95" idx="0"/>
          </p:cNvCxnSpPr>
          <p:nvPr/>
        </p:nvCxnSpPr>
        <p:spPr bwMode="auto">
          <a:xfrm>
            <a:off x="5499100" y="4370388"/>
            <a:ext cx="0" cy="234950"/>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95" name="Oval 93">
            <a:extLst>
              <a:ext uri="{FF2B5EF4-FFF2-40B4-BE49-F238E27FC236}">
                <a16:creationId xmlns:a16="http://schemas.microsoft.com/office/drawing/2014/main" id="{C7112B9B-4966-41EE-A4AE-D9E2EB1DFF55}"/>
              </a:ext>
            </a:extLst>
          </p:cNvPr>
          <p:cNvSpPr>
            <a:spLocks noChangeArrowheads="1"/>
          </p:cNvSpPr>
          <p:nvPr/>
        </p:nvSpPr>
        <p:spPr bwMode="auto">
          <a:xfrm>
            <a:off x="5337175" y="4605338"/>
            <a:ext cx="327025" cy="328612"/>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b="1">
                <a:latin typeface="Times New Roman" panose="02020603050405020304" pitchFamily="18" charset="0"/>
                <a:ea typeface="ＭＳ Ｐゴシック" charset="0"/>
                <a:cs typeface="Times New Roman" panose="02020603050405020304" pitchFamily="18" charset="0"/>
              </a:rPr>
              <a:t>0</a:t>
            </a:r>
          </a:p>
        </p:txBody>
      </p:sp>
      <p:sp>
        <p:nvSpPr>
          <p:cNvPr id="96" name="Oval 94">
            <a:extLst>
              <a:ext uri="{FF2B5EF4-FFF2-40B4-BE49-F238E27FC236}">
                <a16:creationId xmlns:a16="http://schemas.microsoft.com/office/drawing/2014/main" id="{3D99377B-A15E-480E-86AB-2645E67F0833}"/>
              </a:ext>
            </a:extLst>
          </p:cNvPr>
          <p:cNvSpPr>
            <a:spLocks noChangeArrowheads="1"/>
          </p:cNvSpPr>
          <p:nvPr/>
        </p:nvSpPr>
        <p:spPr bwMode="auto">
          <a:xfrm>
            <a:off x="5337175" y="5157788"/>
            <a:ext cx="327025" cy="328612"/>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b="1">
                <a:latin typeface="Times New Roman" panose="02020603050405020304" pitchFamily="18" charset="0"/>
                <a:ea typeface="ＭＳ Ｐゴシック" charset="0"/>
                <a:cs typeface="Times New Roman" panose="02020603050405020304" pitchFamily="18" charset="0"/>
              </a:rPr>
              <a:t>0</a:t>
            </a:r>
          </a:p>
        </p:txBody>
      </p:sp>
      <p:cxnSp>
        <p:nvCxnSpPr>
          <p:cNvPr id="97" name="AutoShape 95">
            <a:extLst>
              <a:ext uri="{FF2B5EF4-FFF2-40B4-BE49-F238E27FC236}">
                <a16:creationId xmlns:a16="http://schemas.microsoft.com/office/drawing/2014/main" id="{1479A2AA-7170-4EB9-A1E2-8EF078D5997D}"/>
              </a:ext>
            </a:extLst>
          </p:cNvPr>
          <p:cNvCxnSpPr>
            <a:cxnSpLocks noChangeShapeType="1"/>
            <a:stCxn id="95" idx="4"/>
            <a:endCxn id="96" idx="0"/>
          </p:cNvCxnSpPr>
          <p:nvPr/>
        </p:nvCxnSpPr>
        <p:spPr bwMode="auto">
          <a:xfrm>
            <a:off x="5499100" y="4933950"/>
            <a:ext cx="0" cy="223838"/>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98" name="AutoShape 96">
            <a:extLst>
              <a:ext uri="{FF2B5EF4-FFF2-40B4-BE49-F238E27FC236}">
                <a16:creationId xmlns:a16="http://schemas.microsoft.com/office/drawing/2014/main" id="{81059FEE-7726-41E7-89FF-6B789C1FCA36}"/>
              </a:ext>
            </a:extLst>
          </p:cNvPr>
          <p:cNvCxnSpPr>
            <a:cxnSpLocks noChangeShapeType="1"/>
            <a:stCxn id="96" idx="6"/>
            <a:endCxn id="112" idx="2"/>
          </p:cNvCxnSpPr>
          <p:nvPr/>
        </p:nvCxnSpPr>
        <p:spPr bwMode="auto">
          <a:xfrm>
            <a:off x="5664200" y="5324475"/>
            <a:ext cx="276225"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99" name="Oval 97">
            <a:extLst>
              <a:ext uri="{FF2B5EF4-FFF2-40B4-BE49-F238E27FC236}">
                <a16:creationId xmlns:a16="http://schemas.microsoft.com/office/drawing/2014/main" id="{EF439A85-E556-42C0-9100-91D6069E4DA2}"/>
              </a:ext>
            </a:extLst>
          </p:cNvPr>
          <p:cNvSpPr>
            <a:spLocks noChangeArrowheads="1"/>
          </p:cNvSpPr>
          <p:nvPr/>
        </p:nvSpPr>
        <p:spPr bwMode="auto">
          <a:xfrm>
            <a:off x="5940425" y="1285875"/>
            <a:ext cx="328613" cy="327025"/>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a:latin typeface="Times New Roman" panose="02020603050405020304" pitchFamily="18" charset="0"/>
                <a:ea typeface="ＭＳ Ｐゴシック" charset="0"/>
                <a:cs typeface="Times New Roman" panose="02020603050405020304" pitchFamily="18" charset="0"/>
              </a:rPr>
              <a:t>0</a:t>
            </a:r>
          </a:p>
        </p:txBody>
      </p:sp>
      <p:sp>
        <p:nvSpPr>
          <p:cNvPr id="100" name="Oval 98">
            <a:extLst>
              <a:ext uri="{FF2B5EF4-FFF2-40B4-BE49-F238E27FC236}">
                <a16:creationId xmlns:a16="http://schemas.microsoft.com/office/drawing/2014/main" id="{C9D48405-A40F-4D1F-A78C-D3B0A810B7F1}"/>
              </a:ext>
            </a:extLst>
          </p:cNvPr>
          <p:cNvSpPr>
            <a:spLocks noChangeArrowheads="1"/>
          </p:cNvSpPr>
          <p:nvPr/>
        </p:nvSpPr>
        <p:spPr bwMode="auto">
          <a:xfrm>
            <a:off x="5940425" y="1836738"/>
            <a:ext cx="328613" cy="327025"/>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a:latin typeface="Times New Roman" panose="02020603050405020304" pitchFamily="18" charset="0"/>
                <a:ea typeface="ＭＳ Ｐゴシック" charset="0"/>
                <a:cs typeface="Times New Roman" panose="02020603050405020304" pitchFamily="18" charset="0"/>
              </a:rPr>
              <a:t>1</a:t>
            </a:r>
          </a:p>
        </p:txBody>
      </p:sp>
      <p:sp>
        <p:nvSpPr>
          <p:cNvPr id="101" name="Oval 99">
            <a:extLst>
              <a:ext uri="{FF2B5EF4-FFF2-40B4-BE49-F238E27FC236}">
                <a16:creationId xmlns:a16="http://schemas.microsoft.com/office/drawing/2014/main" id="{FEC6DAEB-A93D-49BB-AE78-68B8A71FC2F7}"/>
              </a:ext>
            </a:extLst>
          </p:cNvPr>
          <p:cNvSpPr>
            <a:spLocks noChangeArrowheads="1"/>
          </p:cNvSpPr>
          <p:nvPr/>
        </p:nvSpPr>
        <p:spPr bwMode="auto">
          <a:xfrm>
            <a:off x="5940425" y="2387600"/>
            <a:ext cx="328613" cy="328613"/>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a:latin typeface="Times New Roman" panose="02020603050405020304" pitchFamily="18" charset="0"/>
                <a:ea typeface="ＭＳ Ｐゴシック" charset="0"/>
                <a:cs typeface="Times New Roman" panose="02020603050405020304" pitchFamily="18" charset="0"/>
              </a:rPr>
              <a:t>4</a:t>
            </a:r>
          </a:p>
        </p:txBody>
      </p:sp>
      <p:sp>
        <p:nvSpPr>
          <p:cNvPr id="102" name="Oval 100">
            <a:extLst>
              <a:ext uri="{FF2B5EF4-FFF2-40B4-BE49-F238E27FC236}">
                <a16:creationId xmlns:a16="http://schemas.microsoft.com/office/drawing/2014/main" id="{BF17DB26-8B75-4CCD-8424-DAD13238A7BC}"/>
              </a:ext>
            </a:extLst>
          </p:cNvPr>
          <p:cNvSpPr>
            <a:spLocks noChangeArrowheads="1"/>
          </p:cNvSpPr>
          <p:nvPr/>
        </p:nvSpPr>
        <p:spPr bwMode="auto">
          <a:xfrm>
            <a:off x="5940425" y="2938463"/>
            <a:ext cx="328613" cy="328612"/>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a:latin typeface="Times New Roman" panose="02020603050405020304" pitchFamily="18" charset="0"/>
                <a:ea typeface="ＭＳ Ｐゴシック" charset="0"/>
                <a:cs typeface="Times New Roman" panose="02020603050405020304" pitchFamily="18" charset="0"/>
              </a:rPr>
              <a:t>0</a:t>
            </a:r>
          </a:p>
        </p:txBody>
      </p:sp>
      <p:cxnSp>
        <p:nvCxnSpPr>
          <p:cNvPr id="103" name="AutoShape 101">
            <a:extLst>
              <a:ext uri="{FF2B5EF4-FFF2-40B4-BE49-F238E27FC236}">
                <a16:creationId xmlns:a16="http://schemas.microsoft.com/office/drawing/2014/main" id="{76CFE1F2-83A4-44D3-A2CC-CFC1ACC9CB58}"/>
              </a:ext>
            </a:extLst>
          </p:cNvPr>
          <p:cNvCxnSpPr>
            <a:cxnSpLocks noChangeShapeType="1"/>
            <a:stCxn id="99" idx="4"/>
            <a:endCxn id="100" idx="0"/>
          </p:cNvCxnSpPr>
          <p:nvPr/>
        </p:nvCxnSpPr>
        <p:spPr bwMode="auto">
          <a:xfrm>
            <a:off x="6103938" y="1612900"/>
            <a:ext cx="0" cy="223838"/>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04" name="AutoShape 102">
            <a:extLst>
              <a:ext uri="{FF2B5EF4-FFF2-40B4-BE49-F238E27FC236}">
                <a16:creationId xmlns:a16="http://schemas.microsoft.com/office/drawing/2014/main" id="{5950E6EC-CCD8-4366-AF4F-2EF4881B0892}"/>
              </a:ext>
            </a:extLst>
          </p:cNvPr>
          <p:cNvCxnSpPr>
            <a:cxnSpLocks noChangeShapeType="1"/>
            <a:stCxn id="100" idx="4"/>
            <a:endCxn id="101" idx="0"/>
          </p:cNvCxnSpPr>
          <p:nvPr/>
        </p:nvCxnSpPr>
        <p:spPr bwMode="auto">
          <a:xfrm>
            <a:off x="6103938" y="2163763"/>
            <a:ext cx="0" cy="223837"/>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05" name="AutoShape 103">
            <a:extLst>
              <a:ext uri="{FF2B5EF4-FFF2-40B4-BE49-F238E27FC236}">
                <a16:creationId xmlns:a16="http://schemas.microsoft.com/office/drawing/2014/main" id="{8EE5B562-A6F8-443A-85F3-22917EDE7C03}"/>
              </a:ext>
            </a:extLst>
          </p:cNvPr>
          <p:cNvCxnSpPr>
            <a:cxnSpLocks noChangeShapeType="1"/>
            <a:stCxn id="101" idx="4"/>
            <a:endCxn id="102" idx="0"/>
          </p:cNvCxnSpPr>
          <p:nvPr/>
        </p:nvCxnSpPr>
        <p:spPr bwMode="auto">
          <a:xfrm>
            <a:off x="6103938" y="2716213"/>
            <a:ext cx="0" cy="222250"/>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06" name="Oval 104">
            <a:extLst>
              <a:ext uri="{FF2B5EF4-FFF2-40B4-BE49-F238E27FC236}">
                <a16:creationId xmlns:a16="http://schemas.microsoft.com/office/drawing/2014/main" id="{5959F01A-6BC1-428F-AEC4-5C2B62AD4B97}"/>
              </a:ext>
            </a:extLst>
          </p:cNvPr>
          <p:cNvSpPr>
            <a:spLocks noChangeArrowheads="1"/>
          </p:cNvSpPr>
          <p:nvPr/>
        </p:nvSpPr>
        <p:spPr bwMode="auto">
          <a:xfrm>
            <a:off x="5940425" y="3489325"/>
            <a:ext cx="328613" cy="328613"/>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a:latin typeface="Times New Roman" panose="02020603050405020304" pitchFamily="18" charset="0"/>
                <a:ea typeface="ＭＳ Ｐゴシック" charset="0"/>
                <a:cs typeface="Times New Roman" panose="02020603050405020304" pitchFamily="18" charset="0"/>
              </a:rPr>
              <a:t>1</a:t>
            </a:r>
          </a:p>
        </p:txBody>
      </p:sp>
      <p:cxnSp>
        <p:nvCxnSpPr>
          <p:cNvPr id="107" name="AutoShape 105">
            <a:extLst>
              <a:ext uri="{FF2B5EF4-FFF2-40B4-BE49-F238E27FC236}">
                <a16:creationId xmlns:a16="http://schemas.microsoft.com/office/drawing/2014/main" id="{86F21F92-50D2-4E77-8CE4-1DA74A331DAB}"/>
              </a:ext>
            </a:extLst>
          </p:cNvPr>
          <p:cNvCxnSpPr>
            <a:cxnSpLocks noChangeShapeType="1"/>
            <a:stCxn id="102" idx="4"/>
            <a:endCxn id="106" idx="0"/>
          </p:cNvCxnSpPr>
          <p:nvPr/>
        </p:nvCxnSpPr>
        <p:spPr bwMode="auto">
          <a:xfrm>
            <a:off x="6103938" y="3267075"/>
            <a:ext cx="0" cy="22225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08" name="Oval 106">
            <a:extLst>
              <a:ext uri="{FF2B5EF4-FFF2-40B4-BE49-F238E27FC236}">
                <a16:creationId xmlns:a16="http://schemas.microsoft.com/office/drawing/2014/main" id="{ED8A516F-DFC6-46E7-8453-40B38B7C3EAC}"/>
              </a:ext>
            </a:extLst>
          </p:cNvPr>
          <p:cNvSpPr>
            <a:spLocks noChangeArrowheads="1"/>
          </p:cNvSpPr>
          <p:nvPr/>
        </p:nvSpPr>
        <p:spPr bwMode="auto">
          <a:xfrm>
            <a:off x="5940425" y="4043363"/>
            <a:ext cx="328613" cy="327025"/>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a:latin typeface="Times New Roman" panose="02020603050405020304" pitchFamily="18" charset="0"/>
                <a:ea typeface="ＭＳ Ｐゴシック" charset="0"/>
                <a:cs typeface="Times New Roman" panose="02020603050405020304" pitchFamily="18" charset="0"/>
              </a:rPr>
              <a:t>0</a:t>
            </a:r>
          </a:p>
        </p:txBody>
      </p:sp>
      <p:cxnSp>
        <p:nvCxnSpPr>
          <p:cNvPr id="109" name="AutoShape 107">
            <a:extLst>
              <a:ext uri="{FF2B5EF4-FFF2-40B4-BE49-F238E27FC236}">
                <a16:creationId xmlns:a16="http://schemas.microsoft.com/office/drawing/2014/main" id="{29F049F2-610C-4F8C-B54B-428815A6AB8C}"/>
              </a:ext>
            </a:extLst>
          </p:cNvPr>
          <p:cNvCxnSpPr>
            <a:cxnSpLocks noChangeShapeType="1"/>
            <a:stCxn id="106" idx="4"/>
            <a:endCxn id="108" idx="0"/>
          </p:cNvCxnSpPr>
          <p:nvPr/>
        </p:nvCxnSpPr>
        <p:spPr bwMode="auto">
          <a:xfrm>
            <a:off x="6103938" y="3817938"/>
            <a:ext cx="0" cy="225425"/>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10" name="AutoShape 108">
            <a:extLst>
              <a:ext uri="{FF2B5EF4-FFF2-40B4-BE49-F238E27FC236}">
                <a16:creationId xmlns:a16="http://schemas.microsoft.com/office/drawing/2014/main" id="{DAF47F0D-0F9D-47CA-B890-48FB8176D42E}"/>
              </a:ext>
            </a:extLst>
          </p:cNvPr>
          <p:cNvCxnSpPr>
            <a:cxnSpLocks noChangeShapeType="1"/>
            <a:stCxn id="108" idx="4"/>
            <a:endCxn id="111" idx="0"/>
          </p:cNvCxnSpPr>
          <p:nvPr/>
        </p:nvCxnSpPr>
        <p:spPr bwMode="auto">
          <a:xfrm>
            <a:off x="6103938" y="4370388"/>
            <a:ext cx="0" cy="23495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11" name="Oval 109">
            <a:extLst>
              <a:ext uri="{FF2B5EF4-FFF2-40B4-BE49-F238E27FC236}">
                <a16:creationId xmlns:a16="http://schemas.microsoft.com/office/drawing/2014/main" id="{9FF721B8-4ECD-4A0F-AB78-7AA9B09D4EE8}"/>
              </a:ext>
            </a:extLst>
          </p:cNvPr>
          <p:cNvSpPr>
            <a:spLocks noChangeArrowheads="1"/>
          </p:cNvSpPr>
          <p:nvPr/>
        </p:nvSpPr>
        <p:spPr bwMode="auto">
          <a:xfrm>
            <a:off x="5940425" y="4605338"/>
            <a:ext cx="328613" cy="328612"/>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a:latin typeface="Times New Roman" panose="02020603050405020304" pitchFamily="18" charset="0"/>
                <a:ea typeface="ＭＳ Ｐゴシック" charset="0"/>
                <a:cs typeface="Times New Roman" panose="02020603050405020304" pitchFamily="18" charset="0"/>
              </a:rPr>
              <a:t>0</a:t>
            </a:r>
          </a:p>
        </p:txBody>
      </p:sp>
      <p:sp>
        <p:nvSpPr>
          <p:cNvPr id="112" name="Oval 110">
            <a:extLst>
              <a:ext uri="{FF2B5EF4-FFF2-40B4-BE49-F238E27FC236}">
                <a16:creationId xmlns:a16="http://schemas.microsoft.com/office/drawing/2014/main" id="{2F7768FA-78F7-420F-950C-43BA7AF1E8E6}"/>
              </a:ext>
            </a:extLst>
          </p:cNvPr>
          <p:cNvSpPr>
            <a:spLocks noChangeArrowheads="1"/>
          </p:cNvSpPr>
          <p:nvPr/>
        </p:nvSpPr>
        <p:spPr bwMode="auto">
          <a:xfrm>
            <a:off x="5940425" y="5157788"/>
            <a:ext cx="328613" cy="328612"/>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a:latin typeface="Times New Roman" panose="02020603050405020304" pitchFamily="18" charset="0"/>
                <a:ea typeface="ＭＳ Ｐゴシック" charset="0"/>
                <a:cs typeface="Times New Roman" panose="02020603050405020304" pitchFamily="18" charset="0"/>
              </a:rPr>
              <a:t>1</a:t>
            </a:r>
          </a:p>
        </p:txBody>
      </p:sp>
      <p:cxnSp>
        <p:nvCxnSpPr>
          <p:cNvPr id="113" name="AutoShape 111">
            <a:extLst>
              <a:ext uri="{FF2B5EF4-FFF2-40B4-BE49-F238E27FC236}">
                <a16:creationId xmlns:a16="http://schemas.microsoft.com/office/drawing/2014/main" id="{C7BE70BB-59C7-42F6-9AB9-0CCE532714A9}"/>
              </a:ext>
            </a:extLst>
          </p:cNvPr>
          <p:cNvCxnSpPr>
            <a:cxnSpLocks noChangeShapeType="1"/>
            <a:stCxn id="111" idx="4"/>
            <a:endCxn id="112" idx="0"/>
          </p:cNvCxnSpPr>
          <p:nvPr/>
        </p:nvCxnSpPr>
        <p:spPr bwMode="auto">
          <a:xfrm>
            <a:off x="6103938" y="4933950"/>
            <a:ext cx="0" cy="223838"/>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14" name="AutoShape 112">
            <a:extLst>
              <a:ext uri="{FF2B5EF4-FFF2-40B4-BE49-F238E27FC236}">
                <a16:creationId xmlns:a16="http://schemas.microsoft.com/office/drawing/2014/main" id="{21917E5E-69D9-4F8E-A797-AEE8A59C94A0}"/>
              </a:ext>
            </a:extLst>
          </p:cNvPr>
          <p:cNvCxnSpPr>
            <a:cxnSpLocks noChangeShapeType="1"/>
            <a:stCxn id="95" idx="5"/>
            <a:endCxn id="112" idx="1"/>
          </p:cNvCxnSpPr>
          <p:nvPr/>
        </p:nvCxnSpPr>
        <p:spPr bwMode="auto">
          <a:xfrm>
            <a:off x="5614988" y="4886325"/>
            <a:ext cx="373062" cy="319088"/>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15" name="AutoShape 113">
            <a:extLst>
              <a:ext uri="{FF2B5EF4-FFF2-40B4-BE49-F238E27FC236}">
                <a16:creationId xmlns:a16="http://schemas.microsoft.com/office/drawing/2014/main" id="{6ECEC898-FDB8-4E83-A868-16B9487236A1}"/>
              </a:ext>
            </a:extLst>
          </p:cNvPr>
          <p:cNvCxnSpPr>
            <a:cxnSpLocks noChangeShapeType="1"/>
            <a:stCxn id="112" idx="6"/>
            <a:endCxn id="129" idx="2"/>
          </p:cNvCxnSpPr>
          <p:nvPr/>
        </p:nvCxnSpPr>
        <p:spPr bwMode="auto">
          <a:xfrm>
            <a:off x="6269038" y="5324475"/>
            <a:ext cx="274637" cy="0"/>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16" name="Oval 114">
            <a:extLst>
              <a:ext uri="{FF2B5EF4-FFF2-40B4-BE49-F238E27FC236}">
                <a16:creationId xmlns:a16="http://schemas.microsoft.com/office/drawing/2014/main" id="{C45BAA59-9B04-4DA4-89BD-0ADA6C005563}"/>
              </a:ext>
            </a:extLst>
          </p:cNvPr>
          <p:cNvSpPr>
            <a:spLocks noChangeArrowheads="1"/>
          </p:cNvSpPr>
          <p:nvPr/>
        </p:nvSpPr>
        <p:spPr bwMode="auto">
          <a:xfrm>
            <a:off x="6543675" y="1285875"/>
            <a:ext cx="328613" cy="327025"/>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fr-FR" sz="2000">
                <a:latin typeface="Times New Roman" panose="02020603050405020304" pitchFamily="18" charset="0"/>
                <a:ea typeface="ＭＳ Ｐゴシック" charset="0"/>
                <a:cs typeface="Times New Roman" panose="02020603050405020304" pitchFamily="18" charset="0"/>
              </a:rPr>
              <a:t>0</a:t>
            </a:r>
          </a:p>
        </p:txBody>
      </p:sp>
      <p:sp>
        <p:nvSpPr>
          <p:cNvPr id="117" name="Oval 115">
            <a:extLst>
              <a:ext uri="{FF2B5EF4-FFF2-40B4-BE49-F238E27FC236}">
                <a16:creationId xmlns:a16="http://schemas.microsoft.com/office/drawing/2014/main" id="{7DC87B53-CDC3-498D-A0FC-AFB1DC66D6C9}"/>
              </a:ext>
            </a:extLst>
          </p:cNvPr>
          <p:cNvSpPr>
            <a:spLocks noChangeArrowheads="1"/>
          </p:cNvSpPr>
          <p:nvPr/>
        </p:nvSpPr>
        <p:spPr bwMode="auto">
          <a:xfrm>
            <a:off x="6543675" y="1836738"/>
            <a:ext cx="328613" cy="327025"/>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dirty="0">
                <a:latin typeface="Times New Roman" panose="02020603050405020304" pitchFamily="18" charset="0"/>
                <a:ea typeface="ＭＳ Ｐゴシック" charset="0"/>
                <a:cs typeface="Times New Roman" panose="02020603050405020304" pitchFamily="18" charset="0"/>
              </a:rPr>
              <a:t>0</a:t>
            </a:r>
          </a:p>
        </p:txBody>
      </p:sp>
      <p:sp>
        <p:nvSpPr>
          <p:cNvPr id="118" name="Oval 116">
            <a:extLst>
              <a:ext uri="{FF2B5EF4-FFF2-40B4-BE49-F238E27FC236}">
                <a16:creationId xmlns:a16="http://schemas.microsoft.com/office/drawing/2014/main" id="{194E7923-75CE-4428-8CFA-5CF6A3CCF3A3}"/>
              </a:ext>
            </a:extLst>
          </p:cNvPr>
          <p:cNvSpPr>
            <a:spLocks noChangeArrowheads="1"/>
          </p:cNvSpPr>
          <p:nvPr/>
        </p:nvSpPr>
        <p:spPr bwMode="auto">
          <a:xfrm>
            <a:off x="6543675" y="2387600"/>
            <a:ext cx="328613" cy="328613"/>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a:latin typeface="Times New Roman" panose="02020603050405020304" pitchFamily="18" charset="0"/>
                <a:ea typeface="ＭＳ Ｐゴシック" charset="0"/>
                <a:cs typeface="Times New Roman" panose="02020603050405020304" pitchFamily="18" charset="0"/>
              </a:rPr>
              <a:t>0</a:t>
            </a:r>
          </a:p>
        </p:txBody>
      </p:sp>
      <p:sp>
        <p:nvSpPr>
          <p:cNvPr id="119" name="Oval 117">
            <a:extLst>
              <a:ext uri="{FF2B5EF4-FFF2-40B4-BE49-F238E27FC236}">
                <a16:creationId xmlns:a16="http://schemas.microsoft.com/office/drawing/2014/main" id="{1F0289B3-B409-401D-BEC3-696EE0488DE2}"/>
              </a:ext>
            </a:extLst>
          </p:cNvPr>
          <p:cNvSpPr>
            <a:spLocks noChangeArrowheads="1"/>
          </p:cNvSpPr>
          <p:nvPr/>
        </p:nvSpPr>
        <p:spPr bwMode="auto">
          <a:xfrm>
            <a:off x="6543675" y="2938463"/>
            <a:ext cx="328613" cy="328612"/>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dirty="0">
                <a:latin typeface="Times New Roman" panose="02020603050405020304" pitchFamily="18" charset="0"/>
                <a:ea typeface="ＭＳ Ｐゴシック" charset="0"/>
                <a:cs typeface="Times New Roman" panose="02020603050405020304" pitchFamily="18" charset="0"/>
              </a:rPr>
              <a:t>8</a:t>
            </a:r>
          </a:p>
        </p:txBody>
      </p:sp>
      <p:cxnSp>
        <p:nvCxnSpPr>
          <p:cNvPr id="120" name="AutoShape 118">
            <a:extLst>
              <a:ext uri="{FF2B5EF4-FFF2-40B4-BE49-F238E27FC236}">
                <a16:creationId xmlns:a16="http://schemas.microsoft.com/office/drawing/2014/main" id="{CE5261EF-D5A7-45C7-80D6-E621F1763C23}"/>
              </a:ext>
            </a:extLst>
          </p:cNvPr>
          <p:cNvCxnSpPr>
            <a:cxnSpLocks noChangeShapeType="1"/>
            <a:stCxn id="116" idx="4"/>
            <a:endCxn id="117" idx="0"/>
          </p:cNvCxnSpPr>
          <p:nvPr/>
        </p:nvCxnSpPr>
        <p:spPr bwMode="auto">
          <a:xfrm>
            <a:off x="6708775" y="1612900"/>
            <a:ext cx="0" cy="223838"/>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21" name="AutoShape 119">
            <a:extLst>
              <a:ext uri="{FF2B5EF4-FFF2-40B4-BE49-F238E27FC236}">
                <a16:creationId xmlns:a16="http://schemas.microsoft.com/office/drawing/2014/main" id="{66ECAE6B-05D5-47B7-9A9F-1684FD0EA8FC}"/>
              </a:ext>
            </a:extLst>
          </p:cNvPr>
          <p:cNvCxnSpPr>
            <a:cxnSpLocks noChangeShapeType="1"/>
            <a:stCxn id="117" idx="4"/>
            <a:endCxn id="118" idx="0"/>
          </p:cNvCxnSpPr>
          <p:nvPr/>
        </p:nvCxnSpPr>
        <p:spPr bwMode="auto">
          <a:xfrm>
            <a:off x="6708775" y="2163763"/>
            <a:ext cx="0" cy="223837"/>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22" name="AutoShape 120">
            <a:extLst>
              <a:ext uri="{FF2B5EF4-FFF2-40B4-BE49-F238E27FC236}">
                <a16:creationId xmlns:a16="http://schemas.microsoft.com/office/drawing/2014/main" id="{1EB52DCB-D4FD-48B9-96D8-15D42E781877}"/>
              </a:ext>
            </a:extLst>
          </p:cNvPr>
          <p:cNvCxnSpPr>
            <a:cxnSpLocks noChangeShapeType="1"/>
            <a:stCxn id="118" idx="4"/>
            <a:endCxn id="119" idx="0"/>
          </p:cNvCxnSpPr>
          <p:nvPr/>
        </p:nvCxnSpPr>
        <p:spPr bwMode="auto">
          <a:xfrm>
            <a:off x="6708775" y="2716213"/>
            <a:ext cx="0" cy="22225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23" name="Oval 121">
            <a:extLst>
              <a:ext uri="{FF2B5EF4-FFF2-40B4-BE49-F238E27FC236}">
                <a16:creationId xmlns:a16="http://schemas.microsoft.com/office/drawing/2014/main" id="{C14395BF-02A2-480B-B681-D0C9DCA2380D}"/>
              </a:ext>
            </a:extLst>
          </p:cNvPr>
          <p:cNvSpPr>
            <a:spLocks noChangeArrowheads="1"/>
          </p:cNvSpPr>
          <p:nvPr/>
        </p:nvSpPr>
        <p:spPr bwMode="auto">
          <a:xfrm>
            <a:off x="6543675" y="3489325"/>
            <a:ext cx="328613" cy="328613"/>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dirty="0">
                <a:latin typeface="Times New Roman" panose="02020603050405020304" pitchFamily="18" charset="0"/>
                <a:ea typeface="ＭＳ Ｐゴシック" charset="0"/>
                <a:cs typeface="Times New Roman" panose="02020603050405020304" pitchFamily="18" charset="0"/>
              </a:rPr>
              <a:t>2</a:t>
            </a:r>
          </a:p>
        </p:txBody>
      </p:sp>
      <p:cxnSp>
        <p:nvCxnSpPr>
          <p:cNvPr id="124" name="AutoShape 122">
            <a:extLst>
              <a:ext uri="{FF2B5EF4-FFF2-40B4-BE49-F238E27FC236}">
                <a16:creationId xmlns:a16="http://schemas.microsoft.com/office/drawing/2014/main" id="{3D57F395-E786-4B97-B5CB-CDE2C1AB0F5B}"/>
              </a:ext>
            </a:extLst>
          </p:cNvPr>
          <p:cNvCxnSpPr>
            <a:cxnSpLocks noChangeShapeType="1"/>
            <a:stCxn id="123" idx="0"/>
            <a:endCxn id="119" idx="4"/>
          </p:cNvCxnSpPr>
          <p:nvPr/>
        </p:nvCxnSpPr>
        <p:spPr bwMode="auto">
          <a:xfrm flipV="1">
            <a:off x="6707982" y="3267075"/>
            <a:ext cx="0" cy="222250"/>
          </a:xfrm>
          <a:prstGeom prst="straightConnector1">
            <a:avLst/>
          </a:prstGeom>
          <a:noFill/>
          <a:ln w="63500">
            <a:solidFill>
              <a:srgbClr val="0066FF"/>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25" name="Oval 123">
            <a:extLst>
              <a:ext uri="{FF2B5EF4-FFF2-40B4-BE49-F238E27FC236}">
                <a16:creationId xmlns:a16="http://schemas.microsoft.com/office/drawing/2014/main" id="{26158FFF-C7B5-4623-BF5B-BCCACB9DC754}"/>
              </a:ext>
            </a:extLst>
          </p:cNvPr>
          <p:cNvSpPr>
            <a:spLocks noChangeArrowheads="1"/>
          </p:cNvSpPr>
          <p:nvPr/>
        </p:nvSpPr>
        <p:spPr bwMode="auto">
          <a:xfrm>
            <a:off x="6543675" y="4043363"/>
            <a:ext cx="328613" cy="327025"/>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dirty="0">
                <a:latin typeface="Times New Roman" panose="02020603050405020304" pitchFamily="18" charset="0"/>
                <a:ea typeface="ＭＳ Ｐゴシック" charset="0"/>
                <a:cs typeface="Times New Roman" panose="02020603050405020304" pitchFamily="18" charset="0"/>
              </a:rPr>
              <a:t>1</a:t>
            </a:r>
          </a:p>
        </p:txBody>
      </p:sp>
      <p:cxnSp>
        <p:nvCxnSpPr>
          <p:cNvPr id="126" name="AutoShape 124">
            <a:extLst>
              <a:ext uri="{FF2B5EF4-FFF2-40B4-BE49-F238E27FC236}">
                <a16:creationId xmlns:a16="http://schemas.microsoft.com/office/drawing/2014/main" id="{D2C37F92-5CA2-4141-AF2B-F7AAE7A85D6F}"/>
              </a:ext>
            </a:extLst>
          </p:cNvPr>
          <p:cNvCxnSpPr>
            <a:cxnSpLocks noChangeShapeType="1"/>
            <a:stCxn id="125" idx="0"/>
            <a:endCxn id="123" idx="4"/>
          </p:cNvCxnSpPr>
          <p:nvPr/>
        </p:nvCxnSpPr>
        <p:spPr bwMode="auto">
          <a:xfrm flipV="1">
            <a:off x="6707982" y="3817938"/>
            <a:ext cx="0" cy="225425"/>
          </a:xfrm>
          <a:prstGeom prst="straightConnector1">
            <a:avLst/>
          </a:prstGeom>
          <a:noFill/>
          <a:ln w="63500">
            <a:solidFill>
              <a:srgbClr val="0066FF"/>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27" name="AutoShape 125">
            <a:extLst>
              <a:ext uri="{FF2B5EF4-FFF2-40B4-BE49-F238E27FC236}">
                <a16:creationId xmlns:a16="http://schemas.microsoft.com/office/drawing/2014/main" id="{835EAD7F-6C98-4EBF-99CC-6843F247F2FE}"/>
              </a:ext>
            </a:extLst>
          </p:cNvPr>
          <p:cNvCxnSpPr>
            <a:cxnSpLocks noChangeShapeType="1"/>
            <a:stCxn id="125" idx="4"/>
            <a:endCxn id="128" idx="0"/>
          </p:cNvCxnSpPr>
          <p:nvPr/>
        </p:nvCxnSpPr>
        <p:spPr bwMode="auto">
          <a:xfrm>
            <a:off x="6708775" y="4370388"/>
            <a:ext cx="0" cy="234950"/>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28" name="Oval 126">
            <a:extLst>
              <a:ext uri="{FF2B5EF4-FFF2-40B4-BE49-F238E27FC236}">
                <a16:creationId xmlns:a16="http://schemas.microsoft.com/office/drawing/2014/main" id="{760175EA-7F78-4C0B-A5F7-51ABE185F11E}"/>
              </a:ext>
            </a:extLst>
          </p:cNvPr>
          <p:cNvSpPr>
            <a:spLocks noChangeArrowheads="1"/>
          </p:cNvSpPr>
          <p:nvPr/>
        </p:nvSpPr>
        <p:spPr bwMode="auto">
          <a:xfrm>
            <a:off x="6543675" y="4605338"/>
            <a:ext cx="328613" cy="328612"/>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a:latin typeface="Times New Roman" panose="02020603050405020304" pitchFamily="18" charset="0"/>
                <a:ea typeface="ＭＳ Ｐゴシック" charset="0"/>
                <a:cs typeface="Times New Roman" panose="02020603050405020304" pitchFamily="18" charset="0"/>
              </a:rPr>
              <a:t>0</a:t>
            </a:r>
          </a:p>
        </p:txBody>
      </p:sp>
      <p:sp>
        <p:nvSpPr>
          <p:cNvPr id="129" name="Oval 127">
            <a:extLst>
              <a:ext uri="{FF2B5EF4-FFF2-40B4-BE49-F238E27FC236}">
                <a16:creationId xmlns:a16="http://schemas.microsoft.com/office/drawing/2014/main" id="{3BBC31C3-362D-4EA4-A206-49BE6421D8F2}"/>
              </a:ext>
            </a:extLst>
          </p:cNvPr>
          <p:cNvSpPr>
            <a:spLocks noChangeArrowheads="1"/>
          </p:cNvSpPr>
          <p:nvPr/>
        </p:nvSpPr>
        <p:spPr bwMode="auto">
          <a:xfrm>
            <a:off x="6543675" y="5157788"/>
            <a:ext cx="328613" cy="328612"/>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a:latin typeface="Times New Roman" panose="02020603050405020304" pitchFamily="18" charset="0"/>
                <a:ea typeface="ＭＳ Ｐゴシック" charset="0"/>
                <a:cs typeface="Times New Roman" panose="02020603050405020304" pitchFamily="18" charset="0"/>
              </a:rPr>
              <a:t>1</a:t>
            </a:r>
          </a:p>
        </p:txBody>
      </p:sp>
      <p:cxnSp>
        <p:nvCxnSpPr>
          <p:cNvPr id="130" name="AutoShape 128">
            <a:extLst>
              <a:ext uri="{FF2B5EF4-FFF2-40B4-BE49-F238E27FC236}">
                <a16:creationId xmlns:a16="http://schemas.microsoft.com/office/drawing/2014/main" id="{578579E1-7816-494C-9E8F-FD345FADCF1B}"/>
              </a:ext>
            </a:extLst>
          </p:cNvPr>
          <p:cNvCxnSpPr>
            <a:cxnSpLocks noChangeShapeType="1"/>
            <a:stCxn id="128" idx="4"/>
            <a:endCxn id="129" idx="0"/>
          </p:cNvCxnSpPr>
          <p:nvPr/>
        </p:nvCxnSpPr>
        <p:spPr bwMode="auto">
          <a:xfrm>
            <a:off x="6708775" y="4933950"/>
            <a:ext cx="0" cy="223838"/>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31" name="AutoShape 129">
            <a:extLst>
              <a:ext uri="{FF2B5EF4-FFF2-40B4-BE49-F238E27FC236}">
                <a16:creationId xmlns:a16="http://schemas.microsoft.com/office/drawing/2014/main" id="{0849973F-19B9-4F0A-9EB9-93BA7E07EA55}"/>
              </a:ext>
            </a:extLst>
          </p:cNvPr>
          <p:cNvCxnSpPr>
            <a:cxnSpLocks noChangeShapeType="1"/>
            <a:stCxn id="111" idx="5"/>
            <a:endCxn id="129" idx="1"/>
          </p:cNvCxnSpPr>
          <p:nvPr/>
        </p:nvCxnSpPr>
        <p:spPr bwMode="auto">
          <a:xfrm>
            <a:off x="6221413" y="4886325"/>
            <a:ext cx="369887" cy="319088"/>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32" name="AutoShape 130">
            <a:extLst>
              <a:ext uri="{FF2B5EF4-FFF2-40B4-BE49-F238E27FC236}">
                <a16:creationId xmlns:a16="http://schemas.microsoft.com/office/drawing/2014/main" id="{8D286A41-A672-4642-97D6-51E32762C97A}"/>
              </a:ext>
            </a:extLst>
          </p:cNvPr>
          <p:cNvCxnSpPr>
            <a:cxnSpLocks noChangeShapeType="1"/>
            <a:stCxn id="129" idx="6"/>
            <a:endCxn id="146" idx="2"/>
          </p:cNvCxnSpPr>
          <p:nvPr/>
        </p:nvCxnSpPr>
        <p:spPr bwMode="auto">
          <a:xfrm>
            <a:off x="6872288" y="5324475"/>
            <a:ext cx="277812"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33" name="Oval 131">
            <a:extLst>
              <a:ext uri="{FF2B5EF4-FFF2-40B4-BE49-F238E27FC236}">
                <a16:creationId xmlns:a16="http://schemas.microsoft.com/office/drawing/2014/main" id="{9C474AC5-7A21-46AF-BA55-C0B20BA2E3E5}"/>
              </a:ext>
            </a:extLst>
          </p:cNvPr>
          <p:cNvSpPr>
            <a:spLocks noChangeArrowheads="1"/>
          </p:cNvSpPr>
          <p:nvPr/>
        </p:nvSpPr>
        <p:spPr bwMode="auto">
          <a:xfrm>
            <a:off x="7150100" y="1285875"/>
            <a:ext cx="327025" cy="327025"/>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a:latin typeface="Times New Roman" panose="02020603050405020304" pitchFamily="18" charset="0"/>
                <a:ea typeface="ＭＳ Ｐゴシック" charset="0"/>
                <a:cs typeface="Times New Roman" panose="02020603050405020304" pitchFamily="18" charset="0"/>
              </a:rPr>
              <a:t>0</a:t>
            </a:r>
          </a:p>
        </p:txBody>
      </p:sp>
      <p:sp>
        <p:nvSpPr>
          <p:cNvPr id="134" name="Oval 132">
            <a:extLst>
              <a:ext uri="{FF2B5EF4-FFF2-40B4-BE49-F238E27FC236}">
                <a16:creationId xmlns:a16="http://schemas.microsoft.com/office/drawing/2014/main" id="{2CA3F9EA-7099-4E9E-877F-0F09FC92C3D6}"/>
              </a:ext>
            </a:extLst>
          </p:cNvPr>
          <p:cNvSpPr>
            <a:spLocks noChangeArrowheads="1"/>
          </p:cNvSpPr>
          <p:nvPr/>
        </p:nvSpPr>
        <p:spPr bwMode="auto">
          <a:xfrm>
            <a:off x="7150100" y="1836738"/>
            <a:ext cx="327025" cy="327025"/>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a:latin typeface="Times New Roman" panose="02020603050405020304" pitchFamily="18" charset="0"/>
                <a:ea typeface="ＭＳ Ｐゴシック" charset="0"/>
                <a:cs typeface="Times New Roman" panose="02020603050405020304" pitchFamily="18" charset="0"/>
              </a:rPr>
              <a:t>0</a:t>
            </a:r>
          </a:p>
        </p:txBody>
      </p:sp>
      <p:sp>
        <p:nvSpPr>
          <p:cNvPr id="135" name="Oval 133">
            <a:extLst>
              <a:ext uri="{FF2B5EF4-FFF2-40B4-BE49-F238E27FC236}">
                <a16:creationId xmlns:a16="http://schemas.microsoft.com/office/drawing/2014/main" id="{4E3FC589-A211-44F5-A566-DAE574B35A3C}"/>
              </a:ext>
            </a:extLst>
          </p:cNvPr>
          <p:cNvSpPr>
            <a:spLocks noChangeArrowheads="1"/>
          </p:cNvSpPr>
          <p:nvPr/>
        </p:nvSpPr>
        <p:spPr bwMode="auto">
          <a:xfrm>
            <a:off x="7150100" y="2387600"/>
            <a:ext cx="327025" cy="328613"/>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a:latin typeface="Times New Roman" panose="02020603050405020304" pitchFamily="18" charset="0"/>
                <a:ea typeface="ＭＳ Ｐゴシック" charset="0"/>
                <a:cs typeface="Times New Roman" panose="02020603050405020304" pitchFamily="18" charset="0"/>
              </a:rPr>
              <a:t>0</a:t>
            </a:r>
          </a:p>
        </p:txBody>
      </p:sp>
      <p:sp>
        <p:nvSpPr>
          <p:cNvPr id="136" name="Oval 134">
            <a:extLst>
              <a:ext uri="{FF2B5EF4-FFF2-40B4-BE49-F238E27FC236}">
                <a16:creationId xmlns:a16="http://schemas.microsoft.com/office/drawing/2014/main" id="{7C8BCD85-7E71-4D5D-9996-94D03F5468A1}"/>
              </a:ext>
            </a:extLst>
          </p:cNvPr>
          <p:cNvSpPr>
            <a:spLocks noChangeArrowheads="1"/>
          </p:cNvSpPr>
          <p:nvPr/>
        </p:nvSpPr>
        <p:spPr bwMode="auto">
          <a:xfrm>
            <a:off x="7150100" y="2938463"/>
            <a:ext cx="327025" cy="328612"/>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dirty="0">
                <a:latin typeface="Times New Roman" panose="02020603050405020304" pitchFamily="18" charset="0"/>
                <a:ea typeface="ＭＳ Ｐゴシック" charset="0"/>
                <a:cs typeface="Times New Roman" panose="02020603050405020304" pitchFamily="18" charset="0"/>
              </a:rPr>
              <a:t>2</a:t>
            </a:r>
          </a:p>
        </p:txBody>
      </p:sp>
      <p:cxnSp>
        <p:nvCxnSpPr>
          <p:cNvPr id="137" name="AutoShape 135">
            <a:extLst>
              <a:ext uri="{FF2B5EF4-FFF2-40B4-BE49-F238E27FC236}">
                <a16:creationId xmlns:a16="http://schemas.microsoft.com/office/drawing/2014/main" id="{6BD3DE2F-E931-4E6B-82F3-8D539C13C885}"/>
              </a:ext>
            </a:extLst>
          </p:cNvPr>
          <p:cNvCxnSpPr>
            <a:cxnSpLocks noChangeShapeType="1"/>
            <a:stCxn id="133" idx="4"/>
            <a:endCxn id="134" idx="0"/>
          </p:cNvCxnSpPr>
          <p:nvPr/>
        </p:nvCxnSpPr>
        <p:spPr bwMode="auto">
          <a:xfrm>
            <a:off x="7312025" y="1612900"/>
            <a:ext cx="0" cy="223838"/>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38" name="AutoShape 136">
            <a:extLst>
              <a:ext uri="{FF2B5EF4-FFF2-40B4-BE49-F238E27FC236}">
                <a16:creationId xmlns:a16="http://schemas.microsoft.com/office/drawing/2014/main" id="{440AC5C8-A6AF-4875-B312-E081A09526BA}"/>
              </a:ext>
            </a:extLst>
          </p:cNvPr>
          <p:cNvCxnSpPr>
            <a:cxnSpLocks noChangeShapeType="1"/>
            <a:stCxn id="134" idx="4"/>
            <a:endCxn id="135" idx="0"/>
          </p:cNvCxnSpPr>
          <p:nvPr/>
        </p:nvCxnSpPr>
        <p:spPr bwMode="auto">
          <a:xfrm>
            <a:off x="7312025" y="2163763"/>
            <a:ext cx="0" cy="223837"/>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39" name="AutoShape 137">
            <a:extLst>
              <a:ext uri="{FF2B5EF4-FFF2-40B4-BE49-F238E27FC236}">
                <a16:creationId xmlns:a16="http://schemas.microsoft.com/office/drawing/2014/main" id="{8C2AFEDE-7591-41E1-975C-657825DF247F}"/>
              </a:ext>
            </a:extLst>
          </p:cNvPr>
          <p:cNvCxnSpPr>
            <a:cxnSpLocks noChangeShapeType="1"/>
            <a:stCxn id="135" idx="4"/>
            <a:endCxn id="136" idx="0"/>
          </p:cNvCxnSpPr>
          <p:nvPr/>
        </p:nvCxnSpPr>
        <p:spPr bwMode="auto">
          <a:xfrm>
            <a:off x="7312025" y="2716213"/>
            <a:ext cx="0" cy="22225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40" name="Oval 138">
            <a:extLst>
              <a:ext uri="{FF2B5EF4-FFF2-40B4-BE49-F238E27FC236}">
                <a16:creationId xmlns:a16="http://schemas.microsoft.com/office/drawing/2014/main" id="{68825CD6-2D8B-4F44-8CBC-5B8D9283A24A}"/>
              </a:ext>
            </a:extLst>
          </p:cNvPr>
          <p:cNvSpPr>
            <a:spLocks noChangeArrowheads="1"/>
          </p:cNvSpPr>
          <p:nvPr/>
        </p:nvSpPr>
        <p:spPr bwMode="auto">
          <a:xfrm>
            <a:off x="7150100" y="3489325"/>
            <a:ext cx="327025" cy="328613"/>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dirty="0">
                <a:latin typeface="Times New Roman" panose="02020603050405020304" pitchFamily="18" charset="0"/>
                <a:ea typeface="ＭＳ Ｐゴシック" charset="0"/>
                <a:cs typeface="Times New Roman" panose="02020603050405020304" pitchFamily="18" charset="0"/>
              </a:rPr>
              <a:t>8</a:t>
            </a:r>
          </a:p>
        </p:txBody>
      </p:sp>
      <p:cxnSp>
        <p:nvCxnSpPr>
          <p:cNvPr id="141" name="AutoShape 139">
            <a:extLst>
              <a:ext uri="{FF2B5EF4-FFF2-40B4-BE49-F238E27FC236}">
                <a16:creationId xmlns:a16="http://schemas.microsoft.com/office/drawing/2014/main" id="{2773C39A-40CE-4937-933B-DFE59FC14ABD}"/>
              </a:ext>
            </a:extLst>
          </p:cNvPr>
          <p:cNvCxnSpPr>
            <a:cxnSpLocks noChangeShapeType="1"/>
            <a:stCxn id="136" idx="4"/>
            <a:endCxn id="140" idx="0"/>
          </p:cNvCxnSpPr>
          <p:nvPr/>
        </p:nvCxnSpPr>
        <p:spPr bwMode="auto">
          <a:xfrm>
            <a:off x="7312025" y="3267075"/>
            <a:ext cx="0" cy="22225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42" name="Oval 140">
            <a:extLst>
              <a:ext uri="{FF2B5EF4-FFF2-40B4-BE49-F238E27FC236}">
                <a16:creationId xmlns:a16="http://schemas.microsoft.com/office/drawing/2014/main" id="{81181511-C3F5-47A6-9FC8-EFEF8CCC6CFE}"/>
              </a:ext>
            </a:extLst>
          </p:cNvPr>
          <p:cNvSpPr>
            <a:spLocks noChangeArrowheads="1"/>
          </p:cNvSpPr>
          <p:nvPr/>
        </p:nvSpPr>
        <p:spPr bwMode="auto">
          <a:xfrm>
            <a:off x="7150100" y="4043363"/>
            <a:ext cx="327025" cy="327025"/>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a:latin typeface="Times New Roman" panose="02020603050405020304" pitchFamily="18" charset="0"/>
                <a:ea typeface="ＭＳ Ｐゴシック" charset="0"/>
                <a:cs typeface="Times New Roman" panose="02020603050405020304" pitchFamily="18" charset="0"/>
              </a:rPr>
              <a:t>4</a:t>
            </a:r>
          </a:p>
        </p:txBody>
      </p:sp>
      <p:cxnSp>
        <p:nvCxnSpPr>
          <p:cNvPr id="143" name="AutoShape 141">
            <a:extLst>
              <a:ext uri="{FF2B5EF4-FFF2-40B4-BE49-F238E27FC236}">
                <a16:creationId xmlns:a16="http://schemas.microsoft.com/office/drawing/2014/main" id="{8476090A-B18C-4D53-A0E2-95FAF218AB6F}"/>
              </a:ext>
            </a:extLst>
          </p:cNvPr>
          <p:cNvCxnSpPr>
            <a:cxnSpLocks noChangeShapeType="1"/>
            <a:stCxn id="140" idx="4"/>
            <a:endCxn id="142" idx="0"/>
          </p:cNvCxnSpPr>
          <p:nvPr/>
        </p:nvCxnSpPr>
        <p:spPr bwMode="auto">
          <a:xfrm>
            <a:off x="7312025" y="3817938"/>
            <a:ext cx="0" cy="225425"/>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44" name="AutoShape 142">
            <a:extLst>
              <a:ext uri="{FF2B5EF4-FFF2-40B4-BE49-F238E27FC236}">
                <a16:creationId xmlns:a16="http://schemas.microsoft.com/office/drawing/2014/main" id="{0BAF2702-352A-4511-BAE2-63C164C22799}"/>
              </a:ext>
            </a:extLst>
          </p:cNvPr>
          <p:cNvCxnSpPr>
            <a:cxnSpLocks noChangeShapeType="1"/>
            <a:stCxn id="142" idx="4"/>
            <a:endCxn id="145" idx="0"/>
          </p:cNvCxnSpPr>
          <p:nvPr/>
        </p:nvCxnSpPr>
        <p:spPr bwMode="auto">
          <a:xfrm>
            <a:off x="7312025" y="4370388"/>
            <a:ext cx="0" cy="23495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45" name="Oval 143">
            <a:extLst>
              <a:ext uri="{FF2B5EF4-FFF2-40B4-BE49-F238E27FC236}">
                <a16:creationId xmlns:a16="http://schemas.microsoft.com/office/drawing/2014/main" id="{AA04F0F7-E4AD-4612-89E5-90A9EEDC4E76}"/>
              </a:ext>
            </a:extLst>
          </p:cNvPr>
          <p:cNvSpPr>
            <a:spLocks noChangeArrowheads="1"/>
          </p:cNvSpPr>
          <p:nvPr/>
        </p:nvSpPr>
        <p:spPr bwMode="auto">
          <a:xfrm>
            <a:off x="7150100" y="4605338"/>
            <a:ext cx="327025" cy="328612"/>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dirty="0">
                <a:latin typeface="Times New Roman" panose="02020603050405020304" pitchFamily="18" charset="0"/>
                <a:ea typeface="ＭＳ Ｐゴシック" charset="0"/>
                <a:cs typeface="Times New Roman" panose="02020603050405020304" pitchFamily="18" charset="0"/>
              </a:rPr>
              <a:t>6</a:t>
            </a:r>
          </a:p>
        </p:txBody>
      </p:sp>
      <p:sp>
        <p:nvSpPr>
          <p:cNvPr id="146" name="Oval 144">
            <a:extLst>
              <a:ext uri="{FF2B5EF4-FFF2-40B4-BE49-F238E27FC236}">
                <a16:creationId xmlns:a16="http://schemas.microsoft.com/office/drawing/2014/main" id="{F4B261C4-ADBE-4E6E-B498-04E18D53CDEB}"/>
              </a:ext>
            </a:extLst>
          </p:cNvPr>
          <p:cNvSpPr>
            <a:spLocks noChangeArrowheads="1"/>
          </p:cNvSpPr>
          <p:nvPr/>
        </p:nvSpPr>
        <p:spPr bwMode="auto">
          <a:xfrm>
            <a:off x="7150100" y="5157788"/>
            <a:ext cx="327025" cy="328612"/>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dirty="0">
                <a:latin typeface="Times New Roman" panose="02020603050405020304" pitchFamily="18" charset="0"/>
                <a:ea typeface="ＭＳ Ｐゴシック" charset="0"/>
                <a:cs typeface="Times New Roman" panose="02020603050405020304" pitchFamily="18" charset="0"/>
              </a:rPr>
              <a:t>0</a:t>
            </a:r>
          </a:p>
        </p:txBody>
      </p:sp>
      <p:cxnSp>
        <p:nvCxnSpPr>
          <p:cNvPr id="147" name="AutoShape 145">
            <a:extLst>
              <a:ext uri="{FF2B5EF4-FFF2-40B4-BE49-F238E27FC236}">
                <a16:creationId xmlns:a16="http://schemas.microsoft.com/office/drawing/2014/main" id="{07039C9B-6C46-4C3A-B081-EFCC1B3B86DC}"/>
              </a:ext>
            </a:extLst>
          </p:cNvPr>
          <p:cNvCxnSpPr>
            <a:cxnSpLocks noChangeShapeType="1"/>
            <a:stCxn id="145" idx="4"/>
            <a:endCxn id="146" idx="0"/>
          </p:cNvCxnSpPr>
          <p:nvPr/>
        </p:nvCxnSpPr>
        <p:spPr bwMode="auto">
          <a:xfrm>
            <a:off x="7312025" y="4933950"/>
            <a:ext cx="0" cy="223838"/>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48" name="AutoShape 146">
            <a:extLst>
              <a:ext uri="{FF2B5EF4-FFF2-40B4-BE49-F238E27FC236}">
                <a16:creationId xmlns:a16="http://schemas.microsoft.com/office/drawing/2014/main" id="{E345DB95-C807-4FC4-94A7-0D2C5C107807}"/>
              </a:ext>
            </a:extLst>
          </p:cNvPr>
          <p:cNvCxnSpPr>
            <a:cxnSpLocks noChangeShapeType="1"/>
            <a:stCxn id="128" idx="5"/>
            <a:endCxn id="146" idx="1"/>
          </p:cNvCxnSpPr>
          <p:nvPr/>
        </p:nvCxnSpPr>
        <p:spPr bwMode="auto">
          <a:xfrm>
            <a:off x="6824663" y="4886325"/>
            <a:ext cx="371475" cy="319088"/>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49" name="AutoShape 147">
            <a:extLst>
              <a:ext uri="{FF2B5EF4-FFF2-40B4-BE49-F238E27FC236}">
                <a16:creationId xmlns:a16="http://schemas.microsoft.com/office/drawing/2014/main" id="{C16CC3D9-CE19-4C14-919E-0E023376EEC2}"/>
              </a:ext>
            </a:extLst>
          </p:cNvPr>
          <p:cNvCxnSpPr>
            <a:cxnSpLocks noChangeShapeType="1"/>
            <a:stCxn id="146" idx="6"/>
            <a:endCxn id="163" idx="2"/>
          </p:cNvCxnSpPr>
          <p:nvPr/>
        </p:nvCxnSpPr>
        <p:spPr bwMode="auto">
          <a:xfrm>
            <a:off x="7477125" y="5324475"/>
            <a:ext cx="276225"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50" name="Oval 148">
            <a:extLst>
              <a:ext uri="{FF2B5EF4-FFF2-40B4-BE49-F238E27FC236}">
                <a16:creationId xmlns:a16="http://schemas.microsoft.com/office/drawing/2014/main" id="{A03D0383-1C08-4CB7-B60D-10E33C59FB91}"/>
              </a:ext>
            </a:extLst>
          </p:cNvPr>
          <p:cNvSpPr>
            <a:spLocks noChangeArrowheads="1"/>
          </p:cNvSpPr>
          <p:nvPr/>
        </p:nvSpPr>
        <p:spPr bwMode="auto">
          <a:xfrm>
            <a:off x="7753350" y="1285875"/>
            <a:ext cx="328613" cy="327025"/>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fr-FR" sz="2000">
                <a:latin typeface="Times New Roman" panose="02020603050405020304" pitchFamily="18" charset="0"/>
                <a:ea typeface="ＭＳ Ｐゴシック" charset="0"/>
                <a:cs typeface="Times New Roman" panose="02020603050405020304" pitchFamily="18" charset="0"/>
              </a:rPr>
              <a:t>0</a:t>
            </a:r>
          </a:p>
        </p:txBody>
      </p:sp>
      <p:sp>
        <p:nvSpPr>
          <p:cNvPr id="151" name="Oval 149">
            <a:extLst>
              <a:ext uri="{FF2B5EF4-FFF2-40B4-BE49-F238E27FC236}">
                <a16:creationId xmlns:a16="http://schemas.microsoft.com/office/drawing/2014/main" id="{7774A854-F3ED-4613-9CC7-6A7046E9984F}"/>
              </a:ext>
            </a:extLst>
          </p:cNvPr>
          <p:cNvSpPr>
            <a:spLocks noChangeArrowheads="1"/>
          </p:cNvSpPr>
          <p:nvPr/>
        </p:nvSpPr>
        <p:spPr bwMode="auto">
          <a:xfrm>
            <a:off x="7753350" y="1836738"/>
            <a:ext cx="328613" cy="327025"/>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a:latin typeface="Times New Roman" panose="02020603050405020304" pitchFamily="18" charset="0"/>
                <a:ea typeface="ＭＳ Ｐゴシック" charset="0"/>
                <a:cs typeface="Times New Roman" panose="02020603050405020304" pitchFamily="18" charset="0"/>
              </a:rPr>
              <a:t>5</a:t>
            </a:r>
          </a:p>
        </p:txBody>
      </p:sp>
      <p:sp>
        <p:nvSpPr>
          <p:cNvPr id="152" name="Oval 150">
            <a:extLst>
              <a:ext uri="{FF2B5EF4-FFF2-40B4-BE49-F238E27FC236}">
                <a16:creationId xmlns:a16="http://schemas.microsoft.com/office/drawing/2014/main" id="{B9ACE67E-238B-4A02-9496-6CBE78B33438}"/>
              </a:ext>
            </a:extLst>
          </p:cNvPr>
          <p:cNvSpPr>
            <a:spLocks noChangeArrowheads="1"/>
          </p:cNvSpPr>
          <p:nvPr/>
        </p:nvSpPr>
        <p:spPr bwMode="auto">
          <a:xfrm>
            <a:off x="7753350" y="2387600"/>
            <a:ext cx="328613" cy="328613"/>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a:latin typeface="Times New Roman" panose="02020603050405020304" pitchFamily="18" charset="0"/>
                <a:ea typeface="ＭＳ Ｐゴシック" charset="0"/>
                <a:cs typeface="Times New Roman" panose="02020603050405020304" pitchFamily="18" charset="0"/>
              </a:rPr>
              <a:t>1</a:t>
            </a:r>
          </a:p>
        </p:txBody>
      </p:sp>
      <p:sp>
        <p:nvSpPr>
          <p:cNvPr id="153" name="Oval 151">
            <a:extLst>
              <a:ext uri="{FF2B5EF4-FFF2-40B4-BE49-F238E27FC236}">
                <a16:creationId xmlns:a16="http://schemas.microsoft.com/office/drawing/2014/main" id="{8D021DF0-0844-4C49-80A5-272E0BD85813}"/>
              </a:ext>
            </a:extLst>
          </p:cNvPr>
          <p:cNvSpPr>
            <a:spLocks noChangeArrowheads="1"/>
          </p:cNvSpPr>
          <p:nvPr/>
        </p:nvSpPr>
        <p:spPr bwMode="auto">
          <a:xfrm>
            <a:off x="7753350" y="2938463"/>
            <a:ext cx="328613" cy="328612"/>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dirty="0">
                <a:latin typeface="Times New Roman" panose="02020603050405020304" pitchFamily="18" charset="0"/>
                <a:ea typeface="ＭＳ Ｐゴシック" charset="0"/>
                <a:cs typeface="Times New Roman" panose="02020603050405020304" pitchFamily="18" charset="0"/>
              </a:rPr>
              <a:t>1</a:t>
            </a:r>
          </a:p>
        </p:txBody>
      </p:sp>
      <p:cxnSp>
        <p:nvCxnSpPr>
          <p:cNvPr id="154" name="AutoShape 152">
            <a:extLst>
              <a:ext uri="{FF2B5EF4-FFF2-40B4-BE49-F238E27FC236}">
                <a16:creationId xmlns:a16="http://schemas.microsoft.com/office/drawing/2014/main" id="{66EEC629-AB11-4CD5-B48B-B2BCA04F6631}"/>
              </a:ext>
            </a:extLst>
          </p:cNvPr>
          <p:cNvCxnSpPr>
            <a:cxnSpLocks noChangeShapeType="1"/>
            <a:stCxn id="150" idx="4"/>
            <a:endCxn id="151" idx="0"/>
          </p:cNvCxnSpPr>
          <p:nvPr/>
        </p:nvCxnSpPr>
        <p:spPr bwMode="auto">
          <a:xfrm>
            <a:off x="7916863" y="1612900"/>
            <a:ext cx="0" cy="223838"/>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5" name="AutoShape 153">
            <a:extLst>
              <a:ext uri="{FF2B5EF4-FFF2-40B4-BE49-F238E27FC236}">
                <a16:creationId xmlns:a16="http://schemas.microsoft.com/office/drawing/2014/main" id="{CDEF3388-4FC5-4016-A897-0386DECC9616}"/>
              </a:ext>
            </a:extLst>
          </p:cNvPr>
          <p:cNvCxnSpPr>
            <a:cxnSpLocks noChangeShapeType="1"/>
            <a:stCxn id="151" idx="4"/>
            <a:endCxn id="152" idx="0"/>
          </p:cNvCxnSpPr>
          <p:nvPr/>
        </p:nvCxnSpPr>
        <p:spPr bwMode="auto">
          <a:xfrm>
            <a:off x="7916863" y="2163763"/>
            <a:ext cx="0" cy="223837"/>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6" name="AutoShape 154">
            <a:extLst>
              <a:ext uri="{FF2B5EF4-FFF2-40B4-BE49-F238E27FC236}">
                <a16:creationId xmlns:a16="http://schemas.microsoft.com/office/drawing/2014/main" id="{CBF6842C-1649-46BD-A51F-FAE65E2A2949}"/>
              </a:ext>
            </a:extLst>
          </p:cNvPr>
          <p:cNvCxnSpPr>
            <a:cxnSpLocks noChangeShapeType="1"/>
            <a:stCxn id="152" idx="4"/>
            <a:endCxn id="153" idx="0"/>
          </p:cNvCxnSpPr>
          <p:nvPr/>
        </p:nvCxnSpPr>
        <p:spPr bwMode="auto">
          <a:xfrm>
            <a:off x="7916863" y="2716213"/>
            <a:ext cx="0" cy="22225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57" name="Oval 155">
            <a:extLst>
              <a:ext uri="{FF2B5EF4-FFF2-40B4-BE49-F238E27FC236}">
                <a16:creationId xmlns:a16="http://schemas.microsoft.com/office/drawing/2014/main" id="{F25D188D-E275-430A-9310-BAEA84F276AF}"/>
              </a:ext>
            </a:extLst>
          </p:cNvPr>
          <p:cNvSpPr>
            <a:spLocks noChangeArrowheads="1"/>
          </p:cNvSpPr>
          <p:nvPr/>
        </p:nvSpPr>
        <p:spPr bwMode="auto">
          <a:xfrm>
            <a:off x="7753350" y="3489325"/>
            <a:ext cx="328613" cy="328613"/>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dirty="0">
                <a:latin typeface="Times New Roman" panose="02020603050405020304" pitchFamily="18" charset="0"/>
                <a:ea typeface="ＭＳ Ｐゴシック" charset="0"/>
                <a:cs typeface="Times New Roman" panose="02020603050405020304" pitchFamily="18" charset="0"/>
              </a:rPr>
              <a:t>1</a:t>
            </a:r>
          </a:p>
        </p:txBody>
      </p:sp>
      <p:cxnSp>
        <p:nvCxnSpPr>
          <p:cNvPr id="158" name="AutoShape 156">
            <a:extLst>
              <a:ext uri="{FF2B5EF4-FFF2-40B4-BE49-F238E27FC236}">
                <a16:creationId xmlns:a16="http://schemas.microsoft.com/office/drawing/2014/main" id="{17692CBA-E3B2-44DC-BE3F-5C619E879B65}"/>
              </a:ext>
            </a:extLst>
          </p:cNvPr>
          <p:cNvCxnSpPr>
            <a:cxnSpLocks noChangeShapeType="1"/>
            <a:stCxn id="153" idx="4"/>
            <a:endCxn id="157" idx="0"/>
          </p:cNvCxnSpPr>
          <p:nvPr/>
        </p:nvCxnSpPr>
        <p:spPr bwMode="auto">
          <a:xfrm>
            <a:off x="7916863" y="3267075"/>
            <a:ext cx="0" cy="22225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59" name="Oval 157">
            <a:extLst>
              <a:ext uri="{FF2B5EF4-FFF2-40B4-BE49-F238E27FC236}">
                <a16:creationId xmlns:a16="http://schemas.microsoft.com/office/drawing/2014/main" id="{2AE10BE2-751E-464F-BFA5-8C2C134B6D4F}"/>
              </a:ext>
            </a:extLst>
          </p:cNvPr>
          <p:cNvSpPr>
            <a:spLocks noChangeArrowheads="1"/>
          </p:cNvSpPr>
          <p:nvPr/>
        </p:nvSpPr>
        <p:spPr bwMode="auto">
          <a:xfrm>
            <a:off x="7753350" y="4043363"/>
            <a:ext cx="328613" cy="327025"/>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dirty="0">
                <a:latin typeface="Times New Roman" panose="02020603050405020304" pitchFamily="18" charset="0"/>
                <a:ea typeface="ＭＳ Ｐゴシック" charset="0"/>
                <a:cs typeface="Times New Roman" panose="02020603050405020304" pitchFamily="18" charset="0"/>
              </a:rPr>
              <a:t>7</a:t>
            </a:r>
          </a:p>
        </p:txBody>
      </p:sp>
      <p:cxnSp>
        <p:nvCxnSpPr>
          <p:cNvPr id="160" name="AutoShape 158">
            <a:extLst>
              <a:ext uri="{FF2B5EF4-FFF2-40B4-BE49-F238E27FC236}">
                <a16:creationId xmlns:a16="http://schemas.microsoft.com/office/drawing/2014/main" id="{D89C18A7-2972-434E-8F0E-4EF22C4099F1}"/>
              </a:ext>
            </a:extLst>
          </p:cNvPr>
          <p:cNvCxnSpPr>
            <a:cxnSpLocks noChangeShapeType="1"/>
            <a:stCxn id="157" idx="4"/>
            <a:endCxn id="159" idx="0"/>
          </p:cNvCxnSpPr>
          <p:nvPr/>
        </p:nvCxnSpPr>
        <p:spPr bwMode="auto">
          <a:xfrm>
            <a:off x="7918450" y="3817938"/>
            <a:ext cx="0" cy="225425"/>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61" name="AutoShape 159">
            <a:extLst>
              <a:ext uri="{FF2B5EF4-FFF2-40B4-BE49-F238E27FC236}">
                <a16:creationId xmlns:a16="http://schemas.microsoft.com/office/drawing/2014/main" id="{5435C13F-9568-4A34-998F-5EB4D4BCD6CC}"/>
              </a:ext>
            </a:extLst>
          </p:cNvPr>
          <p:cNvCxnSpPr>
            <a:cxnSpLocks noChangeShapeType="1"/>
            <a:stCxn id="159" idx="4"/>
            <a:endCxn id="162" idx="0"/>
          </p:cNvCxnSpPr>
          <p:nvPr/>
        </p:nvCxnSpPr>
        <p:spPr bwMode="auto">
          <a:xfrm>
            <a:off x="7916863" y="4370388"/>
            <a:ext cx="0" cy="23495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62" name="Oval 160">
            <a:extLst>
              <a:ext uri="{FF2B5EF4-FFF2-40B4-BE49-F238E27FC236}">
                <a16:creationId xmlns:a16="http://schemas.microsoft.com/office/drawing/2014/main" id="{D1492B1D-D716-47B4-B35A-BCC716D87861}"/>
              </a:ext>
            </a:extLst>
          </p:cNvPr>
          <p:cNvSpPr>
            <a:spLocks noChangeArrowheads="1"/>
          </p:cNvSpPr>
          <p:nvPr/>
        </p:nvSpPr>
        <p:spPr bwMode="auto">
          <a:xfrm>
            <a:off x="7753350" y="4605338"/>
            <a:ext cx="328613" cy="328612"/>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a:latin typeface="Times New Roman" panose="02020603050405020304" pitchFamily="18" charset="0"/>
                <a:ea typeface="ＭＳ Ｐゴシック" charset="0"/>
                <a:cs typeface="Times New Roman" panose="02020603050405020304" pitchFamily="18" charset="0"/>
              </a:rPr>
              <a:t>3</a:t>
            </a:r>
          </a:p>
        </p:txBody>
      </p:sp>
      <p:sp>
        <p:nvSpPr>
          <p:cNvPr id="163" name="Oval 161">
            <a:extLst>
              <a:ext uri="{FF2B5EF4-FFF2-40B4-BE49-F238E27FC236}">
                <a16:creationId xmlns:a16="http://schemas.microsoft.com/office/drawing/2014/main" id="{9CB82D85-4869-4C74-A8DA-AC1711B6F72B}"/>
              </a:ext>
            </a:extLst>
          </p:cNvPr>
          <p:cNvSpPr>
            <a:spLocks noChangeArrowheads="1"/>
          </p:cNvSpPr>
          <p:nvPr/>
        </p:nvSpPr>
        <p:spPr bwMode="auto">
          <a:xfrm>
            <a:off x="7753350" y="5157788"/>
            <a:ext cx="328613" cy="328612"/>
          </a:xfrm>
          <a:prstGeom prst="ellipse">
            <a:avLst/>
          </a:prstGeom>
          <a:solidFill>
            <a:srgbClr val="FFFF00"/>
          </a:solid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dirty="0">
                <a:latin typeface="Times New Roman" panose="02020603050405020304" pitchFamily="18" charset="0"/>
                <a:ea typeface="ＭＳ Ｐゴシック" charset="0"/>
                <a:cs typeface="Times New Roman" panose="02020603050405020304" pitchFamily="18" charset="0"/>
              </a:rPr>
              <a:t>11</a:t>
            </a:r>
          </a:p>
        </p:txBody>
      </p:sp>
      <p:cxnSp>
        <p:nvCxnSpPr>
          <p:cNvPr id="164" name="AutoShape 162">
            <a:extLst>
              <a:ext uri="{FF2B5EF4-FFF2-40B4-BE49-F238E27FC236}">
                <a16:creationId xmlns:a16="http://schemas.microsoft.com/office/drawing/2014/main" id="{36DB0F84-4A42-4A81-A313-B5D5ED211E69}"/>
              </a:ext>
            </a:extLst>
          </p:cNvPr>
          <p:cNvCxnSpPr>
            <a:cxnSpLocks noChangeShapeType="1"/>
            <a:stCxn id="162" idx="4"/>
            <a:endCxn id="163" idx="0"/>
          </p:cNvCxnSpPr>
          <p:nvPr/>
        </p:nvCxnSpPr>
        <p:spPr bwMode="auto">
          <a:xfrm>
            <a:off x="7918450" y="4933950"/>
            <a:ext cx="0" cy="223838"/>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65" name="AutoShape 163">
            <a:extLst>
              <a:ext uri="{FF2B5EF4-FFF2-40B4-BE49-F238E27FC236}">
                <a16:creationId xmlns:a16="http://schemas.microsoft.com/office/drawing/2014/main" id="{9280F6DF-AA0A-4806-B59A-9CEB6905EB48}"/>
              </a:ext>
            </a:extLst>
          </p:cNvPr>
          <p:cNvCxnSpPr>
            <a:cxnSpLocks noChangeShapeType="1"/>
            <a:stCxn id="163" idx="1"/>
          </p:cNvCxnSpPr>
          <p:nvPr/>
        </p:nvCxnSpPr>
        <p:spPr bwMode="auto">
          <a:xfrm flipH="1" flipV="1">
            <a:off x="7428897" y="4884739"/>
            <a:ext cx="372577" cy="321173"/>
          </a:xfrm>
          <a:prstGeom prst="straightConnector1">
            <a:avLst/>
          </a:prstGeom>
          <a:noFill/>
          <a:ln w="63500">
            <a:solidFill>
              <a:srgbClr val="0066FF"/>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66" name="AutoShape 164">
            <a:extLst>
              <a:ext uri="{FF2B5EF4-FFF2-40B4-BE49-F238E27FC236}">
                <a16:creationId xmlns:a16="http://schemas.microsoft.com/office/drawing/2014/main" id="{1A4DC643-855F-46C5-B4F3-093743F87A80}"/>
              </a:ext>
            </a:extLst>
          </p:cNvPr>
          <p:cNvCxnSpPr>
            <a:cxnSpLocks noChangeShapeType="1"/>
            <a:stCxn id="162" idx="6"/>
            <a:endCxn id="180" idx="2"/>
          </p:cNvCxnSpPr>
          <p:nvPr/>
        </p:nvCxnSpPr>
        <p:spPr bwMode="auto">
          <a:xfrm>
            <a:off x="8081963" y="4770438"/>
            <a:ext cx="277812" cy="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67" name="AutoShape 165">
            <a:extLst>
              <a:ext uri="{FF2B5EF4-FFF2-40B4-BE49-F238E27FC236}">
                <a16:creationId xmlns:a16="http://schemas.microsoft.com/office/drawing/2014/main" id="{6B2F2BC3-6E71-4AAE-8F49-7F7CABFAD616}"/>
              </a:ext>
            </a:extLst>
          </p:cNvPr>
          <p:cNvCxnSpPr>
            <a:cxnSpLocks noChangeShapeType="1"/>
            <a:stCxn id="163" idx="6"/>
            <a:endCxn id="181" idx="2"/>
          </p:cNvCxnSpPr>
          <p:nvPr/>
        </p:nvCxnSpPr>
        <p:spPr bwMode="auto">
          <a:xfrm>
            <a:off x="8081963" y="5324475"/>
            <a:ext cx="277812" cy="0"/>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68" name="Oval 166">
            <a:extLst>
              <a:ext uri="{FF2B5EF4-FFF2-40B4-BE49-F238E27FC236}">
                <a16:creationId xmlns:a16="http://schemas.microsoft.com/office/drawing/2014/main" id="{FA531AFC-1E6F-4E2D-86A8-0550C062CE48}"/>
              </a:ext>
            </a:extLst>
          </p:cNvPr>
          <p:cNvSpPr>
            <a:spLocks noChangeArrowheads="1"/>
          </p:cNvSpPr>
          <p:nvPr/>
        </p:nvSpPr>
        <p:spPr bwMode="auto">
          <a:xfrm>
            <a:off x="8359775" y="1285875"/>
            <a:ext cx="327025" cy="327025"/>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fr-FR" sz="2000" dirty="0">
                <a:latin typeface="Times New Roman" panose="02020603050405020304" pitchFamily="18" charset="0"/>
                <a:ea typeface="ＭＳ Ｐゴシック" charset="0"/>
                <a:cs typeface="Times New Roman" panose="02020603050405020304" pitchFamily="18" charset="0"/>
              </a:rPr>
              <a:t>0</a:t>
            </a:r>
          </a:p>
        </p:txBody>
      </p:sp>
      <p:sp>
        <p:nvSpPr>
          <p:cNvPr id="169" name="Oval 167">
            <a:extLst>
              <a:ext uri="{FF2B5EF4-FFF2-40B4-BE49-F238E27FC236}">
                <a16:creationId xmlns:a16="http://schemas.microsoft.com/office/drawing/2014/main" id="{14B53D75-11DD-4793-8D30-4AACCD883028}"/>
              </a:ext>
            </a:extLst>
          </p:cNvPr>
          <p:cNvSpPr>
            <a:spLocks noChangeArrowheads="1"/>
          </p:cNvSpPr>
          <p:nvPr/>
        </p:nvSpPr>
        <p:spPr bwMode="auto">
          <a:xfrm>
            <a:off x="8359775" y="1836738"/>
            <a:ext cx="327025" cy="327025"/>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a:latin typeface="Times New Roman" panose="02020603050405020304" pitchFamily="18" charset="0"/>
                <a:ea typeface="ＭＳ Ｐゴシック" charset="0"/>
                <a:cs typeface="Times New Roman" panose="02020603050405020304" pitchFamily="18" charset="0"/>
              </a:rPr>
              <a:t>0</a:t>
            </a:r>
          </a:p>
        </p:txBody>
      </p:sp>
      <p:sp>
        <p:nvSpPr>
          <p:cNvPr id="170" name="Oval 168">
            <a:extLst>
              <a:ext uri="{FF2B5EF4-FFF2-40B4-BE49-F238E27FC236}">
                <a16:creationId xmlns:a16="http://schemas.microsoft.com/office/drawing/2014/main" id="{2B2EE609-F527-45EA-9E98-24C468EC099F}"/>
              </a:ext>
            </a:extLst>
          </p:cNvPr>
          <p:cNvSpPr>
            <a:spLocks noChangeArrowheads="1"/>
          </p:cNvSpPr>
          <p:nvPr/>
        </p:nvSpPr>
        <p:spPr bwMode="auto">
          <a:xfrm>
            <a:off x="8359775" y="2387600"/>
            <a:ext cx="327025" cy="328613"/>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a:latin typeface="Times New Roman" panose="02020603050405020304" pitchFamily="18" charset="0"/>
                <a:ea typeface="ＭＳ Ｐゴシック" charset="0"/>
                <a:cs typeface="Times New Roman" panose="02020603050405020304" pitchFamily="18" charset="0"/>
              </a:rPr>
              <a:t>5</a:t>
            </a:r>
          </a:p>
        </p:txBody>
      </p:sp>
      <p:sp>
        <p:nvSpPr>
          <p:cNvPr id="171" name="Oval 169">
            <a:extLst>
              <a:ext uri="{FF2B5EF4-FFF2-40B4-BE49-F238E27FC236}">
                <a16:creationId xmlns:a16="http://schemas.microsoft.com/office/drawing/2014/main" id="{4A2262A8-9B48-47CD-BFEF-709B8B3F9865}"/>
              </a:ext>
            </a:extLst>
          </p:cNvPr>
          <p:cNvSpPr>
            <a:spLocks noChangeArrowheads="1"/>
          </p:cNvSpPr>
          <p:nvPr/>
        </p:nvSpPr>
        <p:spPr bwMode="auto">
          <a:xfrm>
            <a:off x="8359775" y="2938463"/>
            <a:ext cx="327025" cy="328612"/>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dirty="0">
                <a:latin typeface="Times New Roman" panose="02020603050405020304" pitchFamily="18" charset="0"/>
                <a:ea typeface="ＭＳ Ｐゴシック" charset="0"/>
                <a:cs typeface="Times New Roman" panose="02020603050405020304" pitchFamily="18" charset="0"/>
              </a:rPr>
              <a:t>0</a:t>
            </a:r>
          </a:p>
        </p:txBody>
      </p:sp>
      <p:cxnSp>
        <p:nvCxnSpPr>
          <p:cNvPr id="172" name="AutoShape 170">
            <a:extLst>
              <a:ext uri="{FF2B5EF4-FFF2-40B4-BE49-F238E27FC236}">
                <a16:creationId xmlns:a16="http://schemas.microsoft.com/office/drawing/2014/main" id="{0DC7745A-6AEA-4B2E-8306-110E99AB6A42}"/>
              </a:ext>
            </a:extLst>
          </p:cNvPr>
          <p:cNvCxnSpPr>
            <a:cxnSpLocks noChangeShapeType="1"/>
            <a:stCxn id="168" idx="4"/>
            <a:endCxn id="169" idx="0"/>
          </p:cNvCxnSpPr>
          <p:nvPr/>
        </p:nvCxnSpPr>
        <p:spPr bwMode="auto">
          <a:xfrm>
            <a:off x="8524875" y="1612900"/>
            <a:ext cx="0" cy="223838"/>
          </a:xfrm>
          <a:prstGeom prst="straightConnector1">
            <a:avLst/>
          </a:prstGeom>
          <a:noFill/>
          <a:ln w="381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73" name="AutoShape 171">
            <a:extLst>
              <a:ext uri="{FF2B5EF4-FFF2-40B4-BE49-F238E27FC236}">
                <a16:creationId xmlns:a16="http://schemas.microsoft.com/office/drawing/2014/main" id="{334F13C6-5E7D-4C57-A556-F40A6BE287CD}"/>
              </a:ext>
            </a:extLst>
          </p:cNvPr>
          <p:cNvCxnSpPr>
            <a:cxnSpLocks noChangeShapeType="1"/>
            <a:stCxn id="169" idx="4"/>
            <a:endCxn id="170" idx="0"/>
          </p:cNvCxnSpPr>
          <p:nvPr/>
        </p:nvCxnSpPr>
        <p:spPr bwMode="auto">
          <a:xfrm>
            <a:off x="8524875" y="2163763"/>
            <a:ext cx="0" cy="223837"/>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74" name="AutoShape 172">
            <a:extLst>
              <a:ext uri="{FF2B5EF4-FFF2-40B4-BE49-F238E27FC236}">
                <a16:creationId xmlns:a16="http://schemas.microsoft.com/office/drawing/2014/main" id="{BE56CEC3-A37C-44BD-B073-481B1DEBAF6B}"/>
              </a:ext>
            </a:extLst>
          </p:cNvPr>
          <p:cNvCxnSpPr>
            <a:cxnSpLocks noChangeShapeType="1"/>
            <a:stCxn id="170" idx="4"/>
            <a:endCxn id="171" idx="0"/>
          </p:cNvCxnSpPr>
          <p:nvPr/>
        </p:nvCxnSpPr>
        <p:spPr bwMode="auto">
          <a:xfrm>
            <a:off x="8524875" y="2716213"/>
            <a:ext cx="0" cy="222250"/>
          </a:xfrm>
          <a:prstGeom prst="straightConnector1">
            <a:avLst/>
          </a:prstGeom>
          <a:noFill/>
          <a:ln w="9525">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75" name="Oval 173">
            <a:extLst>
              <a:ext uri="{FF2B5EF4-FFF2-40B4-BE49-F238E27FC236}">
                <a16:creationId xmlns:a16="http://schemas.microsoft.com/office/drawing/2014/main" id="{0AC359CD-A592-48B0-9140-DC326EA4591C}"/>
              </a:ext>
            </a:extLst>
          </p:cNvPr>
          <p:cNvSpPr>
            <a:spLocks noChangeArrowheads="1"/>
          </p:cNvSpPr>
          <p:nvPr/>
        </p:nvSpPr>
        <p:spPr bwMode="auto">
          <a:xfrm>
            <a:off x="8359775" y="3489325"/>
            <a:ext cx="327025" cy="328613"/>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dirty="0">
                <a:latin typeface="Times New Roman" panose="02020603050405020304" pitchFamily="18" charset="0"/>
                <a:ea typeface="ＭＳ Ｐゴシック" charset="0"/>
                <a:cs typeface="Times New Roman" panose="02020603050405020304" pitchFamily="18" charset="0"/>
              </a:rPr>
              <a:t>2</a:t>
            </a:r>
          </a:p>
        </p:txBody>
      </p:sp>
      <p:cxnSp>
        <p:nvCxnSpPr>
          <p:cNvPr id="176" name="AutoShape 174">
            <a:extLst>
              <a:ext uri="{FF2B5EF4-FFF2-40B4-BE49-F238E27FC236}">
                <a16:creationId xmlns:a16="http://schemas.microsoft.com/office/drawing/2014/main" id="{25C849EC-F112-4F4E-9E38-25B3E35E9985}"/>
              </a:ext>
            </a:extLst>
          </p:cNvPr>
          <p:cNvCxnSpPr>
            <a:cxnSpLocks noChangeShapeType="1"/>
            <a:stCxn id="171" idx="4"/>
            <a:endCxn id="175" idx="0"/>
          </p:cNvCxnSpPr>
          <p:nvPr/>
        </p:nvCxnSpPr>
        <p:spPr bwMode="auto">
          <a:xfrm>
            <a:off x="8524875" y="3267075"/>
            <a:ext cx="0" cy="222250"/>
          </a:xfrm>
          <a:prstGeom prst="straightConnector1">
            <a:avLst/>
          </a:prstGeom>
          <a:noFill/>
          <a:ln w="9525">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77" name="Oval 175">
            <a:extLst>
              <a:ext uri="{FF2B5EF4-FFF2-40B4-BE49-F238E27FC236}">
                <a16:creationId xmlns:a16="http://schemas.microsoft.com/office/drawing/2014/main" id="{2808B6AB-7B6E-403E-9D2F-05013092E624}"/>
              </a:ext>
            </a:extLst>
          </p:cNvPr>
          <p:cNvSpPr>
            <a:spLocks noChangeArrowheads="1"/>
          </p:cNvSpPr>
          <p:nvPr/>
        </p:nvSpPr>
        <p:spPr bwMode="auto">
          <a:xfrm>
            <a:off x="8359775" y="4043363"/>
            <a:ext cx="327025" cy="327025"/>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dirty="0">
                <a:latin typeface="Times New Roman" panose="02020603050405020304" pitchFamily="18" charset="0"/>
                <a:ea typeface="ＭＳ Ｐゴシック" charset="0"/>
                <a:cs typeface="Times New Roman" panose="02020603050405020304" pitchFamily="18" charset="0"/>
              </a:rPr>
              <a:t>1</a:t>
            </a:r>
          </a:p>
        </p:txBody>
      </p:sp>
      <p:cxnSp>
        <p:nvCxnSpPr>
          <p:cNvPr id="178" name="AutoShape 176">
            <a:extLst>
              <a:ext uri="{FF2B5EF4-FFF2-40B4-BE49-F238E27FC236}">
                <a16:creationId xmlns:a16="http://schemas.microsoft.com/office/drawing/2014/main" id="{B487F12E-522E-407F-BEE6-983BF74C5151}"/>
              </a:ext>
            </a:extLst>
          </p:cNvPr>
          <p:cNvCxnSpPr>
            <a:cxnSpLocks noChangeShapeType="1"/>
            <a:stCxn id="175" idx="4"/>
            <a:endCxn id="177" idx="0"/>
          </p:cNvCxnSpPr>
          <p:nvPr/>
        </p:nvCxnSpPr>
        <p:spPr bwMode="auto">
          <a:xfrm>
            <a:off x="8523288" y="3817938"/>
            <a:ext cx="0" cy="225425"/>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79" name="AutoShape 177">
            <a:extLst>
              <a:ext uri="{FF2B5EF4-FFF2-40B4-BE49-F238E27FC236}">
                <a16:creationId xmlns:a16="http://schemas.microsoft.com/office/drawing/2014/main" id="{4C9BE31D-B62E-476A-A361-46B41A4A38C6}"/>
              </a:ext>
            </a:extLst>
          </p:cNvPr>
          <p:cNvCxnSpPr>
            <a:cxnSpLocks noChangeShapeType="1"/>
            <a:stCxn id="177" idx="4"/>
            <a:endCxn id="180" idx="0"/>
          </p:cNvCxnSpPr>
          <p:nvPr/>
        </p:nvCxnSpPr>
        <p:spPr bwMode="auto">
          <a:xfrm>
            <a:off x="8524875" y="4370388"/>
            <a:ext cx="0" cy="234950"/>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80" name="Oval 178">
            <a:extLst>
              <a:ext uri="{FF2B5EF4-FFF2-40B4-BE49-F238E27FC236}">
                <a16:creationId xmlns:a16="http://schemas.microsoft.com/office/drawing/2014/main" id="{43893697-5892-4C6E-868F-47CEEE1C9538}"/>
              </a:ext>
            </a:extLst>
          </p:cNvPr>
          <p:cNvSpPr>
            <a:spLocks noChangeArrowheads="1"/>
          </p:cNvSpPr>
          <p:nvPr/>
        </p:nvSpPr>
        <p:spPr bwMode="auto">
          <a:xfrm>
            <a:off x="8359775" y="4605338"/>
            <a:ext cx="327025" cy="328612"/>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dirty="0">
                <a:latin typeface="Times New Roman" panose="02020603050405020304" pitchFamily="18" charset="0"/>
                <a:ea typeface="ＭＳ Ｐゴシック" charset="0"/>
                <a:cs typeface="Times New Roman" panose="02020603050405020304" pitchFamily="18" charset="0"/>
              </a:rPr>
              <a:t>7</a:t>
            </a:r>
          </a:p>
        </p:txBody>
      </p:sp>
      <p:sp>
        <p:nvSpPr>
          <p:cNvPr id="181" name="Oval 179">
            <a:extLst>
              <a:ext uri="{FF2B5EF4-FFF2-40B4-BE49-F238E27FC236}">
                <a16:creationId xmlns:a16="http://schemas.microsoft.com/office/drawing/2014/main" id="{BF4DB69F-CD01-4F2A-9556-ED77A1601169}"/>
              </a:ext>
            </a:extLst>
          </p:cNvPr>
          <p:cNvSpPr>
            <a:spLocks noChangeArrowheads="1"/>
          </p:cNvSpPr>
          <p:nvPr/>
        </p:nvSpPr>
        <p:spPr bwMode="auto">
          <a:xfrm>
            <a:off x="8359775" y="5157788"/>
            <a:ext cx="327025" cy="328612"/>
          </a:xfrm>
          <a:prstGeom prst="ellipse">
            <a:avLst/>
          </a:prstGeom>
          <a:noFill/>
          <a:ln w="12700">
            <a:solidFill>
              <a:schemeClr val="tx1"/>
            </a:solidFill>
            <a:miter lim="800000"/>
            <a:headEnd/>
            <a:tailEnd type="none" w="sm"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GB" sz="2000" dirty="0">
                <a:latin typeface="Times New Roman" panose="02020603050405020304" pitchFamily="18" charset="0"/>
                <a:ea typeface="ＭＳ Ｐゴシック" charset="0"/>
                <a:cs typeface="Times New Roman" panose="02020603050405020304" pitchFamily="18" charset="0"/>
              </a:rPr>
              <a:t>5</a:t>
            </a:r>
          </a:p>
        </p:txBody>
      </p:sp>
      <p:cxnSp>
        <p:nvCxnSpPr>
          <p:cNvPr id="182" name="AutoShape 180">
            <a:extLst>
              <a:ext uri="{FF2B5EF4-FFF2-40B4-BE49-F238E27FC236}">
                <a16:creationId xmlns:a16="http://schemas.microsoft.com/office/drawing/2014/main" id="{3314FA1C-4EC4-4FFA-93A1-193CCB7C856F}"/>
              </a:ext>
            </a:extLst>
          </p:cNvPr>
          <p:cNvCxnSpPr>
            <a:cxnSpLocks noChangeShapeType="1"/>
            <a:stCxn id="180" idx="4"/>
            <a:endCxn id="181" idx="0"/>
          </p:cNvCxnSpPr>
          <p:nvPr/>
        </p:nvCxnSpPr>
        <p:spPr bwMode="auto">
          <a:xfrm>
            <a:off x="8523288" y="4933950"/>
            <a:ext cx="0" cy="223838"/>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83" name="AutoShape 181">
            <a:extLst>
              <a:ext uri="{FF2B5EF4-FFF2-40B4-BE49-F238E27FC236}">
                <a16:creationId xmlns:a16="http://schemas.microsoft.com/office/drawing/2014/main" id="{BF692CD4-1FDB-4504-871F-F66C8D97FF1E}"/>
              </a:ext>
            </a:extLst>
          </p:cNvPr>
          <p:cNvCxnSpPr>
            <a:cxnSpLocks noChangeShapeType="1"/>
            <a:stCxn id="162" idx="5"/>
            <a:endCxn id="181" idx="1"/>
          </p:cNvCxnSpPr>
          <p:nvPr/>
        </p:nvCxnSpPr>
        <p:spPr bwMode="auto">
          <a:xfrm>
            <a:off x="8034338" y="4886325"/>
            <a:ext cx="371475" cy="319088"/>
          </a:xfrm>
          <a:prstGeom prst="straightConnector1">
            <a:avLst/>
          </a:prstGeom>
          <a:noFill/>
          <a:ln w="12700">
            <a:solidFill>
              <a:schemeClr val="tx1"/>
            </a:solidFill>
            <a:miter lim="800000"/>
            <a:headEnd/>
            <a:tailEnd type="triangl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graphicFrame>
        <p:nvGraphicFramePr>
          <p:cNvPr id="185" name="Object 184">
            <a:extLst>
              <a:ext uri="{FF2B5EF4-FFF2-40B4-BE49-F238E27FC236}">
                <a16:creationId xmlns:a16="http://schemas.microsoft.com/office/drawing/2014/main" id="{582D9278-12A7-4EC8-A9EF-12380600FD49}"/>
              </a:ext>
            </a:extLst>
          </p:cNvPr>
          <p:cNvGraphicFramePr>
            <a:graphicFrameLocks noChangeAspect="1"/>
          </p:cNvGraphicFramePr>
          <p:nvPr>
            <p:extLst>
              <p:ext uri="{D42A27DB-BD31-4B8C-83A1-F6EECF244321}">
                <p14:modId xmlns:p14="http://schemas.microsoft.com/office/powerpoint/2010/main" val="2931277319"/>
              </p:ext>
            </p:extLst>
          </p:nvPr>
        </p:nvGraphicFramePr>
        <p:xfrm>
          <a:off x="-39405" y="2136775"/>
          <a:ext cx="5049838" cy="3033712"/>
        </p:xfrm>
        <a:graphic>
          <a:graphicData uri="http://schemas.openxmlformats.org/presentationml/2006/ole">
            <mc:AlternateContent xmlns:mc="http://schemas.openxmlformats.org/markup-compatibility/2006">
              <mc:Choice xmlns:v="urn:schemas-microsoft-com:vml" Requires="v">
                <p:oleObj spid="_x0000_s1372" name="工作表" r:id="rId4" imgW="6111209" imgH="3672882" progId="Excel.Sheet.8">
                  <p:embed/>
                </p:oleObj>
              </mc:Choice>
              <mc:Fallback>
                <p:oleObj name="工作表" r:id="rId4" imgW="6111209" imgH="3672882" progId="Excel.Sheet.8">
                  <p:embed/>
                  <p:pic>
                    <p:nvPicPr>
                      <p:cNvPr id="97461" name="Object 184">
                        <a:extLst>
                          <a:ext uri="{FF2B5EF4-FFF2-40B4-BE49-F238E27FC236}">
                            <a16:creationId xmlns:a16="http://schemas.microsoft.com/office/drawing/2014/main" id="{191A9901-C86C-4DC8-BFF1-A54CFBB32ACE}"/>
                          </a:ext>
                        </a:extLst>
                      </p:cNvPr>
                      <p:cNvPicPr>
                        <a:picLocks noChangeAspect="1" noChangeArrowheads="1"/>
                      </p:cNvPicPr>
                      <p:nvPr/>
                    </p:nvPicPr>
                    <p:blipFill>
                      <a:blip r:embed="rId5"/>
                      <a:srcRect/>
                      <a:stretch>
                        <a:fillRect/>
                      </a:stretch>
                    </p:blipFill>
                    <p:spPr bwMode="auto">
                      <a:xfrm>
                        <a:off x="-39405" y="2136775"/>
                        <a:ext cx="5049838" cy="3033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88" name="Rectangle 183">
            <a:extLst>
              <a:ext uri="{FF2B5EF4-FFF2-40B4-BE49-F238E27FC236}">
                <a16:creationId xmlns:a16="http://schemas.microsoft.com/office/drawing/2014/main" id="{EDECA7A2-07B4-4FFE-8BB3-DFF1F7827D05}"/>
              </a:ext>
            </a:extLst>
          </p:cNvPr>
          <p:cNvSpPr>
            <a:spLocks noChangeArrowheads="1"/>
          </p:cNvSpPr>
          <p:nvPr/>
        </p:nvSpPr>
        <p:spPr bwMode="auto">
          <a:xfrm>
            <a:off x="5499100" y="5522913"/>
            <a:ext cx="2053767" cy="110799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rgbClr val="993300"/>
                </a:solidFill>
                <a:miter lim="800000"/>
                <a:headEnd/>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GB" sz="2200" b="1" dirty="0">
                <a:latin typeface="Courier"/>
                <a:ea typeface="ＭＳ Ｐゴシック" charset="0"/>
                <a:cs typeface="Times New Roman" panose="02020603050405020304" pitchFamily="18" charset="0"/>
              </a:rPr>
              <a:t>S V </a:t>
            </a:r>
            <a:r>
              <a:rPr lang="en-GB" sz="2200" b="1" dirty="0">
                <a:latin typeface="Courier"/>
                <a:ea typeface="ＭＳ Ｐゴシック" charset="0"/>
              </a:rPr>
              <a:t>- - </a:t>
            </a:r>
            <a:r>
              <a:rPr lang="en-GB" sz="2200" b="1" dirty="0">
                <a:latin typeface="Courier"/>
                <a:ea typeface="ＭＳ Ｐゴシック" charset="0"/>
                <a:cs typeface="Times New Roman" panose="02020603050405020304" pitchFamily="18" charset="0"/>
              </a:rPr>
              <a:t>E T</a:t>
            </a:r>
          </a:p>
          <a:p>
            <a:pPr>
              <a:defRPr/>
            </a:pPr>
            <a:r>
              <a:rPr lang="en-GB" sz="2200" b="1" dirty="0">
                <a:latin typeface="Courier"/>
                <a:ea typeface="ＭＳ Ｐゴシック" charset="0"/>
              </a:rPr>
              <a:t>| </a:t>
            </a:r>
            <a:r>
              <a:rPr lang="en-GB" altLang="zh-TW" sz="2200" b="1" dirty="0">
                <a:latin typeface="Courier"/>
                <a:ea typeface="ＭＳ Ｐゴシック" charset="0"/>
              </a:rPr>
              <a:t>|</a:t>
            </a:r>
            <a:r>
              <a:rPr lang="en-GB" sz="2200" b="1" dirty="0">
                <a:latin typeface="Courier"/>
                <a:ea typeface="ＭＳ Ｐゴシック" charset="0"/>
              </a:rPr>
              <a:t> - - | |</a:t>
            </a:r>
          </a:p>
          <a:p>
            <a:pPr>
              <a:defRPr/>
            </a:pPr>
            <a:r>
              <a:rPr lang="en-GB" sz="2200" b="1" dirty="0">
                <a:latin typeface="Courier"/>
                <a:ea typeface="ＭＳ Ｐゴシック" charset="0"/>
                <a:cs typeface="Times New Roman" panose="02020603050405020304" pitchFamily="18" charset="0"/>
              </a:rPr>
              <a:t>S V N Q E T</a:t>
            </a:r>
          </a:p>
        </p:txBody>
      </p:sp>
      <p:sp>
        <p:nvSpPr>
          <p:cNvPr id="189" name="矩形 188">
            <a:extLst>
              <a:ext uri="{FF2B5EF4-FFF2-40B4-BE49-F238E27FC236}">
                <a16:creationId xmlns:a16="http://schemas.microsoft.com/office/drawing/2014/main" id="{47AC52FA-8ED7-4B8E-AA5A-19E7F5A08360}"/>
              </a:ext>
            </a:extLst>
          </p:cNvPr>
          <p:cNvSpPr/>
          <p:nvPr/>
        </p:nvSpPr>
        <p:spPr>
          <a:xfrm>
            <a:off x="1227027" y="6169580"/>
            <a:ext cx="2775119" cy="369332"/>
          </a:xfrm>
          <a:prstGeom prst="rect">
            <a:avLst/>
          </a:prstGeom>
        </p:spPr>
        <p:txBody>
          <a:bodyPr wrap="none">
            <a:spAutoFit/>
          </a:bodyPr>
          <a:lstStyle/>
          <a:p>
            <a:r>
              <a:rPr lang="en-GB" altLang="zh-TW" dirty="0">
                <a:latin typeface="Times New Roman" panose="02020603050405020304" pitchFamily="18" charset="0"/>
                <a:cs typeface="Times New Roman" panose="02020603050405020304" pitchFamily="18" charset="0"/>
              </a:rPr>
              <a:t>BLOSUM62 scoring matrix</a:t>
            </a:r>
            <a:endParaRPr lang="zh-TW" altLang="en-US" dirty="0">
              <a:latin typeface="Times New Roman" panose="02020603050405020304" pitchFamily="18" charset="0"/>
              <a:cs typeface="Times New Roman" panose="02020603050405020304" pitchFamily="18" charset="0"/>
            </a:endParaRPr>
          </a:p>
        </p:txBody>
      </p:sp>
      <p:sp>
        <p:nvSpPr>
          <p:cNvPr id="2" name="矩形 1"/>
          <p:cNvSpPr/>
          <p:nvPr/>
        </p:nvSpPr>
        <p:spPr>
          <a:xfrm>
            <a:off x="471462" y="678617"/>
            <a:ext cx="628698" cy="461665"/>
          </a:xfrm>
          <a:prstGeom prst="rect">
            <a:avLst/>
          </a:prstGeom>
        </p:spPr>
        <p:txBody>
          <a:bodyPr wrap="none">
            <a:spAutoFit/>
          </a:bodyPr>
          <a:lstStyle/>
          <a:p>
            <a:pPr>
              <a:buNone/>
            </a:pPr>
            <a:r>
              <a:rPr lang="en-US" altLang="zh-TW" sz="2400" dirty="0">
                <a:latin typeface="Times New Roman" panose="02020603050405020304" pitchFamily="18" charset="0"/>
                <a:cs typeface="Times New Roman" panose="02020603050405020304" pitchFamily="18" charset="0"/>
              </a:rPr>
              <a:t>e.g.</a:t>
            </a:r>
          </a:p>
        </p:txBody>
      </p:sp>
      <p:sp>
        <p:nvSpPr>
          <p:cNvPr id="3" name="矩形 2"/>
          <p:cNvSpPr/>
          <p:nvPr/>
        </p:nvSpPr>
        <p:spPr>
          <a:xfrm>
            <a:off x="722174" y="1136016"/>
            <a:ext cx="4572000" cy="830997"/>
          </a:xfrm>
          <a:prstGeom prst="rect">
            <a:avLst/>
          </a:prstGeom>
        </p:spPr>
        <p:txBody>
          <a:bodyPr>
            <a:spAutoFit/>
          </a:bodyPr>
          <a:lstStyle/>
          <a:p>
            <a:r>
              <a:rPr lang="en-US" altLang="zh-TW" sz="2400" i="1" dirty="0">
                <a:latin typeface="Times New Roman" panose="02020603050405020304" pitchFamily="18" charset="0"/>
                <a:cs typeface="Times New Roman" panose="02020603050405020304" pitchFamily="18" charset="0"/>
              </a:rPr>
              <a:t>A</a:t>
            </a:r>
            <a:r>
              <a:rPr lang="en-US" altLang="zh-TW" sz="2400" dirty="0">
                <a:latin typeface="Times New Roman" panose="02020603050405020304" pitchFamily="18" charset="0"/>
                <a:cs typeface="Times New Roman" panose="02020603050405020304" pitchFamily="18" charset="0"/>
              </a:rPr>
              <a:t> </a:t>
            </a:r>
            <a:r>
              <a:rPr lang="en-US" altLang="zh-TW" sz="2400" dirty="0" smtClean="0">
                <a:latin typeface="Times New Roman" panose="02020603050405020304" pitchFamily="18" charset="0"/>
                <a:cs typeface="Times New Roman" panose="02020603050405020304" pitchFamily="18" charset="0"/>
              </a:rPr>
              <a:t>= </a:t>
            </a:r>
            <a:r>
              <a:rPr lang="en-US" altLang="zh-TW" sz="2400" dirty="0" smtClean="0">
                <a:latin typeface="Courier"/>
                <a:cs typeface="Times New Roman" panose="02020603050405020304" pitchFamily="18" charset="0"/>
              </a:rPr>
              <a:t>TSVNQET</a:t>
            </a:r>
            <a:endParaRPr lang="en-US" altLang="zh-TW" sz="2400" dirty="0">
              <a:latin typeface="Courier"/>
              <a:cs typeface="Times New Roman" panose="02020603050405020304" pitchFamily="18" charset="0"/>
            </a:endParaRPr>
          </a:p>
          <a:p>
            <a:r>
              <a:rPr lang="en-US" altLang="zh-TW" sz="2400" i="1" dirty="0">
                <a:latin typeface="Times New Roman" panose="02020603050405020304" pitchFamily="18" charset="0"/>
                <a:cs typeface="Times New Roman" panose="02020603050405020304" pitchFamily="18" charset="0"/>
              </a:rPr>
              <a:t>B</a:t>
            </a:r>
            <a:r>
              <a:rPr lang="en-US" altLang="zh-TW" sz="2400" dirty="0">
                <a:latin typeface="Times New Roman" panose="02020603050405020304" pitchFamily="18" charset="0"/>
                <a:cs typeface="Times New Roman" panose="02020603050405020304" pitchFamily="18" charset="0"/>
              </a:rPr>
              <a:t> </a:t>
            </a:r>
            <a:r>
              <a:rPr lang="en-US" altLang="zh-TW" sz="2400" dirty="0" smtClean="0">
                <a:latin typeface="Times New Roman" panose="02020603050405020304" pitchFamily="18" charset="0"/>
                <a:cs typeface="Times New Roman" panose="02020603050405020304" pitchFamily="18" charset="0"/>
              </a:rPr>
              <a:t>= </a:t>
            </a:r>
            <a:r>
              <a:rPr lang="en-US" altLang="zh-TW" sz="2400" dirty="0" smtClean="0">
                <a:latin typeface="Courier"/>
                <a:cs typeface="Times New Roman" panose="02020603050405020304" pitchFamily="18" charset="0"/>
              </a:rPr>
              <a:t>SVETD</a:t>
            </a:r>
            <a:endParaRPr lang="zh-TW" altLang="en-US" sz="2400" dirty="0">
              <a:latin typeface="Courier"/>
              <a:cs typeface="Times New Roman" panose="02020603050405020304" pitchFamily="18" charset="0"/>
            </a:endParaRPr>
          </a:p>
        </p:txBody>
      </p:sp>
    </p:spTree>
    <p:extLst>
      <p:ext uri="{BB962C8B-B14F-4D97-AF65-F5344CB8AC3E}">
        <p14:creationId xmlns:p14="http://schemas.microsoft.com/office/powerpoint/2010/main" val="128037867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字方塊 10">
            <a:extLst>
              <a:ext uri="{FF2B5EF4-FFF2-40B4-BE49-F238E27FC236}">
                <a16:creationId xmlns:a16="http://schemas.microsoft.com/office/drawing/2014/main" id="{F7024DF5-78FF-4A3F-B7F4-E9879D39926E}"/>
              </a:ext>
            </a:extLst>
          </p:cNvPr>
          <p:cNvSpPr txBox="1"/>
          <p:nvPr/>
        </p:nvSpPr>
        <p:spPr>
          <a:xfrm>
            <a:off x="-151286" y="56619"/>
            <a:ext cx="8755811" cy="707886"/>
          </a:xfrm>
          <a:prstGeom prst="rect">
            <a:avLst/>
          </a:prstGeom>
          <a:noFill/>
        </p:spPr>
        <p:txBody>
          <a:bodyPr wrap="square" rtlCol="0">
            <a:spAutoFit/>
          </a:bodyPr>
          <a:lstStyle/>
          <a:p>
            <a:pPr algn="ctr"/>
            <a:r>
              <a:rPr lang="en-US" altLang="zh-TW" sz="4000" b="1" dirty="0">
                <a:latin typeface="Times New Roman" panose="02020603050405020304" pitchFamily="18" charset="0"/>
                <a:ea typeface="PMingLiU" panose="02020500000000000000" pitchFamily="18" charset="-120"/>
                <a:cs typeface="Times New Roman" panose="02020603050405020304" pitchFamily="18" charset="0"/>
              </a:rPr>
              <a:t>An Example of the SCOP Hierarchy</a:t>
            </a:r>
          </a:p>
        </p:txBody>
      </p:sp>
      <p:sp>
        <p:nvSpPr>
          <p:cNvPr id="5" name="Rectangle 2">
            <a:extLst>
              <a:ext uri="{FF2B5EF4-FFF2-40B4-BE49-F238E27FC236}">
                <a16:creationId xmlns:a16="http://schemas.microsoft.com/office/drawing/2014/main" id="{2DCDE472-AC18-4C6F-A0A6-D890E9155D70}"/>
              </a:ext>
            </a:extLst>
          </p:cNvPr>
          <p:cNvSpPr>
            <a:spLocks noChangeArrowheads="1"/>
          </p:cNvSpPr>
          <p:nvPr/>
        </p:nvSpPr>
        <p:spPr bwMode="auto">
          <a:xfrm>
            <a:off x="527325" y="2632611"/>
            <a:ext cx="8077200" cy="2729805"/>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Arial" panose="020B0604020202020204" pitchFamily="34" charset="0"/>
                <a:ea typeface="PMingLiU" panose="02020500000000000000" pitchFamily="18" charset="-120"/>
              </a:defRPr>
            </a:lvl1pPr>
            <a:lvl2pPr marL="742950" indent="-285750" eaLnBrk="0" hangingPunct="0">
              <a:spcBef>
                <a:spcPct val="20000"/>
              </a:spcBef>
              <a:buChar char="–"/>
              <a:defRPr kumimoji="1" sz="2800">
                <a:solidFill>
                  <a:schemeClr val="tx1"/>
                </a:solidFill>
                <a:latin typeface="Arial" panose="020B0604020202020204" pitchFamily="34" charset="0"/>
                <a:ea typeface="PMingLiU" panose="02020500000000000000" pitchFamily="18" charset="-120"/>
              </a:defRPr>
            </a:lvl2pPr>
            <a:lvl3pPr marL="1143000" indent="-228600" eaLnBrk="0" hangingPunct="0">
              <a:spcBef>
                <a:spcPct val="20000"/>
              </a:spcBef>
              <a:buChar char="•"/>
              <a:defRPr kumimoji="1" sz="2400">
                <a:solidFill>
                  <a:schemeClr val="tx1"/>
                </a:solidFill>
                <a:latin typeface="Arial" panose="020B0604020202020204" pitchFamily="34" charset="0"/>
                <a:ea typeface="PMingLiU" panose="02020500000000000000" pitchFamily="18" charset="-120"/>
              </a:defRPr>
            </a:lvl3pPr>
            <a:lvl4pPr marL="16002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4pPr>
            <a:lvl5pPr marL="20574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9pPr>
          </a:lstStyle>
          <a:p>
            <a:pPr eaLnBrk="1" hangingPunct="1">
              <a:spcBef>
                <a:spcPct val="0"/>
              </a:spcBef>
              <a:buFontTx/>
              <a:buNone/>
            </a:pPr>
            <a:endParaRPr lang="zh-TW" altLang="en-US" sz="1800" dirty="0"/>
          </a:p>
        </p:txBody>
      </p:sp>
      <p:sp>
        <p:nvSpPr>
          <p:cNvPr id="6" name="Rectangle 3">
            <a:extLst>
              <a:ext uri="{FF2B5EF4-FFF2-40B4-BE49-F238E27FC236}">
                <a16:creationId xmlns:a16="http://schemas.microsoft.com/office/drawing/2014/main" id="{85D768BE-D026-469B-AEC5-01F218C30B6F}"/>
              </a:ext>
            </a:extLst>
          </p:cNvPr>
          <p:cNvSpPr>
            <a:spLocks noChangeArrowheads="1"/>
          </p:cNvSpPr>
          <p:nvPr/>
        </p:nvSpPr>
        <p:spPr bwMode="auto">
          <a:xfrm>
            <a:off x="251520" y="1340768"/>
            <a:ext cx="8763000" cy="1905000"/>
          </a:xfrm>
          <a:prstGeom prst="rect">
            <a:avLst/>
          </a:prstGeom>
          <a:solidFill>
            <a:srgbClr val="CCFF33">
              <a:alpha val="50195"/>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Arial" panose="020B0604020202020204" pitchFamily="34" charset="0"/>
                <a:ea typeface="PMingLiU" panose="02020500000000000000" pitchFamily="18" charset="-120"/>
              </a:defRPr>
            </a:lvl1pPr>
            <a:lvl2pPr marL="742950" indent="-285750" eaLnBrk="0" hangingPunct="0">
              <a:spcBef>
                <a:spcPct val="20000"/>
              </a:spcBef>
              <a:buChar char="–"/>
              <a:defRPr kumimoji="1" sz="2800">
                <a:solidFill>
                  <a:schemeClr val="tx1"/>
                </a:solidFill>
                <a:latin typeface="Arial" panose="020B0604020202020204" pitchFamily="34" charset="0"/>
                <a:ea typeface="PMingLiU" panose="02020500000000000000" pitchFamily="18" charset="-120"/>
              </a:defRPr>
            </a:lvl2pPr>
            <a:lvl3pPr marL="1143000" indent="-228600" eaLnBrk="0" hangingPunct="0">
              <a:spcBef>
                <a:spcPct val="20000"/>
              </a:spcBef>
              <a:buChar char="•"/>
              <a:defRPr kumimoji="1" sz="2400">
                <a:solidFill>
                  <a:schemeClr val="tx1"/>
                </a:solidFill>
                <a:latin typeface="Arial" panose="020B0604020202020204" pitchFamily="34" charset="0"/>
                <a:ea typeface="PMingLiU" panose="02020500000000000000" pitchFamily="18" charset="-120"/>
              </a:defRPr>
            </a:lvl3pPr>
            <a:lvl4pPr marL="16002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4pPr>
            <a:lvl5pPr marL="20574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9pPr>
          </a:lstStyle>
          <a:p>
            <a:pPr eaLnBrk="1" hangingPunct="1">
              <a:spcBef>
                <a:spcPct val="0"/>
              </a:spcBef>
              <a:buFontTx/>
              <a:buNone/>
            </a:pPr>
            <a:endParaRPr lang="zh-TW" altLang="en-US" sz="1800" dirty="0"/>
          </a:p>
        </p:txBody>
      </p:sp>
      <p:sp>
        <p:nvSpPr>
          <p:cNvPr id="23" name="Rectangle 19">
            <a:extLst>
              <a:ext uri="{FF2B5EF4-FFF2-40B4-BE49-F238E27FC236}">
                <a16:creationId xmlns:a16="http://schemas.microsoft.com/office/drawing/2014/main" id="{4B135399-60DB-44AA-AE32-BE48A701A4EB}"/>
              </a:ext>
            </a:extLst>
          </p:cNvPr>
          <p:cNvSpPr>
            <a:spLocks noChangeArrowheads="1"/>
          </p:cNvSpPr>
          <p:nvPr/>
        </p:nvSpPr>
        <p:spPr bwMode="auto">
          <a:xfrm>
            <a:off x="2115207" y="3872947"/>
            <a:ext cx="3919343"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spcBef>
                <a:spcPct val="20000"/>
              </a:spcBef>
              <a:buChar char="•"/>
              <a:defRPr kumimoji="1" sz="3200">
                <a:solidFill>
                  <a:schemeClr val="tx1"/>
                </a:solidFill>
                <a:latin typeface="Arial" panose="020B0604020202020204" pitchFamily="34" charset="0"/>
                <a:ea typeface="PMingLiU" panose="02020500000000000000" pitchFamily="18" charset="-120"/>
              </a:defRPr>
            </a:lvl1pPr>
            <a:lvl2pPr marL="742950" indent="-285750" eaLnBrk="0" hangingPunct="0">
              <a:spcBef>
                <a:spcPct val="20000"/>
              </a:spcBef>
              <a:buChar char="–"/>
              <a:defRPr kumimoji="1" sz="2800">
                <a:solidFill>
                  <a:schemeClr val="tx1"/>
                </a:solidFill>
                <a:latin typeface="Arial" panose="020B0604020202020204" pitchFamily="34" charset="0"/>
                <a:ea typeface="PMingLiU" panose="02020500000000000000" pitchFamily="18" charset="-120"/>
              </a:defRPr>
            </a:lvl2pPr>
            <a:lvl3pPr marL="1143000" indent="-228600" eaLnBrk="0" hangingPunct="0">
              <a:spcBef>
                <a:spcPct val="20000"/>
              </a:spcBef>
              <a:buChar char="•"/>
              <a:defRPr kumimoji="1" sz="2400">
                <a:solidFill>
                  <a:schemeClr val="tx1"/>
                </a:solidFill>
                <a:latin typeface="Arial" panose="020B0604020202020204" pitchFamily="34" charset="0"/>
                <a:ea typeface="PMingLiU" panose="02020500000000000000" pitchFamily="18" charset="-120"/>
              </a:defRPr>
            </a:lvl3pPr>
            <a:lvl4pPr marL="16002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4pPr>
            <a:lvl5pPr marL="20574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9pPr>
          </a:lstStyle>
          <a:p>
            <a:r>
              <a:rPr lang="zh-TW" altLang="en-US" sz="1600" dirty="0">
                <a:latin typeface="Times New Roman" panose="02020603050405020304" pitchFamily="18" charset="0"/>
                <a:cs typeface="Times New Roman" panose="02020603050405020304" pitchFamily="18" charset="0"/>
              </a:rPr>
              <a:t>Putative tagatose 6-phosphate kinase 1 GatZ</a:t>
            </a:r>
          </a:p>
        </p:txBody>
      </p:sp>
      <p:sp>
        <p:nvSpPr>
          <p:cNvPr id="26" name="Rectangle 22">
            <a:extLst>
              <a:ext uri="{FF2B5EF4-FFF2-40B4-BE49-F238E27FC236}">
                <a16:creationId xmlns:a16="http://schemas.microsoft.com/office/drawing/2014/main" id="{98A14413-10CC-4C8E-B8C3-16888AD02596}"/>
              </a:ext>
            </a:extLst>
          </p:cNvPr>
          <p:cNvSpPr>
            <a:spLocks noChangeArrowheads="1"/>
          </p:cNvSpPr>
          <p:nvPr/>
        </p:nvSpPr>
        <p:spPr bwMode="auto">
          <a:xfrm>
            <a:off x="2287258" y="3288102"/>
            <a:ext cx="1954446"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spcBef>
                <a:spcPct val="20000"/>
              </a:spcBef>
              <a:buChar char="•"/>
              <a:defRPr kumimoji="1" sz="3200">
                <a:solidFill>
                  <a:schemeClr val="tx1"/>
                </a:solidFill>
                <a:latin typeface="Arial" panose="020B0604020202020204" pitchFamily="34" charset="0"/>
                <a:ea typeface="PMingLiU" panose="02020500000000000000" pitchFamily="18" charset="-120"/>
              </a:defRPr>
            </a:lvl1pPr>
            <a:lvl2pPr marL="742950" indent="-285750" eaLnBrk="0" hangingPunct="0">
              <a:spcBef>
                <a:spcPct val="20000"/>
              </a:spcBef>
              <a:buChar char="–"/>
              <a:defRPr kumimoji="1" sz="2800">
                <a:solidFill>
                  <a:schemeClr val="tx1"/>
                </a:solidFill>
                <a:latin typeface="Arial" panose="020B0604020202020204" pitchFamily="34" charset="0"/>
                <a:ea typeface="PMingLiU" panose="02020500000000000000" pitchFamily="18" charset="-120"/>
              </a:defRPr>
            </a:lvl2pPr>
            <a:lvl3pPr marL="1143000" indent="-228600" eaLnBrk="0" hangingPunct="0">
              <a:spcBef>
                <a:spcPct val="20000"/>
              </a:spcBef>
              <a:buChar char="•"/>
              <a:defRPr kumimoji="1" sz="2400">
                <a:solidFill>
                  <a:schemeClr val="tx1"/>
                </a:solidFill>
                <a:latin typeface="Arial" panose="020B0604020202020204" pitchFamily="34" charset="0"/>
                <a:ea typeface="PMingLiU" panose="02020500000000000000" pitchFamily="18" charset="-120"/>
              </a:defRPr>
            </a:lvl3pPr>
            <a:lvl4pPr marL="16002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4pPr>
            <a:lvl5pPr marL="20574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9pPr>
          </a:lstStyle>
          <a:p>
            <a:pPr>
              <a:spcBef>
                <a:spcPct val="0"/>
              </a:spcBef>
              <a:buFontTx/>
              <a:buNone/>
            </a:pPr>
            <a:r>
              <a:rPr kumimoji="0" lang="en-US" altLang="zh-TW" sz="1600" dirty="0">
                <a:latin typeface="Times New Roman" panose="02020603050405020304" pitchFamily="18" charset="0"/>
              </a:rPr>
              <a:t>Class II FBP aldolase</a:t>
            </a:r>
          </a:p>
        </p:txBody>
      </p:sp>
      <p:sp>
        <p:nvSpPr>
          <p:cNvPr id="28" name="Rectangle 24">
            <a:extLst>
              <a:ext uri="{FF2B5EF4-FFF2-40B4-BE49-F238E27FC236}">
                <a16:creationId xmlns:a16="http://schemas.microsoft.com/office/drawing/2014/main" id="{AD798FE1-7953-4432-A7BF-2EDF7DB81FDE}"/>
              </a:ext>
            </a:extLst>
          </p:cNvPr>
          <p:cNvSpPr>
            <a:spLocks noChangeArrowheads="1"/>
          </p:cNvSpPr>
          <p:nvPr/>
        </p:nvSpPr>
        <p:spPr bwMode="auto">
          <a:xfrm>
            <a:off x="5374383" y="3279106"/>
            <a:ext cx="985847"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spcBef>
                <a:spcPct val="20000"/>
              </a:spcBef>
              <a:buChar char="•"/>
              <a:defRPr kumimoji="1" sz="3200">
                <a:solidFill>
                  <a:schemeClr val="tx1"/>
                </a:solidFill>
                <a:latin typeface="Arial" panose="020B0604020202020204" pitchFamily="34" charset="0"/>
                <a:ea typeface="PMingLiU" panose="02020500000000000000" pitchFamily="18" charset="-120"/>
              </a:defRPr>
            </a:lvl1pPr>
            <a:lvl2pPr marL="742950" indent="-285750" eaLnBrk="0" hangingPunct="0">
              <a:spcBef>
                <a:spcPct val="20000"/>
              </a:spcBef>
              <a:buChar char="–"/>
              <a:defRPr kumimoji="1" sz="2800">
                <a:solidFill>
                  <a:schemeClr val="tx1"/>
                </a:solidFill>
                <a:latin typeface="Arial" panose="020B0604020202020204" pitchFamily="34" charset="0"/>
                <a:ea typeface="PMingLiU" panose="02020500000000000000" pitchFamily="18" charset="-120"/>
              </a:defRPr>
            </a:lvl2pPr>
            <a:lvl3pPr marL="1143000" indent="-228600" eaLnBrk="0" hangingPunct="0">
              <a:spcBef>
                <a:spcPct val="20000"/>
              </a:spcBef>
              <a:buChar char="•"/>
              <a:defRPr kumimoji="1" sz="2400">
                <a:solidFill>
                  <a:schemeClr val="tx1"/>
                </a:solidFill>
                <a:latin typeface="Arial" panose="020B0604020202020204" pitchFamily="34" charset="0"/>
                <a:ea typeface="PMingLiU" panose="02020500000000000000" pitchFamily="18" charset="-120"/>
              </a:defRPr>
            </a:lvl3pPr>
            <a:lvl4pPr marL="16002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4pPr>
            <a:lvl5pPr marL="20574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9pPr>
          </a:lstStyle>
          <a:p>
            <a:pPr>
              <a:spcBef>
                <a:spcPct val="0"/>
              </a:spcBef>
              <a:buFontTx/>
              <a:buNone/>
            </a:pPr>
            <a:r>
              <a:rPr kumimoji="0" lang="en-US" altLang="zh-TW" sz="1600" dirty="0" err="1">
                <a:latin typeface="Times New Roman" panose="02020603050405020304" pitchFamily="18" charset="0"/>
              </a:rPr>
              <a:t>GatZ</a:t>
            </a:r>
            <a:r>
              <a:rPr kumimoji="0" lang="en-US" altLang="zh-TW" sz="1600" dirty="0">
                <a:latin typeface="Times New Roman" panose="02020603050405020304" pitchFamily="18" charset="0"/>
              </a:rPr>
              <a:t>-like</a:t>
            </a:r>
          </a:p>
        </p:txBody>
      </p:sp>
      <p:sp>
        <p:nvSpPr>
          <p:cNvPr id="29" name="Rectangle 25">
            <a:extLst>
              <a:ext uri="{FF2B5EF4-FFF2-40B4-BE49-F238E27FC236}">
                <a16:creationId xmlns:a16="http://schemas.microsoft.com/office/drawing/2014/main" id="{AD99281D-288F-45AE-9218-19ED91157BF0}"/>
              </a:ext>
            </a:extLst>
          </p:cNvPr>
          <p:cNvSpPr>
            <a:spLocks noChangeArrowheads="1"/>
          </p:cNvSpPr>
          <p:nvPr/>
        </p:nvSpPr>
        <p:spPr bwMode="auto">
          <a:xfrm>
            <a:off x="899220" y="3279106"/>
            <a:ext cx="1477969"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spcBef>
                <a:spcPct val="20000"/>
              </a:spcBef>
              <a:buChar char="•"/>
              <a:defRPr kumimoji="1" sz="3200">
                <a:solidFill>
                  <a:schemeClr val="tx1"/>
                </a:solidFill>
                <a:latin typeface="Arial" panose="020B0604020202020204" pitchFamily="34" charset="0"/>
                <a:ea typeface="PMingLiU" panose="02020500000000000000" pitchFamily="18" charset="-120"/>
              </a:defRPr>
            </a:lvl1pPr>
            <a:lvl2pPr marL="742950" indent="-285750" eaLnBrk="0" hangingPunct="0">
              <a:spcBef>
                <a:spcPct val="20000"/>
              </a:spcBef>
              <a:buChar char="–"/>
              <a:defRPr kumimoji="1" sz="2800">
                <a:solidFill>
                  <a:schemeClr val="tx1"/>
                </a:solidFill>
                <a:latin typeface="Arial" panose="020B0604020202020204" pitchFamily="34" charset="0"/>
                <a:ea typeface="PMingLiU" panose="02020500000000000000" pitchFamily="18" charset="-120"/>
              </a:defRPr>
            </a:lvl2pPr>
            <a:lvl3pPr marL="1143000" indent="-228600" eaLnBrk="0" hangingPunct="0">
              <a:spcBef>
                <a:spcPct val="20000"/>
              </a:spcBef>
              <a:buChar char="•"/>
              <a:defRPr kumimoji="1" sz="2400">
                <a:solidFill>
                  <a:schemeClr val="tx1"/>
                </a:solidFill>
                <a:latin typeface="Arial" panose="020B0604020202020204" pitchFamily="34" charset="0"/>
                <a:ea typeface="PMingLiU" panose="02020500000000000000" pitchFamily="18" charset="-120"/>
              </a:defRPr>
            </a:lvl3pPr>
            <a:lvl4pPr marL="16002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4pPr>
            <a:lvl5pPr marL="20574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9pPr>
          </a:lstStyle>
          <a:p>
            <a:pPr>
              <a:spcBef>
                <a:spcPct val="0"/>
              </a:spcBef>
              <a:buFontTx/>
              <a:buNone/>
            </a:pPr>
            <a:r>
              <a:rPr kumimoji="0" lang="en-US" altLang="zh-TW" sz="1600" dirty="0">
                <a:latin typeface="Times New Roman" panose="02020603050405020304" pitchFamily="18" charset="0"/>
              </a:rPr>
              <a:t>Class I aldolase</a:t>
            </a:r>
          </a:p>
        </p:txBody>
      </p:sp>
      <p:sp>
        <p:nvSpPr>
          <p:cNvPr id="31" name="Line 27">
            <a:extLst>
              <a:ext uri="{FF2B5EF4-FFF2-40B4-BE49-F238E27FC236}">
                <a16:creationId xmlns:a16="http://schemas.microsoft.com/office/drawing/2014/main" id="{2C1EC163-6A43-4324-A605-2F1B6E8EC033}"/>
              </a:ext>
            </a:extLst>
          </p:cNvPr>
          <p:cNvSpPr>
            <a:spLocks noChangeShapeType="1"/>
          </p:cNvSpPr>
          <p:nvPr/>
        </p:nvSpPr>
        <p:spPr bwMode="auto">
          <a:xfrm flipH="1">
            <a:off x="4241703" y="3622587"/>
            <a:ext cx="1337465" cy="302491"/>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36" name="Rectangle 32">
            <a:extLst>
              <a:ext uri="{FF2B5EF4-FFF2-40B4-BE49-F238E27FC236}">
                <a16:creationId xmlns:a16="http://schemas.microsoft.com/office/drawing/2014/main" id="{598F806E-130C-46D7-86A3-22FE4970A8BB}"/>
              </a:ext>
            </a:extLst>
          </p:cNvPr>
          <p:cNvSpPr>
            <a:spLocks noChangeArrowheads="1"/>
          </p:cNvSpPr>
          <p:nvPr/>
        </p:nvSpPr>
        <p:spPr bwMode="auto">
          <a:xfrm>
            <a:off x="1151633" y="2717131"/>
            <a:ext cx="5572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spcBef>
                <a:spcPct val="20000"/>
              </a:spcBef>
              <a:buChar char="•"/>
              <a:defRPr kumimoji="1" sz="3200">
                <a:solidFill>
                  <a:schemeClr val="tx1"/>
                </a:solidFill>
                <a:latin typeface="Arial" panose="020B0604020202020204" pitchFamily="34" charset="0"/>
                <a:ea typeface="PMingLiU" panose="02020500000000000000" pitchFamily="18" charset="-120"/>
              </a:defRPr>
            </a:lvl1pPr>
            <a:lvl2pPr marL="742950" indent="-285750" eaLnBrk="0" hangingPunct="0">
              <a:spcBef>
                <a:spcPct val="20000"/>
              </a:spcBef>
              <a:buChar char="–"/>
              <a:defRPr kumimoji="1" sz="2800">
                <a:solidFill>
                  <a:schemeClr val="tx1"/>
                </a:solidFill>
                <a:latin typeface="Arial" panose="020B0604020202020204" pitchFamily="34" charset="0"/>
                <a:ea typeface="PMingLiU" panose="02020500000000000000" pitchFamily="18" charset="-120"/>
              </a:defRPr>
            </a:lvl2pPr>
            <a:lvl3pPr marL="1143000" indent="-228600" eaLnBrk="0" hangingPunct="0">
              <a:spcBef>
                <a:spcPct val="20000"/>
              </a:spcBef>
              <a:buChar char="•"/>
              <a:defRPr kumimoji="1" sz="2400">
                <a:solidFill>
                  <a:schemeClr val="tx1"/>
                </a:solidFill>
                <a:latin typeface="Arial" panose="020B0604020202020204" pitchFamily="34" charset="0"/>
                <a:ea typeface="PMingLiU" panose="02020500000000000000" pitchFamily="18" charset="-120"/>
              </a:defRPr>
            </a:lvl3pPr>
            <a:lvl4pPr marL="16002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4pPr>
            <a:lvl5pPr marL="20574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9pPr>
          </a:lstStyle>
          <a:p>
            <a:pPr>
              <a:spcBef>
                <a:spcPct val="0"/>
              </a:spcBef>
              <a:buFontTx/>
              <a:buNone/>
            </a:pPr>
            <a:r>
              <a:rPr kumimoji="0" lang="en-US" altLang="zh-TW" sz="1600" dirty="0">
                <a:latin typeface="Times New Roman" panose="02020603050405020304" pitchFamily="18" charset="0"/>
              </a:rPr>
              <a:t>TIM</a:t>
            </a:r>
          </a:p>
        </p:txBody>
      </p:sp>
      <p:sp>
        <p:nvSpPr>
          <p:cNvPr id="37" name="Rectangle 33">
            <a:extLst>
              <a:ext uri="{FF2B5EF4-FFF2-40B4-BE49-F238E27FC236}">
                <a16:creationId xmlns:a16="http://schemas.microsoft.com/office/drawing/2014/main" id="{43B68661-E737-4731-BD5E-D7A0645E9D0D}"/>
              </a:ext>
            </a:extLst>
          </p:cNvPr>
          <p:cNvSpPr>
            <a:spLocks noChangeArrowheads="1"/>
          </p:cNvSpPr>
          <p:nvPr/>
        </p:nvSpPr>
        <p:spPr bwMode="auto">
          <a:xfrm>
            <a:off x="1929508" y="2717131"/>
            <a:ext cx="15367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spcBef>
                <a:spcPct val="20000"/>
              </a:spcBef>
              <a:buChar char="•"/>
              <a:defRPr kumimoji="1" sz="3200">
                <a:solidFill>
                  <a:schemeClr val="tx1"/>
                </a:solidFill>
                <a:latin typeface="Arial" panose="020B0604020202020204" pitchFamily="34" charset="0"/>
                <a:ea typeface="PMingLiU" panose="02020500000000000000" pitchFamily="18" charset="-120"/>
              </a:defRPr>
            </a:lvl1pPr>
            <a:lvl2pPr marL="742950" indent="-285750" eaLnBrk="0" hangingPunct="0">
              <a:spcBef>
                <a:spcPct val="20000"/>
              </a:spcBef>
              <a:buChar char="–"/>
              <a:defRPr kumimoji="1" sz="2800">
                <a:solidFill>
                  <a:schemeClr val="tx1"/>
                </a:solidFill>
                <a:latin typeface="Arial" panose="020B0604020202020204" pitchFamily="34" charset="0"/>
                <a:ea typeface="PMingLiU" panose="02020500000000000000" pitchFamily="18" charset="-120"/>
              </a:defRPr>
            </a:lvl2pPr>
            <a:lvl3pPr marL="1143000" indent="-228600" eaLnBrk="0" hangingPunct="0">
              <a:spcBef>
                <a:spcPct val="20000"/>
              </a:spcBef>
              <a:buChar char="•"/>
              <a:defRPr kumimoji="1" sz="2400">
                <a:solidFill>
                  <a:schemeClr val="tx1"/>
                </a:solidFill>
                <a:latin typeface="Arial" panose="020B0604020202020204" pitchFamily="34" charset="0"/>
                <a:ea typeface="PMingLiU" panose="02020500000000000000" pitchFamily="18" charset="-120"/>
              </a:defRPr>
            </a:lvl3pPr>
            <a:lvl4pPr marL="16002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4pPr>
            <a:lvl5pPr marL="20574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9pPr>
          </a:lstStyle>
          <a:p>
            <a:pPr>
              <a:spcBef>
                <a:spcPct val="0"/>
              </a:spcBef>
              <a:buFontTx/>
              <a:buNone/>
            </a:pPr>
            <a:r>
              <a:rPr kumimoji="0" lang="en-US" altLang="zh-TW" sz="1600" dirty="0" err="1">
                <a:latin typeface="Times New Roman" panose="02020603050405020304" pitchFamily="18" charset="0"/>
              </a:rPr>
              <a:t>Trp</a:t>
            </a:r>
            <a:r>
              <a:rPr kumimoji="0" lang="en-US" altLang="zh-TW" sz="1600" dirty="0">
                <a:latin typeface="Times New Roman" panose="02020603050405020304" pitchFamily="18" charset="0"/>
              </a:rPr>
              <a:t> biosynthesis</a:t>
            </a:r>
          </a:p>
        </p:txBody>
      </p:sp>
      <p:sp>
        <p:nvSpPr>
          <p:cNvPr id="38" name="Rectangle 34">
            <a:extLst>
              <a:ext uri="{FF2B5EF4-FFF2-40B4-BE49-F238E27FC236}">
                <a16:creationId xmlns:a16="http://schemas.microsoft.com/office/drawing/2014/main" id="{0B4DC4D8-5148-4B6A-B3A2-25851142DF51}"/>
              </a:ext>
            </a:extLst>
          </p:cNvPr>
          <p:cNvSpPr>
            <a:spLocks noChangeArrowheads="1"/>
          </p:cNvSpPr>
          <p:nvPr/>
        </p:nvSpPr>
        <p:spPr bwMode="auto">
          <a:xfrm>
            <a:off x="3851834" y="2701380"/>
            <a:ext cx="916918"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spcBef>
                <a:spcPct val="20000"/>
              </a:spcBef>
              <a:buChar char="•"/>
              <a:defRPr kumimoji="1" sz="3200">
                <a:solidFill>
                  <a:schemeClr val="tx1"/>
                </a:solidFill>
                <a:latin typeface="Arial" panose="020B0604020202020204" pitchFamily="34" charset="0"/>
                <a:ea typeface="PMingLiU" panose="02020500000000000000" pitchFamily="18" charset="-120"/>
              </a:defRPr>
            </a:lvl1pPr>
            <a:lvl2pPr marL="742950" indent="-285750" eaLnBrk="0" hangingPunct="0">
              <a:spcBef>
                <a:spcPct val="20000"/>
              </a:spcBef>
              <a:buChar char="–"/>
              <a:defRPr kumimoji="1" sz="2800">
                <a:solidFill>
                  <a:schemeClr val="tx1"/>
                </a:solidFill>
                <a:latin typeface="Arial" panose="020B0604020202020204" pitchFamily="34" charset="0"/>
                <a:ea typeface="PMingLiU" panose="02020500000000000000" pitchFamily="18" charset="-120"/>
              </a:defRPr>
            </a:lvl2pPr>
            <a:lvl3pPr marL="1143000" indent="-228600" eaLnBrk="0" hangingPunct="0">
              <a:spcBef>
                <a:spcPct val="20000"/>
              </a:spcBef>
              <a:buChar char="•"/>
              <a:defRPr kumimoji="1" sz="2400">
                <a:solidFill>
                  <a:schemeClr val="tx1"/>
                </a:solidFill>
                <a:latin typeface="Arial" panose="020B0604020202020204" pitchFamily="34" charset="0"/>
                <a:ea typeface="PMingLiU" panose="02020500000000000000" pitchFamily="18" charset="-120"/>
              </a:defRPr>
            </a:lvl3pPr>
            <a:lvl4pPr marL="16002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4pPr>
            <a:lvl5pPr marL="20574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9pPr>
          </a:lstStyle>
          <a:p>
            <a:pPr>
              <a:spcBef>
                <a:spcPct val="0"/>
              </a:spcBef>
              <a:buFontTx/>
              <a:buNone/>
            </a:pPr>
            <a:r>
              <a:rPr kumimoji="0" lang="en-US" altLang="zh-TW" sz="1600" dirty="0">
                <a:latin typeface="Times New Roman" panose="02020603050405020304" pitchFamily="18" charset="0"/>
              </a:rPr>
              <a:t>Aldolase</a:t>
            </a:r>
          </a:p>
        </p:txBody>
      </p:sp>
      <p:sp>
        <p:nvSpPr>
          <p:cNvPr id="39" name="Rectangle 35">
            <a:extLst>
              <a:ext uri="{FF2B5EF4-FFF2-40B4-BE49-F238E27FC236}">
                <a16:creationId xmlns:a16="http://schemas.microsoft.com/office/drawing/2014/main" id="{AEA88E47-90DC-4FE0-A399-BFD863C0E576}"/>
              </a:ext>
            </a:extLst>
          </p:cNvPr>
          <p:cNvSpPr>
            <a:spLocks noChangeArrowheads="1"/>
          </p:cNvSpPr>
          <p:nvPr/>
        </p:nvSpPr>
        <p:spPr bwMode="auto">
          <a:xfrm>
            <a:off x="5734755" y="2674269"/>
            <a:ext cx="12509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spcBef>
                <a:spcPct val="20000"/>
              </a:spcBef>
              <a:buChar char="•"/>
              <a:defRPr kumimoji="1" sz="3200">
                <a:solidFill>
                  <a:schemeClr val="tx1"/>
                </a:solidFill>
                <a:latin typeface="Arial" panose="020B0604020202020204" pitchFamily="34" charset="0"/>
                <a:ea typeface="PMingLiU" panose="02020500000000000000" pitchFamily="18" charset="-120"/>
              </a:defRPr>
            </a:lvl1pPr>
            <a:lvl2pPr marL="742950" indent="-285750" eaLnBrk="0" hangingPunct="0">
              <a:spcBef>
                <a:spcPct val="20000"/>
              </a:spcBef>
              <a:buChar char="–"/>
              <a:defRPr kumimoji="1" sz="2800">
                <a:solidFill>
                  <a:schemeClr val="tx1"/>
                </a:solidFill>
                <a:latin typeface="Arial" panose="020B0604020202020204" pitchFamily="34" charset="0"/>
                <a:ea typeface="PMingLiU" panose="02020500000000000000" pitchFamily="18" charset="-120"/>
              </a:defRPr>
            </a:lvl2pPr>
            <a:lvl3pPr marL="1143000" indent="-228600" eaLnBrk="0" hangingPunct="0">
              <a:spcBef>
                <a:spcPct val="20000"/>
              </a:spcBef>
              <a:buChar char="•"/>
              <a:defRPr kumimoji="1" sz="2400">
                <a:solidFill>
                  <a:schemeClr val="tx1"/>
                </a:solidFill>
                <a:latin typeface="Arial" panose="020B0604020202020204" pitchFamily="34" charset="0"/>
                <a:ea typeface="PMingLiU" panose="02020500000000000000" pitchFamily="18" charset="-120"/>
              </a:defRPr>
            </a:lvl3pPr>
            <a:lvl4pPr marL="16002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4pPr>
            <a:lvl5pPr marL="20574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9pPr>
          </a:lstStyle>
          <a:p>
            <a:pPr>
              <a:spcBef>
                <a:spcPct val="0"/>
              </a:spcBef>
              <a:buFontTx/>
              <a:buNone/>
            </a:pPr>
            <a:r>
              <a:rPr kumimoji="0" lang="en-US" altLang="zh-TW" sz="1600" dirty="0" err="1">
                <a:latin typeface="Times New Roman" panose="02020603050405020304" pitchFamily="18" charset="0"/>
              </a:rPr>
              <a:t>RuBisCo</a:t>
            </a:r>
            <a:r>
              <a:rPr kumimoji="0" lang="en-US" altLang="zh-TW" sz="1600" dirty="0">
                <a:latin typeface="Times New Roman" panose="02020603050405020304" pitchFamily="18" charset="0"/>
              </a:rPr>
              <a:t> (C)</a:t>
            </a:r>
          </a:p>
        </p:txBody>
      </p:sp>
      <p:sp>
        <p:nvSpPr>
          <p:cNvPr id="40" name="Line 36">
            <a:extLst>
              <a:ext uri="{FF2B5EF4-FFF2-40B4-BE49-F238E27FC236}">
                <a16:creationId xmlns:a16="http://schemas.microsoft.com/office/drawing/2014/main" id="{F2B009EF-8553-45FC-A22D-8DA1550D5F66}"/>
              </a:ext>
            </a:extLst>
          </p:cNvPr>
          <p:cNvSpPr>
            <a:spLocks noChangeShapeType="1"/>
          </p:cNvSpPr>
          <p:nvPr/>
        </p:nvSpPr>
        <p:spPr bwMode="auto">
          <a:xfrm flipH="1">
            <a:off x="1861245" y="3036218"/>
            <a:ext cx="2424113" cy="280988"/>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41" name="Line 37">
            <a:extLst>
              <a:ext uri="{FF2B5EF4-FFF2-40B4-BE49-F238E27FC236}">
                <a16:creationId xmlns:a16="http://schemas.microsoft.com/office/drawing/2014/main" id="{526697AB-2E2E-42A0-8974-B8F0D19BC3D5}"/>
              </a:ext>
            </a:extLst>
          </p:cNvPr>
          <p:cNvSpPr>
            <a:spLocks noChangeShapeType="1"/>
          </p:cNvSpPr>
          <p:nvPr/>
        </p:nvSpPr>
        <p:spPr bwMode="auto">
          <a:xfrm flipH="1">
            <a:off x="3245545" y="3036218"/>
            <a:ext cx="1039813" cy="280988"/>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42" name="Line 38">
            <a:extLst>
              <a:ext uri="{FF2B5EF4-FFF2-40B4-BE49-F238E27FC236}">
                <a16:creationId xmlns:a16="http://schemas.microsoft.com/office/drawing/2014/main" id="{DBA12366-D1F7-4A13-8817-58023B88F309}"/>
              </a:ext>
            </a:extLst>
          </p:cNvPr>
          <p:cNvSpPr>
            <a:spLocks noChangeShapeType="1"/>
          </p:cNvSpPr>
          <p:nvPr/>
        </p:nvSpPr>
        <p:spPr bwMode="auto">
          <a:xfrm>
            <a:off x="4285357" y="3036218"/>
            <a:ext cx="456837" cy="34986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43" name="Line 39">
            <a:extLst>
              <a:ext uri="{FF2B5EF4-FFF2-40B4-BE49-F238E27FC236}">
                <a16:creationId xmlns:a16="http://schemas.microsoft.com/office/drawing/2014/main" id="{151EA758-9248-4CA0-B40D-ADA381416B60}"/>
              </a:ext>
            </a:extLst>
          </p:cNvPr>
          <p:cNvSpPr>
            <a:spLocks noChangeShapeType="1"/>
          </p:cNvSpPr>
          <p:nvPr/>
        </p:nvSpPr>
        <p:spPr bwMode="auto">
          <a:xfrm>
            <a:off x="4285358" y="3036218"/>
            <a:ext cx="1384300" cy="280988"/>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44" name="Rectangle 40">
            <a:extLst>
              <a:ext uri="{FF2B5EF4-FFF2-40B4-BE49-F238E27FC236}">
                <a16:creationId xmlns:a16="http://schemas.microsoft.com/office/drawing/2014/main" id="{C820F0C7-7757-43E8-B3D3-B9BA0BBB2457}"/>
              </a:ext>
            </a:extLst>
          </p:cNvPr>
          <p:cNvSpPr>
            <a:spLocks noChangeArrowheads="1"/>
          </p:cNvSpPr>
          <p:nvPr/>
        </p:nvSpPr>
        <p:spPr bwMode="auto">
          <a:xfrm>
            <a:off x="891283" y="2155156"/>
            <a:ext cx="14112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spcBef>
                <a:spcPct val="20000"/>
              </a:spcBef>
              <a:buChar char="•"/>
              <a:defRPr kumimoji="1" sz="3200">
                <a:solidFill>
                  <a:schemeClr val="tx1"/>
                </a:solidFill>
                <a:latin typeface="Arial" panose="020B0604020202020204" pitchFamily="34" charset="0"/>
                <a:ea typeface="PMingLiU" panose="02020500000000000000" pitchFamily="18" charset="-120"/>
              </a:defRPr>
            </a:lvl1pPr>
            <a:lvl2pPr marL="742950" indent="-285750" eaLnBrk="0" hangingPunct="0">
              <a:spcBef>
                <a:spcPct val="20000"/>
              </a:spcBef>
              <a:buChar char="–"/>
              <a:defRPr kumimoji="1" sz="2800">
                <a:solidFill>
                  <a:schemeClr val="tx1"/>
                </a:solidFill>
                <a:latin typeface="Arial" panose="020B0604020202020204" pitchFamily="34" charset="0"/>
                <a:ea typeface="PMingLiU" panose="02020500000000000000" pitchFamily="18" charset="-120"/>
              </a:defRPr>
            </a:lvl2pPr>
            <a:lvl3pPr marL="1143000" indent="-228600" eaLnBrk="0" hangingPunct="0">
              <a:spcBef>
                <a:spcPct val="20000"/>
              </a:spcBef>
              <a:buChar char="•"/>
              <a:defRPr kumimoji="1" sz="2400">
                <a:solidFill>
                  <a:schemeClr val="tx1"/>
                </a:solidFill>
                <a:latin typeface="Arial" panose="020B0604020202020204" pitchFamily="34" charset="0"/>
                <a:ea typeface="PMingLiU" panose="02020500000000000000" pitchFamily="18" charset="-120"/>
              </a:defRPr>
            </a:lvl3pPr>
            <a:lvl4pPr marL="16002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4pPr>
            <a:lvl5pPr marL="20574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9pPr>
          </a:lstStyle>
          <a:p>
            <a:pPr>
              <a:spcBef>
                <a:spcPct val="0"/>
              </a:spcBef>
              <a:buFontTx/>
              <a:buNone/>
            </a:pPr>
            <a:r>
              <a:rPr kumimoji="0" lang="en-US" altLang="zh-TW" sz="1600">
                <a:latin typeface="Times New Roman" panose="02020603050405020304" pitchFamily="18" charset="0"/>
              </a:rPr>
              <a:t>Rossmann fold</a:t>
            </a:r>
          </a:p>
        </p:txBody>
      </p:sp>
      <p:sp>
        <p:nvSpPr>
          <p:cNvPr id="45" name="Rectangle 41">
            <a:extLst>
              <a:ext uri="{FF2B5EF4-FFF2-40B4-BE49-F238E27FC236}">
                <a16:creationId xmlns:a16="http://schemas.microsoft.com/office/drawing/2014/main" id="{D0D3BC42-FDB3-439B-A09C-5DAF81014009}"/>
              </a:ext>
            </a:extLst>
          </p:cNvPr>
          <p:cNvSpPr>
            <a:spLocks noChangeArrowheads="1"/>
          </p:cNvSpPr>
          <p:nvPr/>
        </p:nvSpPr>
        <p:spPr bwMode="auto">
          <a:xfrm>
            <a:off x="2880420" y="2155156"/>
            <a:ext cx="14859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spcBef>
                <a:spcPct val="20000"/>
              </a:spcBef>
              <a:buChar char="•"/>
              <a:defRPr kumimoji="1" sz="3200">
                <a:solidFill>
                  <a:schemeClr val="tx1"/>
                </a:solidFill>
                <a:latin typeface="Arial" panose="020B0604020202020204" pitchFamily="34" charset="0"/>
                <a:ea typeface="PMingLiU" panose="02020500000000000000" pitchFamily="18" charset="-120"/>
              </a:defRPr>
            </a:lvl1pPr>
            <a:lvl2pPr marL="742950" indent="-285750" eaLnBrk="0" hangingPunct="0">
              <a:spcBef>
                <a:spcPct val="20000"/>
              </a:spcBef>
              <a:buChar char="–"/>
              <a:defRPr kumimoji="1" sz="2800">
                <a:solidFill>
                  <a:schemeClr val="tx1"/>
                </a:solidFill>
                <a:latin typeface="Arial" panose="020B0604020202020204" pitchFamily="34" charset="0"/>
                <a:ea typeface="PMingLiU" panose="02020500000000000000" pitchFamily="18" charset="-120"/>
              </a:defRPr>
            </a:lvl2pPr>
            <a:lvl3pPr marL="1143000" indent="-228600" eaLnBrk="0" hangingPunct="0">
              <a:spcBef>
                <a:spcPct val="20000"/>
              </a:spcBef>
              <a:buChar char="•"/>
              <a:defRPr kumimoji="1" sz="2400">
                <a:solidFill>
                  <a:schemeClr val="tx1"/>
                </a:solidFill>
                <a:latin typeface="Arial" panose="020B0604020202020204" pitchFamily="34" charset="0"/>
                <a:ea typeface="PMingLiU" panose="02020500000000000000" pitchFamily="18" charset="-120"/>
              </a:defRPr>
            </a:lvl3pPr>
            <a:lvl4pPr marL="16002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4pPr>
            <a:lvl5pPr marL="20574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9pPr>
          </a:lstStyle>
          <a:p>
            <a:pPr>
              <a:spcBef>
                <a:spcPct val="0"/>
              </a:spcBef>
              <a:buFontTx/>
              <a:buNone/>
            </a:pPr>
            <a:r>
              <a:rPr kumimoji="0" lang="en-US" altLang="zh-TW" sz="1600">
                <a:latin typeface="Times New Roman" panose="02020603050405020304" pitchFamily="18" charset="0"/>
              </a:rPr>
              <a:t>Flavodoxin-like</a:t>
            </a:r>
          </a:p>
        </p:txBody>
      </p:sp>
      <p:sp>
        <p:nvSpPr>
          <p:cNvPr id="46" name="Rectangle 42">
            <a:extLst>
              <a:ext uri="{FF2B5EF4-FFF2-40B4-BE49-F238E27FC236}">
                <a16:creationId xmlns:a16="http://schemas.microsoft.com/office/drawing/2014/main" id="{CEC61B4F-0EB1-4270-ACBB-D14694934BAC}"/>
              </a:ext>
            </a:extLst>
          </p:cNvPr>
          <p:cNvSpPr>
            <a:spLocks noChangeArrowheads="1"/>
          </p:cNvSpPr>
          <p:nvPr/>
        </p:nvSpPr>
        <p:spPr bwMode="auto">
          <a:xfrm>
            <a:off x="4701283" y="2155156"/>
            <a:ext cx="1497205"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spcBef>
                <a:spcPct val="20000"/>
              </a:spcBef>
              <a:buChar char="•"/>
              <a:defRPr kumimoji="1" sz="3200">
                <a:solidFill>
                  <a:schemeClr val="tx1"/>
                </a:solidFill>
                <a:latin typeface="Arial" panose="020B0604020202020204" pitchFamily="34" charset="0"/>
                <a:ea typeface="PMingLiU" panose="02020500000000000000" pitchFamily="18" charset="-120"/>
              </a:defRPr>
            </a:lvl1pPr>
            <a:lvl2pPr marL="742950" indent="-285750" eaLnBrk="0" hangingPunct="0">
              <a:spcBef>
                <a:spcPct val="20000"/>
              </a:spcBef>
              <a:buChar char="–"/>
              <a:defRPr kumimoji="1" sz="2800">
                <a:solidFill>
                  <a:schemeClr val="tx1"/>
                </a:solidFill>
                <a:latin typeface="Arial" panose="020B0604020202020204" pitchFamily="34" charset="0"/>
                <a:ea typeface="PMingLiU" panose="02020500000000000000" pitchFamily="18" charset="-120"/>
              </a:defRPr>
            </a:lvl2pPr>
            <a:lvl3pPr marL="1143000" indent="-228600" eaLnBrk="0" hangingPunct="0">
              <a:spcBef>
                <a:spcPct val="20000"/>
              </a:spcBef>
              <a:buChar char="•"/>
              <a:defRPr kumimoji="1" sz="2400">
                <a:solidFill>
                  <a:schemeClr val="tx1"/>
                </a:solidFill>
                <a:latin typeface="Arial" panose="020B0604020202020204" pitchFamily="34" charset="0"/>
                <a:ea typeface="PMingLiU" panose="02020500000000000000" pitchFamily="18" charset="-120"/>
              </a:defRPr>
            </a:lvl3pPr>
            <a:lvl4pPr marL="16002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4pPr>
            <a:lvl5pPr marL="20574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9pPr>
          </a:lstStyle>
          <a:p>
            <a:pPr>
              <a:spcBef>
                <a:spcPct val="0"/>
              </a:spcBef>
              <a:buFontTx/>
              <a:buNone/>
            </a:pPr>
            <a:r>
              <a:rPr kumimoji="0" lang="en-US" altLang="zh-TW" sz="1600" dirty="0">
                <a:latin typeface="Symbol" panose="05050102010706020507" pitchFamily="18" charset="2"/>
              </a:rPr>
              <a:t>TIM a/b</a:t>
            </a:r>
            <a:r>
              <a:rPr kumimoji="0" lang="en-US" altLang="zh-TW" sz="1600" dirty="0">
                <a:latin typeface="Times New Roman" panose="02020603050405020304" pitchFamily="18" charset="0"/>
              </a:rPr>
              <a:t>-Barrel</a:t>
            </a:r>
          </a:p>
        </p:txBody>
      </p:sp>
      <p:sp>
        <p:nvSpPr>
          <p:cNvPr id="47" name="Line 43">
            <a:extLst>
              <a:ext uri="{FF2B5EF4-FFF2-40B4-BE49-F238E27FC236}">
                <a16:creationId xmlns:a16="http://schemas.microsoft.com/office/drawing/2014/main" id="{85232CD8-87A4-4DAD-8446-EF6DF658D641}"/>
              </a:ext>
            </a:extLst>
          </p:cNvPr>
          <p:cNvSpPr>
            <a:spLocks noChangeShapeType="1"/>
          </p:cNvSpPr>
          <p:nvPr/>
        </p:nvSpPr>
        <p:spPr bwMode="auto">
          <a:xfrm>
            <a:off x="5150545" y="2472656"/>
            <a:ext cx="916646" cy="240241"/>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48" name="Line 44">
            <a:extLst>
              <a:ext uri="{FF2B5EF4-FFF2-40B4-BE49-F238E27FC236}">
                <a16:creationId xmlns:a16="http://schemas.microsoft.com/office/drawing/2014/main" id="{59A0B66F-573C-4588-81A1-2531CD008939}"/>
              </a:ext>
            </a:extLst>
          </p:cNvPr>
          <p:cNvSpPr>
            <a:spLocks noChangeShapeType="1"/>
          </p:cNvSpPr>
          <p:nvPr/>
        </p:nvSpPr>
        <p:spPr bwMode="auto">
          <a:xfrm flipH="1">
            <a:off x="4285358" y="2472656"/>
            <a:ext cx="865187" cy="28098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49" name="Line 45">
            <a:extLst>
              <a:ext uri="{FF2B5EF4-FFF2-40B4-BE49-F238E27FC236}">
                <a16:creationId xmlns:a16="http://schemas.microsoft.com/office/drawing/2014/main" id="{213E9FE5-4461-41A9-A29E-653DF790C277}"/>
              </a:ext>
            </a:extLst>
          </p:cNvPr>
          <p:cNvSpPr>
            <a:spLocks noChangeShapeType="1"/>
          </p:cNvSpPr>
          <p:nvPr/>
        </p:nvSpPr>
        <p:spPr bwMode="auto">
          <a:xfrm flipH="1">
            <a:off x="2553395" y="2472656"/>
            <a:ext cx="2597150" cy="28098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50" name="Line 46">
            <a:extLst>
              <a:ext uri="{FF2B5EF4-FFF2-40B4-BE49-F238E27FC236}">
                <a16:creationId xmlns:a16="http://schemas.microsoft.com/office/drawing/2014/main" id="{3DCE8168-1DD6-4121-8D55-4E9D1B70A424}"/>
              </a:ext>
            </a:extLst>
          </p:cNvPr>
          <p:cNvSpPr>
            <a:spLocks noChangeShapeType="1"/>
          </p:cNvSpPr>
          <p:nvPr/>
        </p:nvSpPr>
        <p:spPr bwMode="auto">
          <a:xfrm flipH="1">
            <a:off x="1427858" y="2472656"/>
            <a:ext cx="3722687" cy="28098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51" name="Rectangle 47">
            <a:extLst>
              <a:ext uri="{FF2B5EF4-FFF2-40B4-BE49-F238E27FC236}">
                <a16:creationId xmlns:a16="http://schemas.microsoft.com/office/drawing/2014/main" id="{DE272EA0-C261-4CBA-B4CF-290E64EE717A}"/>
              </a:ext>
            </a:extLst>
          </p:cNvPr>
          <p:cNvSpPr>
            <a:spLocks noChangeArrowheads="1"/>
          </p:cNvSpPr>
          <p:nvPr/>
        </p:nvSpPr>
        <p:spPr bwMode="auto">
          <a:xfrm>
            <a:off x="1739869" y="1608040"/>
            <a:ext cx="3127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spcBef>
                <a:spcPct val="20000"/>
              </a:spcBef>
              <a:buChar char="•"/>
              <a:defRPr kumimoji="1" sz="3200">
                <a:solidFill>
                  <a:schemeClr val="tx1"/>
                </a:solidFill>
                <a:latin typeface="Arial" panose="020B0604020202020204" pitchFamily="34" charset="0"/>
                <a:ea typeface="PMingLiU" panose="02020500000000000000" pitchFamily="18" charset="-120"/>
              </a:defRPr>
            </a:lvl1pPr>
            <a:lvl2pPr marL="742950" indent="-285750" eaLnBrk="0" hangingPunct="0">
              <a:spcBef>
                <a:spcPct val="20000"/>
              </a:spcBef>
              <a:buChar char="–"/>
              <a:defRPr kumimoji="1" sz="2800">
                <a:solidFill>
                  <a:schemeClr val="tx1"/>
                </a:solidFill>
                <a:latin typeface="Arial" panose="020B0604020202020204" pitchFamily="34" charset="0"/>
                <a:ea typeface="PMingLiU" panose="02020500000000000000" pitchFamily="18" charset="-120"/>
              </a:defRPr>
            </a:lvl2pPr>
            <a:lvl3pPr marL="1143000" indent="-228600" eaLnBrk="0" hangingPunct="0">
              <a:spcBef>
                <a:spcPct val="20000"/>
              </a:spcBef>
              <a:buChar char="•"/>
              <a:defRPr kumimoji="1" sz="2400">
                <a:solidFill>
                  <a:schemeClr val="tx1"/>
                </a:solidFill>
                <a:latin typeface="Arial" panose="020B0604020202020204" pitchFamily="34" charset="0"/>
                <a:ea typeface="PMingLiU" panose="02020500000000000000" pitchFamily="18" charset="-120"/>
              </a:defRPr>
            </a:lvl3pPr>
            <a:lvl4pPr marL="16002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4pPr>
            <a:lvl5pPr marL="20574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9pPr>
          </a:lstStyle>
          <a:p>
            <a:pPr>
              <a:spcBef>
                <a:spcPct val="0"/>
              </a:spcBef>
              <a:buFontTx/>
              <a:buNone/>
            </a:pPr>
            <a:r>
              <a:rPr kumimoji="0" lang="en-US" altLang="zh-TW" sz="1600" dirty="0">
                <a:latin typeface="Symbol" panose="05050102010706020507" pitchFamily="18" charset="2"/>
              </a:rPr>
              <a:t>a</a:t>
            </a:r>
          </a:p>
        </p:txBody>
      </p:sp>
      <p:sp>
        <p:nvSpPr>
          <p:cNvPr id="52" name="Rectangle 48">
            <a:extLst>
              <a:ext uri="{FF2B5EF4-FFF2-40B4-BE49-F238E27FC236}">
                <a16:creationId xmlns:a16="http://schemas.microsoft.com/office/drawing/2014/main" id="{2D883468-03BA-4EAB-932C-0A47FE315139}"/>
              </a:ext>
            </a:extLst>
          </p:cNvPr>
          <p:cNvSpPr>
            <a:spLocks noChangeArrowheads="1"/>
          </p:cNvSpPr>
          <p:nvPr/>
        </p:nvSpPr>
        <p:spPr bwMode="auto">
          <a:xfrm>
            <a:off x="2708970" y="1591593"/>
            <a:ext cx="2952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spcBef>
                <a:spcPct val="20000"/>
              </a:spcBef>
              <a:buChar char="•"/>
              <a:defRPr kumimoji="1" sz="3200">
                <a:solidFill>
                  <a:schemeClr val="tx1"/>
                </a:solidFill>
                <a:latin typeface="Arial" panose="020B0604020202020204" pitchFamily="34" charset="0"/>
                <a:ea typeface="PMingLiU" panose="02020500000000000000" pitchFamily="18" charset="-120"/>
              </a:defRPr>
            </a:lvl1pPr>
            <a:lvl2pPr marL="742950" indent="-285750" eaLnBrk="0" hangingPunct="0">
              <a:spcBef>
                <a:spcPct val="20000"/>
              </a:spcBef>
              <a:buChar char="–"/>
              <a:defRPr kumimoji="1" sz="2800">
                <a:solidFill>
                  <a:schemeClr val="tx1"/>
                </a:solidFill>
                <a:latin typeface="Arial" panose="020B0604020202020204" pitchFamily="34" charset="0"/>
                <a:ea typeface="PMingLiU" panose="02020500000000000000" pitchFamily="18" charset="-120"/>
              </a:defRPr>
            </a:lvl2pPr>
            <a:lvl3pPr marL="1143000" indent="-228600" eaLnBrk="0" hangingPunct="0">
              <a:spcBef>
                <a:spcPct val="20000"/>
              </a:spcBef>
              <a:buChar char="•"/>
              <a:defRPr kumimoji="1" sz="2400">
                <a:solidFill>
                  <a:schemeClr val="tx1"/>
                </a:solidFill>
                <a:latin typeface="Arial" panose="020B0604020202020204" pitchFamily="34" charset="0"/>
                <a:ea typeface="PMingLiU" panose="02020500000000000000" pitchFamily="18" charset="-120"/>
              </a:defRPr>
            </a:lvl3pPr>
            <a:lvl4pPr marL="16002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4pPr>
            <a:lvl5pPr marL="20574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9pPr>
          </a:lstStyle>
          <a:p>
            <a:pPr>
              <a:spcBef>
                <a:spcPct val="0"/>
              </a:spcBef>
              <a:buFontTx/>
              <a:buNone/>
            </a:pPr>
            <a:r>
              <a:rPr kumimoji="0" lang="en-US" altLang="zh-TW" sz="1600">
                <a:latin typeface="Symbol" panose="05050102010706020507" pitchFamily="18" charset="2"/>
              </a:rPr>
              <a:t>b</a:t>
            </a:r>
          </a:p>
        </p:txBody>
      </p:sp>
      <p:sp>
        <p:nvSpPr>
          <p:cNvPr id="53" name="Rectangle 49">
            <a:extLst>
              <a:ext uri="{FF2B5EF4-FFF2-40B4-BE49-F238E27FC236}">
                <a16:creationId xmlns:a16="http://schemas.microsoft.com/office/drawing/2014/main" id="{FBD35818-C09C-4262-92E8-43CAD83747F1}"/>
              </a:ext>
            </a:extLst>
          </p:cNvPr>
          <p:cNvSpPr>
            <a:spLocks noChangeArrowheads="1"/>
          </p:cNvSpPr>
          <p:nvPr/>
        </p:nvSpPr>
        <p:spPr bwMode="auto">
          <a:xfrm>
            <a:off x="3745608" y="1591593"/>
            <a:ext cx="4810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spcBef>
                <a:spcPct val="20000"/>
              </a:spcBef>
              <a:buChar char="•"/>
              <a:defRPr kumimoji="1" sz="3200">
                <a:solidFill>
                  <a:schemeClr val="tx1"/>
                </a:solidFill>
                <a:latin typeface="Arial" panose="020B0604020202020204" pitchFamily="34" charset="0"/>
                <a:ea typeface="PMingLiU" panose="02020500000000000000" pitchFamily="18" charset="-120"/>
              </a:defRPr>
            </a:lvl1pPr>
            <a:lvl2pPr marL="742950" indent="-285750" eaLnBrk="0" hangingPunct="0">
              <a:spcBef>
                <a:spcPct val="20000"/>
              </a:spcBef>
              <a:buChar char="–"/>
              <a:defRPr kumimoji="1" sz="2800">
                <a:solidFill>
                  <a:schemeClr val="tx1"/>
                </a:solidFill>
                <a:latin typeface="Arial" panose="020B0604020202020204" pitchFamily="34" charset="0"/>
                <a:ea typeface="PMingLiU" panose="02020500000000000000" pitchFamily="18" charset="-120"/>
              </a:defRPr>
            </a:lvl2pPr>
            <a:lvl3pPr marL="1143000" indent="-228600" eaLnBrk="0" hangingPunct="0">
              <a:spcBef>
                <a:spcPct val="20000"/>
              </a:spcBef>
              <a:buChar char="•"/>
              <a:defRPr kumimoji="1" sz="2400">
                <a:solidFill>
                  <a:schemeClr val="tx1"/>
                </a:solidFill>
                <a:latin typeface="Arial" panose="020B0604020202020204" pitchFamily="34" charset="0"/>
                <a:ea typeface="PMingLiU" panose="02020500000000000000" pitchFamily="18" charset="-120"/>
              </a:defRPr>
            </a:lvl3pPr>
            <a:lvl4pPr marL="16002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4pPr>
            <a:lvl5pPr marL="20574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9pPr>
          </a:lstStyle>
          <a:p>
            <a:pPr>
              <a:spcBef>
                <a:spcPct val="0"/>
              </a:spcBef>
              <a:buFontTx/>
              <a:buNone/>
            </a:pPr>
            <a:r>
              <a:rPr kumimoji="0" lang="en-US" altLang="zh-TW" sz="1600" dirty="0">
                <a:latin typeface="Symbol" panose="05050102010706020507" pitchFamily="18" charset="2"/>
              </a:rPr>
              <a:t>a/b</a:t>
            </a:r>
          </a:p>
        </p:txBody>
      </p:sp>
      <p:sp>
        <p:nvSpPr>
          <p:cNvPr id="54" name="Rectangle 50">
            <a:extLst>
              <a:ext uri="{FF2B5EF4-FFF2-40B4-BE49-F238E27FC236}">
                <a16:creationId xmlns:a16="http://schemas.microsoft.com/office/drawing/2014/main" id="{D94CA954-B950-47D0-95E9-4483C87B1D8D}"/>
              </a:ext>
            </a:extLst>
          </p:cNvPr>
          <p:cNvSpPr>
            <a:spLocks noChangeArrowheads="1"/>
          </p:cNvSpPr>
          <p:nvPr/>
        </p:nvSpPr>
        <p:spPr bwMode="auto">
          <a:xfrm>
            <a:off x="5044183" y="1591593"/>
            <a:ext cx="5349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spcBef>
                <a:spcPct val="20000"/>
              </a:spcBef>
              <a:buChar char="•"/>
              <a:defRPr kumimoji="1" sz="3200">
                <a:solidFill>
                  <a:schemeClr val="tx1"/>
                </a:solidFill>
                <a:latin typeface="Arial" panose="020B0604020202020204" pitchFamily="34" charset="0"/>
                <a:ea typeface="PMingLiU" panose="02020500000000000000" pitchFamily="18" charset="-120"/>
              </a:defRPr>
            </a:lvl1pPr>
            <a:lvl2pPr marL="742950" indent="-285750" eaLnBrk="0" hangingPunct="0">
              <a:spcBef>
                <a:spcPct val="20000"/>
              </a:spcBef>
              <a:buChar char="–"/>
              <a:defRPr kumimoji="1" sz="2800">
                <a:solidFill>
                  <a:schemeClr val="tx1"/>
                </a:solidFill>
                <a:latin typeface="Arial" panose="020B0604020202020204" pitchFamily="34" charset="0"/>
                <a:ea typeface="PMingLiU" panose="02020500000000000000" pitchFamily="18" charset="-120"/>
              </a:defRPr>
            </a:lvl2pPr>
            <a:lvl3pPr marL="1143000" indent="-228600" eaLnBrk="0" hangingPunct="0">
              <a:spcBef>
                <a:spcPct val="20000"/>
              </a:spcBef>
              <a:buChar char="•"/>
              <a:defRPr kumimoji="1" sz="2400">
                <a:solidFill>
                  <a:schemeClr val="tx1"/>
                </a:solidFill>
                <a:latin typeface="Arial" panose="020B0604020202020204" pitchFamily="34" charset="0"/>
                <a:ea typeface="PMingLiU" panose="02020500000000000000" pitchFamily="18" charset="-120"/>
              </a:defRPr>
            </a:lvl3pPr>
            <a:lvl4pPr marL="16002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4pPr>
            <a:lvl5pPr marL="20574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9pPr>
          </a:lstStyle>
          <a:p>
            <a:pPr>
              <a:spcBef>
                <a:spcPct val="0"/>
              </a:spcBef>
              <a:buFontTx/>
              <a:buNone/>
            </a:pPr>
            <a:r>
              <a:rPr kumimoji="0" lang="en-US" altLang="zh-TW" sz="1600">
                <a:latin typeface="Symbol" panose="05050102010706020507" pitchFamily="18" charset="2"/>
              </a:rPr>
              <a:t>a+b</a:t>
            </a:r>
          </a:p>
        </p:txBody>
      </p:sp>
      <p:sp>
        <p:nvSpPr>
          <p:cNvPr id="55" name="Line 51">
            <a:extLst>
              <a:ext uri="{FF2B5EF4-FFF2-40B4-BE49-F238E27FC236}">
                <a16:creationId xmlns:a16="http://schemas.microsoft.com/office/drawing/2014/main" id="{75856104-64EE-402A-982C-B5F1F3DDD83C}"/>
              </a:ext>
            </a:extLst>
          </p:cNvPr>
          <p:cNvSpPr>
            <a:spLocks noChangeShapeType="1"/>
          </p:cNvSpPr>
          <p:nvPr/>
        </p:nvSpPr>
        <p:spPr bwMode="auto">
          <a:xfrm flipH="1">
            <a:off x="1602483" y="1910681"/>
            <a:ext cx="2335212" cy="28098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56" name="Line 52">
            <a:extLst>
              <a:ext uri="{FF2B5EF4-FFF2-40B4-BE49-F238E27FC236}">
                <a16:creationId xmlns:a16="http://schemas.microsoft.com/office/drawing/2014/main" id="{3B28F890-22F2-4595-8041-5E42FD632249}"/>
              </a:ext>
            </a:extLst>
          </p:cNvPr>
          <p:cNvSpPr>
            <a:spLocks noChangeShapeType="1"/>
          </p:cNvSpPr>
          <p:nvPr/>
        </p:nvSpPr>
        <p:spPr bwMode="auto">
          <a:xfrm flipH="1">
            <a:off x="3418583" y="1910681"/>
            <a:ext cx="519112" cy="28098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57" name="Line 53">
            <a:extLst>
              <a:ext uri="{FF2B5EF4-FFF2-40B4-BE49-F238E27FC236}">
                <a16:creationId xmlns:a16="http://schemas.microsoft.com/office/drawing/2014/main" id="{72625B00-E19B-4E4E-9871-692031A99AA4}"/>
              </a:ext>
            </a:extLst>
          </p:cNvPr>
          <p:cNvSpPr>
            <a:spLocks noChangeShapeType="1"/>
          </p:cNvSpPr>
          <p:nvPr/>
        </p:nvSpPr>
        <p:spPr bwMode="auto">
          <a:xfrm>
            <a:off x="3937695" y="1910681"/>
            <a:ext cx="1298575" cy="28098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58" name="Rectangle 54">
            <a:extLst>
              <a:ext uri="{FF2B5EF4-FFF2-40B4-BE49-F238E27FC236}">
                <a16:creationId xmlns:a16="http://schemas.microsoft.com/office/drawing/2014/main" id="{ED112FCA-658D-4686-BA3F-4332C0C153D8}"/>
              </a:ext>
            </a:extLst>
          </p:cNvPr>
          <p:cNvSpPr>
            <a:spLocks noChangeArrowheads="1"/>
          </p:cNvSpPr>
          <p:nvPr/>
        </p:nvSpPr>
        <p:spPr bwMode="auto">
          <a:xfrm>
            <a:off x="3141760" y="945245"/>
            <a:ext cx="763029"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spcBef>
                <a:spcPct val="20000"/>
              </a:spcBef>
              <a:buChar char="•"/>
              <a:defRPr kumimoji="1" sz="3200">
                <a:solidFill>
                  <a:schemeClr val="tx1"/>
                </a:solidFill>
                <a:latin typeface="Arial" panose="020B0604020202020204" pitchFamily="34" charset="0"/>
                <a:ea typeface="PMingLiU" panose="02020500000000000000" pitchFamily="18" charset="-120"/>
              </a:defRPr>
            </a:lvl1pPr>
            <a:lvl2pPr marL="742950" indent="-285750" eaLnBrk="0" hangingPunct="0">
              <a:spcBef>
                <a:spcPct val="20000"/>
              </a:spcBef>
              <a:buChar char="–"/>
              <a:defRPr kumimoji="1" sz="2800">
                <a:solidFill>
                  <a:schemeClr val="tx1"/>
                </a:solidFill>
                <a:latin typeface="Arial" panose="020B0604020202020204" pitchFamily="34" charset="0"/>
                <a:ea typeface="PMingLiU" panose="02020500000000000000" pitchFamily="18" charset="-120"/>
              </a:defRPr>
            </a:lvl2pPr>
            <a:lvl3pPr marL="1143000" indent="-228600" eaLnBrk="0" hangingPunct="0">
              <a:spcBef>
                <a:spcPct val="20000"/>
              </a:spcBef>
              <a:buChar char="•"/>
              <a:defRPr kumimoji="1" sz="2400">
                <a:solidFill>
                  <a:schemeClr val="tx1"/>
                </a:solidFill>
                <a:latin typeface="Arial" panose="020B0604020202020204" pitchFamily="34" charset="0"/>
                <a:ea typeface="PMingLiU" panose="02020500000000000000" pitchFamily="18" charset="-120"/>
              </a:defRPr>
            </a:lvl3pPr>
            <a:lvl4pPr marL="16002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4pPr>
            <a:lvl5pPr marL="20574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9pPr>
          </a:lstStyle>
          <a:p>
            <a:pPr>
              <a:spcBef>
                <a:spcPct val="0"/>
              </a:spcBef>
              <a:buFontTx/>
              <a:buNone/>
            </a:pPr>
            <a:r>
              <a:rPr kumimoji="0" lang="en-US" altLang="zh-TW" sz="1800" dirty="0">
                <a:latin typeface="Times New Roman" panose="02020603050405020304" pitchFamily="18" charset="0"/>
              </a:rPr>
              <a:t>SCOP</a:t>
            </a:r>
          </a:p>
        </p:txBody>
      </p:sp>
      <p:sp>
        <p:nvSpPr>
          <p:cNvPr id="59" name="Line 55">
            <a:extLst>
              <a:ext uri="{FF2B5EF4-FFF2-40B4-BE49-F238E27FC236}">
                <a16:creationId xmlns:a16="http://schemas.microsoft.com/office/drawing/2014/main" id="{40EFFEE3-B96A-4445-9A34-10DE210EEFC9}"/>
              </a:ext>
            </a:extLst>
          </p:cNvPr>
          <p:cNvSpPr>
            <a:spLocks noChangeShapeType="1"/>
          </p:cNvSpPr>
          <p:nvPr/>
        </p:nvSpPr>
        <p:spPr bwMode="auto">
          <a:xfrm flipH="1">
            <a:off x="2011693" y="1348706"/>
            <a:ext cx="1494201" cy="369888"/>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60" name="Line 56">
            <a:extLst>
              <a:ext uri="{FF2B5EF4-FFF2-40B4-BE49-F238E27FC236}">
                <a16:creationId xmlns:a16="http://schemas.microsoft.com/office/drawing/2014/main" id="{A3633C8A-8DE5-4432-BF2C-1E75864175B8}"/>
              </a:ext>
            </a:extLst>
          </p:cNvPr>
          <p:cNvSpPr>
            <a:spLocks noChangeShapeType="1"/>
          </p:cNvSpPr>
          <p:nvPr/>
        </p:nvSpPr>
        <p:spPr bwMode="auto">
          <a:xfrm flipH="1">
            <a:off x="2897883" y="1348706"/>
            <a:ext cx="608012" cy="28098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61" name="Line 57">
            <a:extLst>
              <a:ext uri="{FF2B5EF4-FFF2-40B4-BE49-F238E27FC236}">
                <a16:creationId xmlns:a16="http://schemas.microsoft.com/office/drawing/2014/main" id="{9892F1E8-2F6C-49A3-A933-8104191034B9}"/>
              </a:ext>
            </a:extLst>
          </p:cNvPr>
          <p:cNvSpPr>
            <a:spLocks noChangeShapeType="1"/>
          </p:cNvSpPr>
          <p:nvPr/>
        </p:nvSpPr>
        <p:spPr bwMode="auto">
          <a:xfrm>
            <a:off x="3505895" y="1348706"/>
            <a:ext cx="519113" cy="28098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62" name="Line 58">
            <a:extLst>
              <a:ext uri="{FF2B5EF4-FFF2-40B4-BE49-F238E27FC236}">
                <a16:creationId xmlns:a16="http://schemas.microsoft.com/office/drawing/2014/main" id="{1FEF312B-4695-4288-862B-E9999FFEFC16}"/>
              </a:ext>
            </a:extLst>
          </p:cNvPr>
          <p:cNvSpPr>
            <a:spLocks noChangeShapeType="1"/>
          </p:cNvSpPr>
          <p:nvPr/>
        </p:nvSpPr>
        <p:spPr bwMode="auto">
          <a:xfrm>
            <a:off x="3505895" y="1348706"/>
            <a:ext cx="1816100" cy="28098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63" name="Rectangle 59">
            <a:extLst>
              <a:ext uri="{FF2B5EF4-FFF2-40B4-BE49-F238E27FC236}">
                <a16:creationId xmlns:a16="http://schemas.microsoft.com/office/drawing/2014/main" id="{2DB665D1-F2C7-4016-A1C9-DC0FEB015EA3}"/>
              </a:ext>
            </a:extLst>
          </p:cNvPr>
          <p:cNvSpPr>
            <a:spLocks noChangeArrowheads="1"/>
          </p:cNvSpPr>
          <p:nvPr/>
        </p:nvSpPr>
        <p:spPr bwMode="auto">
          <a:xfrm>
            <a:off x="6918657" y="1029618"/>
            <a:ext cx="6016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spcBef>
                <a:spcPct val="20000"/>
              </a:spcBef>
              <a:buChar char="•"/>
              <a:defRPr kumimoji="1" sz="3200">
                <a:solidFill>
                  <a:schemeClr val="tx1"/>
                </a:solidFill>
                <a:latin typeface="Arial" panose="020B0604020202020204" pitchFamily="34" charset="0"/>
                <a:ea typeface="PMingLiU" panose="02020500000000000000" pitchFamily="18" charset="-120"/>
              </a:defRPr>
            </a:lvl1pPr>
            <a:lvl2pPr marL="742950" indent="-285750" eaLnBrk="0" hangingPunct="0">
              <a:spcBef>
                <a:spcPct val="20000"/>
              </a:spcBef>
              <a:buChar char="–"/>
              <a:defRPr kumimoji="1" sz="2800">
                <a:solidFill>
                  <a:schemeClr val="tx1"/>
                </a:solidFill>
                <a:latin typeface="Arial" panose="020B0604020202020204" pitchFamily="34" charset="0"/>
                <a:ea typeface="PMingLiU" panose="02020500000000000000" pitchFamily="18" charset="-120"/>
              </a:defRPr>
            </a:lvl2pPr>
            <a:lvl3pPr marL="1143000" indent="-228600" eaLnBrk="0" hangingPunct="0">
              <a:spcBef>
                <a:spcPct val="20000"/>
              </a:spcBef>
              <a:buChar char="•"/>
              <a:defRPr kumimoji="1" sz="2400">
                <a:solidFill>
                  <a:schemeClr val="tx1"/>
                </a:solidFill>
                <a:latin typeface="Arial" panose="020B0604020202020204" pitchFamily="34" charset="0"/>
                <a:ea typeface="PMingLiU" panose="02020500000000000000" pitchFamily="18" charset="-120"/>
              </a:defRPr>
            </a:lvl3pPr>
            <a:lvl4pPr marL="16002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4pPr>
            <a:lvl5pPr marL="20574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9pPr>
          </a:lstStyle>
          <a:p>
            <a:pPr>
              <a:spcBef>
                <a:spcPct val="0"/>
              </a:spcBef>
              <a:buFontTx/>
              <a:buNone/>
            </a:pPr>
            <a:r>
              <a:rPr kumimoji="0" lang="en-US" altLang="zh-TW" sz="1600" b="1" dirty="0">
                <a:latin typeface="Times New Roman" panose="02020603050405020304" pitchFamily="18" charset="0"/>
              </a:rPr>
              <a:t>Root</a:t>
            </a:r>
          </a:p>
        </p:txBody>
      </p:sp>
      <p:sp>
        <p:nvSpPr>
          <p:cNvPr id="64" name="Rectangle 60">
            <a:extLst>
              <a:ext uri="{FF2B5EF4-FFF2-40B4-BE49-F238E27FC236}">
                <a16:creationId xmlns:a16="http://schemas.microsoft.com/office/drawing/2014/main" id="{FD36F207-2AF2-468C-ABA4-369AB8210966}"/>
              </a:ext>
            </a:extLst>
          </p:cNvPr>
          <p:cNvSpPr>
            <a:spLocks noChangeArrowheads="1"/>
          </p:cNvSpPr>
          <p:nvPr/>
        </p:nvSpPr>
        <p:spPr bwMode="auto">
          <a:xfrm>
            <a:off x="6918657" y="1591593"/>
            <a:ext cx="6477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spcBef>
                <a:spcPct val="20000"/>
              </a:spcBef>
              <a:buChar char="•"/>
              <a:defRPr kumimoji="1" sz="3200">
                <a:solidFill>
                  <a:schemeClr val="tx1"/>
                </a:solidFill>
                <a:latin typeface="Arial" panose="020B0604020202020204" pitchFamily="34" charset="0"/>
                <a:ea typeface="PMingLiU" panose="02020500000000000000" pitchFamily="18" charset="-120"/>
              </a:defRPr>
            </a:lvl1pPr>
            <a:lvl2pPr marL="742950" indent="-285750" eaLnBrk="0" hangingPunct="0">
              <a:spcBef>
                <a:spcPct val="20000"/>
              </a:spcBef>
              <a:buChar char="–"/>
              <a:defRPr kumimoji="1" sz="2800">
                <a:solidFill>
                  <a:schemeClr val="tx1"/>
                </a:solidFill>
                <a:latin typeface="Arial" panose="020B0604020202020204" pitchFamily="34" charset="0"/>
                <a:ea typeface="PMingLiU" panose="02020500000000000000" pitchFamily="18" charset="-120"/>
              </a:defRPr>
            </a:lvl2pPr>
            <a:lvl3pPr marL="1143000" indent="-228600" eaLnBrk="0" hangingPunct="0">
              <a:spcBef>
                <a:spcPct val="20000"/>
              </a:spcBef>
              <a:buChar char="•"/>
              <a:defRPr kumimoji="1" sz="2400">
                <a:solidFill>
                  <a:schemeClr val="tx1"/>
                </a:solidFill>
                <a:latin typeface="Arial" panose="020B0604020202020204" pitchFamily="34" charset="0"/>
                <a:ea typeface="PMingLiU" panose="02020500000000000000" pitchFamily="18" charset="-120"/>
              </a:defRPr>
            </a:lvl3pPr>
            <a:lvl4pPr marL="16002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4pPr>
            <a:lvl5pPr marL="20574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9pPr>
          </a:lstStyle>
          <a:p>
            <a:pPr>
              <a:spcBef>
                <a:spcPct val="0"/>
              </a:spcBef>
              <a:buFontTx/>
              <a:buNone/>
            </a:pPr>
            <a:r>
              <a:rPr kumimoji="0" lang="en-US" altLang="zh-TW" sz="1600" b="1" dirty="0">
                <a:latin typeface="Times New Roman" panose="02020603050405020304" pitchFamily="18" charset="0"/>
              </a:rPr>
              <a:t>Class</a:t>
            </a:r>
          </a:p>
        </p:txBody>
      </p:sp>
      <p:sp>
        <p:nvSpPr>
          <p:cNvPr id="65" name="Rectangle 61">
            <a:extLst>
              <a:ext uri="{FF2B5EF4-FFF2-40B4-BE49-F238E27FC236}">
                <a16:creationId xmlns:a16="http://schemas.microsoft.com/office/drawing/2014/main" id="{3156D2A9-5919-4882-87F7-85D1EC80D6E1}"/>
              </a:ext>
            </a:extLst>
          </p:cNvPr>
          <p:cNvSpPr>
            <a:spLocks noChangeArrowheads="1"/>
          </p:cNvSpPr>
          <p:nvPr/>
        </p:nvSpPr>
        <p:spPr bwMode="auto">
          <a:xfrm>
            <a:off x="6918657" y="2155156"/>
            <a:ext cx="5794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spcBef>
                <a:spcPct val="20000"/>
              </a:spcBef>
              <a:buChar char="•"/>
              <a:defRPr kumimoji="1" sz="3200">
                <a:solidFill>
                  <a:schemeClr val="tx1"/>
                </a:solidFill>
                <a:latin typeface="Arial" panose="020B0604020202020204" pitchFamily="34" charset="0"/>
                <a:ea typeface="PMingLiU" panose="02020500000000000000" pitchFamily="18" charset="-120"/>
              </a:defRPr>
            </a:lvl1pPr>
            <a:lvl2pPr marL="742950" indent="-285750" eaLnBrk="0" hangingPunct="0">
              <a:spcBef>
                <a:spcPct val="20000"/>
              </a:spcBef>
              <a:buChar char="–"/>
              <a:defRPr kumimoji="1" sz="2800">
                <a:solidFill>
                  <a:schemeClr val="tx1"/>
                </a:solidFill>
                <a:latin typeface="Arial" panose="020B0604020202020204" pitchFamily="34" charset="0"/>
                <a:ea typeface="PMingLiU" panose="02020500000000000000" pitchFamily="18" charset="-120"/>
              </a:defRPr>
            </a:lvl2pPr>
            <a:lvl3pPr marL="1143000" indent="-228600" eaLnBrk="0" hangingPunct="0">
              <a:spcBef>
                <a:spcPct val="20000"/>
              </a:spcBef>
              <a:buChar char="•"/>
              <a:defRPr kumimoji="1" sz="2400">
                <a:solidFill>
                  <a:schemeClr val="tx1"/>
                </a:solidFill>
                <a:latin typeface="Arial" panose="020B0604020202020204" pitchFamily="34" charset="0"/>
                <a:ea typeface="PMingLiU" panose="02020500000000000000" pitchFamily="18" charset="-120"/>
              </a:defRPr>
            </a:lvl3pPr>
            <a:lvl4pPr marL="16002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4pPr>
            <a:lvl5pPr marL="20574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9pPr>
          </a:lstStyle>
          <a:p>
            <a:pPr>
              <a:spcBef>
                <a:spcPct val="0"/>
              </a:spcBef>
              <a:buFontTx/>
              <a:buNone/>
            </a:pPr>
            <a:r>
              <a:rPr kumimoji="0" lang="en-US" altLang="zh-TW" sz="1600" b="1" dirty="0">
                <a:latin typeface="Times New Roman" panose="02020603050405020304" pitchFamily="18" charset="0"/>
              </a:rPr>
              <a:t>Fold</a:t>
            </a:r>
          </a:p>
        </p:txBody>
      </p:sp>
      <p:sp>
        <p:nvSpPr>
          <p:cNvPr id="66" name="Rectangle 62">
            <a:extLst>
              <a:ext uri="{FF2B5EF4-FFF2-40B4-BE49-F238E27FC236}">
                <a16:creationId xmlns:a16="http://schemas.microsoft.com/office/drawing/2014/main" id="{A10CDD2D-66B4-4B19-9C29-978963E26AD8}"/>
              </a:ext>
            </a:extLst>
          </p:cNvPr>
          <p:cNvSpPr>
            <a:spLocks noChangeArrowheads="1"/>
          </p:cNvSpPr>
          <p:nvPr/>
        </p:nvSpPr>
        <p:spPr bwMode="auto">
          <a:xfrm>
            <a:off x="6918657" y="2717131"/>
            <a:ext cx="12588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spcBef>
                <a:spcPct val="20000"/>
              </a:spcBef>
              <a:buChar char="•"/>
              <a:defRPr kumimoji="1" sz="3200">
                <a:solidFill>
                  <a:schemeClr val="tx1"/>
                </a:solidFill>
                <a:latin typeface="Arial" panose="020B0604020202020204" pitchFamily="34" charset="0"/>
                <a:ea typeface="PMingLiU" panose="02020500000000000000" pitchFamily="18" charset="-120"/>
              </a:defRPr>
            </a:lvl1pPr>
            <a:lvl2pPr marL="742950" indent="-285750" eaLnBrk="0" hangingPunct="0">
              <a:spcBef>
                <a:spcPct val="20000"/>
              </a:spcBef>
              <a:buChar char="–"/>
              <a:defRPr kumimoji="1" sz="2800">
                <a:solidFill>
                  <a:schemeClr val="tx1"/>
                </a:solidFill>
                <a:latin typeface="Arial" panose="020B0604020202020204" pitchFamily="34" charset="0"/>
                <a:ea typeface="PMingLiU" panose="02020500000000000000" pitchFamily="18" charset="-120"/>
              </a:defRPr>
            </a:lvl2pPr>
            <a:lvl3pPr marL="1143000" indent="-228600" eaLnBrk="0" hangingPunct="0">
              <a:spcBef>
                <a:spcPct val="20000"/>
              </a:spcBef>
              <a:buChar char="•"/>
              <a:defRPr kumimoji="1" sz="2400">
                <a:solidFill>
                  <a:schemeClr val="tx1"/>
                </a:solidFill>
                <a:latin typeface="Arial" panose="020B0604020202020204" pitchFamily="34" charset="0"/>
                <a:ea typeface="PMingLiU" panose="02020500000000000000" pitchFamily="18" charset="-120"/>
              </a:defRPr>
            </a:lvl3pPr>
            <a:lvl4pPr marL="16002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4pPr>
            <a:lvl5pPr marL="20574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9pPr>
          </a:lstStyle>
          <a:p>
            <a:pPr>
              <a:spcBef>
                <a:spcPct val="0"/>
              </a:spcBef>
              <a:buFontTx/>
              <a:buNone/>
            </a:pPr>
            <a:r>
              <a:rPr kumimoji="0" lang="en-US" altLang="zh-TW" sz="1600" b="1" dirty="0">
                <a:latin typeface="Times New Roman" panose="02020603050405020304" pitchFamily="18" charset="0"/>
              </a:rPr>
              <a:t>Superfamily</a:t>
            </a:r>
          </a:p>
        </p:txBody>
      </p:sp>
      <p:sp>
        <p:nvSpPr>
          <p:cNvPr id="67" name="Rectangle 63">
            <a:extLst>
              <a:ext uri="{FF2B5EF4-FFF2-40B4-BE49-F238E27FC236}">
                <a16:creationId xmlns:a16="http://schemas.microsoft.com/office/drawing/2014/main" id="{DEF4BF71-C920-4F40-A4F7-4E80AEDE8509}"/>
              </a:ext>
            </a:extLst>
          </p:cNvPr>
          <p:cNvSpPr>
            <a:spLocks noChangeArrowheads="1"/>
          </p:cNvSpPr>
          <p:nvPr/>
        </p:nvSpPr>
        <p:spPr bwMode="auto">
          <a:xfrm>
            <a:off x="6918657" y="3279106"/>
            <a:ext cx="7953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spcBef>
                <a:spcPct val="20000"/>
              </a:spcBef>
              <a:buChar char="•"/>
              <a:defRPr kumimoji="1" sz="3200">
                <a:solidFill>
                  <a:schemeClr val="tx1"/>
                </a:solidFill>
                <a:latin typeface="Arial" panose="020B0604020202020204" pitchFamily="34" charset="0"/>
                <a:ea typeface="PMingLiU" panose="02020500000000000000" pitchFamily="18" charset="-120"/>
              </a:defRPr>
            </a:lvl1pPr>
            <a:lvl2pPr marL="742950" indent="-285750" eaLnBrk="0" hangingPunct="0">
              <a:spcBef>
                <a:spcPct val="20000"/>
              </a:spcBef>
              <a:buChar char="–"/>
              <a:defRPr kumimoji="1" sz="2800">
                <a:solidFill>
                  <a:schemeClr val="tx1"/>
                </a:solidFill>
                <a:latin typeface="Arial" panose="020B0604020202020204" pitchFamily="34" charset="0"/>
                <a:ea typeface="PMingLiU" panose="02020500000000000000" pitchFamily="18" charset="-120"/>
              </a:defRPr>
            </a:lvl2pPr>
            <a:lvl3pPr marL="1143000" indent="-228600" eaLnBrk="0" hangingPunct="0">
              <a:spcBef>
                <a:spcPct val="20000"/>
              </a:spcBef>
              <a:buChar char="•"/>
              <a:defRPr kumimoji="1" sz="2400">
                <a:solidFill>
                  <a:schemeClr val="tx1"/>
                </a:solidFill>
                <a:latin typeface="Arial" panose="020B0604020202020204" pitchFamily="34" charset="0"/>
                <a:ea typeface="PMingLiU" panose="02020500000000000000" pitchFamily="18" charset="-120"/>
              </a:defRPr>
            </a:lvl3pPr>
            <a:lvl4pPr marL="16002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4pPr>
            <a:lvl5pPr marL="20574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9pPr>
          </a:lstStyle>
          <a:p>
            <a:pPr>
              <a:spcBef>
                <a:spcPct val="0"/>
              </a:spcBef>
              <a:buFontTx/>
              <a:buNone/>
            </a:pPr>
            <a:r>
              <a:rPr kumimoji="0" lang="en-US" altLang="zh-TW" sz="1600" b="1" dirty="0">
                <a:latin typeface="Times New Roman" panose="02020603050405020304" pitchFamily="18" charset="0"/>
              </a:rPr>
              <a:t>Family</a:t>
            </a:r>
          </a:p>
        </p:txBody>
      </p:sp>
      <p:sp>
        <p:nvSpPr>
          <p:cNvPr id="68" name="Rectangle 64">
            <a:extLst>
              <a:ext uri="{FF2B5EF4-FFF2-40B4-BE49-F238E27FC236}">
                <a16:creationId xmlns:a16="http://schemas.microsoft.com/office/drawing/2014/main" id="{53B86EAA-E282-4D1E-A653-DB3C9E5F3BD7}"/>
              </a:ext>
            </a:extLst>
          </p:cNvPr>
          <p:cNvSpPr>
            <a:spLocks noChangeArrowheads="1"/>
          </p:cNvSpPr>
          <p:nvPr/>
        </p:nvSpPr>
        <p:spPr bwMode="auto">
          <a:xfrm>
            <a:off x="6918657" y="3839493"/>
            <a:ext cx="8286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spcBef>
                <a:spcPct val="20000"/>
              </a:spcBef>
              <a:buChar char="•"/>
              <a:defRPr kumimoji="1" sz="3200">
                <a:solidFill>
                  <a:schemeClr val="tx1"/>
                </a:solidFill>
                <a:latin typeface="Arial" panose="020B0604020202020204" pitchFamily="34" charset="0"/>
                <a:ea typeface="PMingLiU" panose="02020500000000000000" pitchFamily="18" charset="-120"/>
              </a:defRPr>
            </a:lvl1pPr>
            <a:lvl2pPr marL="742950" indent="-285750" eaLnBrk="0" hangingPunct="0">
              <a:spcBef>
                <a:spcPct val="20000"/>
              </a:spcBef>
              <a:buChar char="–"/>
              <a:defRPr kumimoji="1" sz="2800">
                <a:solidFill>
                  <a:schemeClr val="tx1"/>
                </a:solidFill>
                <a:latin typeface="Arial" panose="020B0604020202020204" pitchFamily="34" charset="0"/>
                <a:ea typeface="PMingLiU" panose="02020500000000000000" pitchFamily="18" charset="-120"/>
              </a:defRPr>
            </a:lvl2pPr>
            <a:lvl3pPr marL="1143000" indent="-228600" eaLnBrk="0" hangingPunct="0">
              <a:spcBef>
                <a:spcPct val="20000"/>
              </a:spcBef>
              <a:buChar char="•"/>
              <a:defRPr kumimoji="1" sz="2400">
                <a:solidFill>
                  <a:schemeClr val="tx1"/>
                </a:solidFill>
                <a:latin typeface="Arial" panose="020B0604020202020204" pitchFamily="34" charset="0"/>
                <a:ea typeface="PMingLiU" panose="02020500000000000000" pitchFamily="18" charset="-120"/>
              </a:defRPr>
            </a:lvl3pPr>
            <a:lvl4pPr marL="16002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4pPr>
            <a:lvl5pPr marL="20574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9pPr>
          </a:lstStyle>
          <a:p>
            <a:pPr>
              <a:spcBef>
                <a:spcPct val="0"/>
              </a:spcBef>
              <a:buFontTx/>
              <a:buNone/>
            </a:pPr>
            <a:r>
              <a:rPr kumimoji="0" lang="en-US" altLang="zh-TW" sz="1600" b="1">
                <a:latin typeface="Times New Roman" panose="02020603050405020304" pitchFamily="18" charset="0"/>
              </a:rPr>
              <a:t>Protein</a:t>
            </a:r>
          </a:p>
        </p:txBody>
      </p:sp>
      <p:sp>
        <p:nvSpPr>
          <p:cNvPr id="72" name="Text Box 68">
            <a:extLst>
              <a:ext uri="{FF2B5EF4-FFF2-40B4-BE49-F238E27FC236}">
                <a16:creationId xmlns:a16="http://schemas.microsoft.com/office/drawing/2014/main" id="{B4893A06-62E8-496A-BBE3-580A28EEE41F}"/>
              </a:ext>
            </a:extLst>
          </p:cNvPr>
          <p:cNvSpPr txBox="1">
            <a:spLocks noChangeArrowheads="1"/>
          </p:cNvSpPr>
          <p:nvPr/>
        </p:nvSpPr>
        <p:spPr bwMode="auto">
          <a:xfrm>
            <a:off x="220632" y="1313492"/>
            <a:ext cx="207614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Arial" panose="020B0604020202020204" pitchFamily="34" charset="0"/>
                <a:ea typeface="PMingLiU" panose="02020500000000000000" pitchFamily="18" charset="-120"/>
              </a:defRPr>
            </a:lvl1pPr>
            <a:lvl2pPr marL="742950" indent="-285750" eaLnBrk="0" hangingPunct="0">
              <a:spcBef>
                <a:spcPct val="20000"/>
              </a:spcBef>
              <a:buChar char="–"/>
              <a:defRPr kumimoji="1" sz="2800">
                <a:solidFill>
                  <a:schemeClr val="tx1"/>
                </a:solidFill>
                <a:latin typeface="Arial" panose="020B0604020202020204" pitchFamily="34" charset="0"/>
                <a:ea typeface="PMingLiU" panose="02020500000000000000" pitchFamily="18" charset="-120"/>
              </a:defRPr>
            </a:lvl2pPr>
            <a:lvl3pPr marL="1143000" indent="-228600" eaLnBrk="0" hangingPunct="0">
              <a:spcBef>
                <a:spcPct val="20000"/>
              </a:spcBef>
              <a:buChar char="•"/>
              <a:defRPr kumimoji="1" sz="2400">
                <a:solidFill>
                  <a:schemeClr val="tx1"/>
                </a:solidFill>
                <a:latin typeface="Arial" panose="020B0604020202020204" pitchFamily="34" charset="0"/>
                <a:ea typeface="PMingLiU" panose="02020500000000000000" pitchFamily="18" charset="-120"/>
              </a:defRPr>
            </a:lvl3pPr>
            <a:lvl4pPr marL="16002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4pPr>
            <a:lvl5pPr marL="20574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9pPr>
          </a:lstStyle>
          <a:p>
            <a:pPr eaLnBrk="1" hangingPunct="1">
              <a:spcBef>
                <a:spcPct val="0"/>
              </a:spcBef>
              <a:buFontTx/>
              <a:buNone/>
            </a:pPr>
            <a:r>
              <a:rPr kumimoji="0" lang="en-US" altLang="zh-TW" sz="1400" b="1" dirty="0">
                <a:latin typeface="Times New Roman" panose="02020603050405020304" pitchFamily="18" charset="0"/>
              </a:rPr>
              <a:t>Determined by structure</a:t>
            </a:r>
          </a:p>
        </p:txBody>
      </p:sp>
      <p:sp>
        <p:nvSpPr>
          <p:cNvPr id="73" name="Text Box 69">
            <a:extLst>
              <a:ext uri="{FF2B5EF4-FFF2-40B4-BE49-F238E27FC236}">
                <a16:creationId xmlns:a16="http://schemas.microsoft.com/office/drawing/2014/main" id="{1D0B1F68-E7F8-4D8B-A310-54D59D1D29E6}"/>
              </a:ext>
            </a:extLst>
          </p:cNvPr>
          <p:cNvSpPr txBox="1">
            <a:spLocks noChangeArrowheads="1"/>
          </p:cNvSpPr>
          <p:nvPr/>
        </p:nvSpPr>
        <p:spPr bwMode="auto">
          <a:xfrm>
            <a:off x="657555" y="4943211"/>
            <a:ext cx="17827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Arial" panose="020B0604020202020204" pitchFamily="34" charset="0"/>
                <a:ea typeface="PMingLiU" panose="02020500000000000000" pitchFamily="18" charset="-120"/>
              </a:defRPr>
            </a:lvl1pPr>
            <a:lvl2pPr marL="742950" indent="-285750" eaLnBrk="0" hangingPunct="0">
              <a:spcBef>
                <a:spcPct val="20000"/>
              </a:spcBef>
              <a:buChar char="–"/>
              <a:defRPr kumimoji="1" sz="2800">
                <a:solidFill>
                  <a:schemeClr val="tx1"/>
                </a:solidFill>
                <a:latin typeface="Arial" panose="020B0604020202020204" pitchFamily="34" charset="0"/>
                <a:ea typeface="PMingLiU" panose="02020500000000000000" pitchFamily="18" charset="-120"/>
              </a:defRPr>
            </a:lvl2pPr>
            <a:lvl3pPr marL="1143000" indent="-228600" eaLnBrk="0" hangingPunct="0">
              <a:spcBef>
                <a:spcPct val="20000"/>
              </a:spcBef>
              <a:buChar char="•"/>
              <a:defRPr kumimoji="1" sz="2400">
                <a:solidFill>
                  <a:schemeClr val="tx1"/>
                </a:solidFill>
                <a:latin typeface="Arial" panose="020B0604020202020204" pitchFamily="34" charset="0"/>
                <a:ea typeface="PMingLiU" panose="02020500000000000000" pitchFamily="18" charset="-120"/>
              </a:defRPr>
            </a:lvl3pPr>
            <a:lvl4pPr marL="16002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4pPr>
            <a:lvl5pPr marL="20574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9pPr>
          </a:lstStyle>
          <a:p>
            <a:pPr eaLnBrk="1" hangingPunct="1">
              <a:spcBef>
                <a:spcPct val="0"/>
              </a:spcBef>
              <a:buFontTx/>
              <a:buNone/>
            </a:pPr>
            <a:r>
              <a:rPr kumimoji="0" lang="en-US" altLang="zh-TW" sz="1400" b="1" dirty="0">
                <a:latin typeface="Times New Roman" panose="02020603050405020304" pitchFamily="18" charset="0"/>
              </a:rPr>
              <a:t>Related by homology</a:t>
            </a:r>
          </a:p>
        </p:txBody>
      </p:sp>
      <p:sp>
        <p:nvSpPr>
          <p:cNvPr id="4" name="矩形 3">
            <a:extLst>
              <a:ext uri="{FF2B5EF4-FFF2-40B4-BE49-F238E27FC236}">
                <a16:creationId xmlns:a16="http://schemas.microsoft.com/office/drawing/2014/main" id="{2BC2C18E-BCD4-4AAD-99A3-5CB215900D9D}"/>
              </a:ext>
            </a:extLst>
          </p:cNvPr>
          <p:cNvSpPr/>
          <p:nvPr/>
        </p:nvSpPr>
        <p:spPr>
          <a:xfrm>
            <a:off x="690167" y="5895973"/>
            <a:ext cx="7690545" cy="738664"/>
          </a:xfrm>
          <a:prstGeom prst="rect">
            <a:avLst/>
          </a:prstGeom>
        </p:spPr>
        <p:txBody>
          <a:bodyPr wrap="square">
            <a:spAutoFit/>
          </a:bodyPr>
          <a:lstStyle/>
          <a:p>
            <a:r>
              <a:rPr lang="zh-TW" altLang="en-US" sz="1400" dirty="0">
                <a:latin typeface="Times New Roman" panose="02020603050405020304" pitchFamily="18" charset="0"/>
                <a:cs typeface="Times New Roman" panose="02020603050405020304" pitchFamily="18" charset="0"/>
              </a:rPr>
              <a:t>Fox NK, Brenner SE, Chandonia JM. 2014. SCOPe: Structural Classification of Proteins—extended, integrating SCOP and ASTRAL data and classification of new structures. Nucleic Acids Research 42:D304-309.</a:t>
            </a:r>
          </a:p>
        </p:txBody>
      </p:sp>
      <p:sp>
        <p:nvSpPr>
          <p:cNvPr id="74" name="矩形 73">
            <a:extLst>
              <a:ext uri="{FF2B5EF4-FFF2-40B4-BE49-F238E27FC236}">
                <a16:creationId xmlns:a16="http://schemas.microsoft.com/office/drawing/2014/main" id="{193FFF43-3EA1-4BDB-AE26-9C33130122E2}"/>
              </a:ext>
            </a:extLst>
          </p:cNvPr>
          <p:cNvSpPr/>
          <p:nvPr/>
        </p:nvSpPr>
        <p:spPr>
          <a:xfrm>
            <a:off x="4119117" y="1492027"/>
            <a:ext cx="320922" cy="461665"/>
          </a:xfrm>
          <a:prstGeom prst="rect">
            <a:avLst/>
          </a:prstGeom>
        </p:spPr>
        <p:txBody>
          <a:bodyPr wrap="none">
            <a:spAutoFit/>
          </a:bodyPr>
          <a:lstStyle/>
          <a:p>
            <a:pPr>
              <a:spcBef>
                <a:spcPct val="0"/>
              </a:spcBef>
            </a:pPr>
            <a:r>
              <a:rPr lang="en-US" altLang="zh-TW" sz="2400" b="1" dirty="0">
                <a:solidFill>
                  <a:srgbClr val="FF0000"/>
                </a:solidFill>
                <a:latin typeface="Times New Roman" panose="02020603050405020304" pitchFamily="18" charset="0"/>
                <a:cs typeface="Times New Roman" panose="02020603050405020304" pitchFamily="18" charset="0"/>
              </a:rPr>
              <a:t>c</a:t>
            </a:r>
            <a:endParaRPr lang="zh-TW" altLang="en-US" sz="2400" b="1" dirty="0">
              <a:solidFill>
                <a:srgbClr val="FF0000"/>
              </a:solidFill>
              <a:latin typeface="Times New Roman" panose="02020603050405020304" pitchFamily="18" charset="0"/>
              <a:cs typeface="Times New Roman" panose="02020603050405020304" pitchFamily="18" charset="0"/>
            </a:endParaRPr>
          </a:p>
        </p:txBody>
      </p:sp>
      <p:sp>
        <p:nvSpPr>
          <p:cNvPr id="75" name="矩形 74">
            <a:extLst>
              <a:ext uri="{FF2B5EF4-FFF2-40B4-BE49-F238E27FC236}">
                <a16:creationId xmlns:a16="http://schemas.microsoft.com/office/drawing/2014/main" id="{00DD8086-17EE-4C1A-AC1E-643B3F99F4D7}"/>
              </a:ext>
            </a:extLst>
          </p:cNvPr>
          <p:cNvSpPr/>
          <p:nvPr/>
        </p:nvSpPr>
        <p:spPr>
          <a:xfrm>
            <a:off x="6042997" y="2063819"/>
            <a:ext cx="551754" cy="461665"/>
          </a:xfrm>
          <a:prstGeom prst="rect">
            <a:avLst/>
          </a:prstGeom>
        </p:spPr>
        <p:txBody>
          <a:bodyPr wrap="none">
            <a:spAutoFit/>
          </a:bodyPr>
          <a:lstStyle/>
          <a:p>
            <a:pPr>
              <a:spcBef>
                <a:spcPct val="0"/>
              </a:spcBef>
            </a:pPr>
            <a:r>
              <a:rPr lang="en-US" altLang="zh-TW" sz="2400" b="1" dirty="0">
                <a:solidFill>
                  <a:srgbClr val="FF0000"/>
                </a:solidFill>
                <a:latin typeface="Times New Roman" panose="02020603050405020304" pitchFamily="18" charset="0"/>
                <a:cs typeface="Times New Roman" panose="02020603050405020304" pitchFamily="18" charset="0"/>
              </a:rPr>
              <a:t>c.1</a:t>
            </a:r>
            <a:endParaRPr lang="zh-TW" altLang="en-US" sz="2400" b="1" dirty="0">
              <a:solidFill>
                <a:srgbClr val="FF0000"/>
              </a:solidFill>
              <a:latin typeface="Times New Roman" panose="02020603050405020304" pitchFamily="18" charset="0"/>
              <a:cs typeface="Times New Roman" panose="02020603050405020304" pitchFamily="18" charset="0"/>
            </a:endParaRPr>
          </a:p>
        </p:txBody>
      </p:sp>
      <p:sp>
        <p:nvSpPr>
          <p:cNvPr id="79" name="矩形 78">
            <a:extLst>
              <a:ext uri="{FF2B5EF4-FFF2-40B4-BE49-F238E27FC236}">
                <a16:creationId xmlns:a16="http://schemas.microsoft.com/office/drawing/2014/main" id="{8E251148-CE6F-4F53-BAF8-8218863675B0}"/>
              </a:ext>
            </a:extLst>
          </p:cNvPr>
          <p:cNvSpPr/>
          <p:nvPr/>
        </p:nvSpPr>
        <p:spPr>
          <a:xfrm>
            <a:off x="4618454" y="2588840"/>
            <a:ext cx="936475" cy="461665"/>
          </a:xfrm>
          <a:prstGeom prst="rect">
            <a:avLst/>
          </a:prstGeom>
        </p:spPr>
        <p:txBody>
          <a:bodyPr wrap="none">
            <a:spAutoFit/>
          </a:bodyPr>
          <a:lstStyle/>
          <a:p>
            <a:pPr>
              <a:spcBef>
                <a:spcPct val="0"/>
              </a:spcBef>
            </a:pPr>
            <a:r>
              <a:rPr lang="en-US" altLang="zh-TW" sz="2400" b="1" dirty="0">
                <a:solidFill>
                  <a:srgbClr val="FF0000"/>
                </a:solidFill>
                <a:latin typeface="Times New Roman" panose="02020603050405020304" pitchFamily="18" charset="0"/>
                <a:cs typeface="Times New Roman" panose="02020603050405020304" pitchFamily="18" charset="0"/>
              </a:rPr>
              <a:t>c.1.10</a:t>
            </a:r>
            <a:endParaRPr lang="zh-TW" altLang="en-US" sz="2400" b="1" dirty="0">
              <a:solidFill>
                <a:srgbClr val="FF0000"/>
              </a:solidFill>
              <a:latin typeface="Times New Roman" panose="02020603050405020304" pitchFamily="18" charset="0"/>
              <a:cs typeface="Times New Roman" panose="02020603050405020304" pitchFamily="18" charset="0"/>
            </a:endParaRPr>
          </a:p>
        </p:txBody>
      </p:sp>
      <p:sp>
        <p:nvSpPr>
          <p:cNvPr id="80" name="Rectangle 22">
            <a:extLst>
              <a:ext uri="{FF2B5EF4-FFF2-40B4-BE49-F238E27FC236}">
                <a16:creationId xmlns:a16="http://schemas.microsoft.com/office/drawing/2014/main" id="{884D4028-3FF6-4757-8F9D-8836C6E8987F}"/>
              </a:ext>
            </a:extLst>
          </p:cNvPr>
          <p:cNvSpPr>
            <a:spLocks noChangeArrowheads="1"/>
          </p:cNvSpPr>
          <p:nvPr/>
        </p:nvSpPr>
        <p:spPr bwMode="auto">
          <a:xfrm>
            <a:off x="4535440" y="3202237"/>
            <a:ext cx="442429"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spcBef>
                <a:spcPct val="20000"/>
              </a:spcBef>
              <a:buChar char="•"/>
              <a:defRPr kumimoji="1" sz="3200">
                <a:solidFill>
                  <a:schemeClr val="tx1"/>
                </a:solidFill>
                <a:latin typeface="Arial" panose="020B0604020202020204" pitchFamily="34" charset="0"/>
                <a:ea typeface="PMingLiU" panose="02020500000000000000" pitchFamily="18" charset="-120"/>
              </a:defRPr>
            </a:lvl1pPr>
            <a:lvl2pPr marL="742950" indent="-285750" eaLnBrk="0" hangingPunct="0">
              <a:spcBef>
                <a:spcPct val="20000"/>
              </a:spcBef>
              <a:buChar char="–"/>
              <a:defRPr kumimoji="1" sz="2800">
                <a:solidFill>
                  <a:schemeClr val="tx1"/>
                </a:solidFill>
                <a:latin typeface="Arial" panose="020B0604020202020204" pitchFamily="34" charset="0"/>
                <a:ea typeface="PMingLiU" panose="02020500000000000000" pitchFamily="18" charset="-120"/>
              </a:defRPr>
            </a:lvl2pPr>
            <a:lvl3pPr marL="1143000" indent="-228600" eaLnBrk="0" hangingPunct="0">
              <a:spcBef>
                <a:spcPct val="20000"/>
              </a:spcBef>
              <a:buChar char="•"/>
              <a:defRPr kumimoji="1" sz="2400">
                <a:solidFill>
                  <a:schemeClr val="tx1"/>
                </a:solidFill>
                <a:latin typeface="Arial" panose="020B0604020202020204" pitchFamily="34" charset="0"/>
                <a:ea typeface="PMingLiU" panose="02020500000000000000" pitchFamily="18" charset="-120"/>
              </a:defRPr>
            </a:lvl3pPr>
            <a:lvl4pPr marL="16002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4pPr>
            <a:lvl5pPr marL="20574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9pPr>
          </a:lstStyle>
          <a:p>
            <a:pPr>
              <a:spcBef>
                <a:spcPct val="0"/>
              </a:spcBef>
              <a:buFontTx/>
              <a:buNone/>
            </a:pPr>
            <a:r>
              <a:rPr kumimoji="0" lang="en-US" altLang="zh-TW" sz="2000" b="1" dirty="0">
                <a:latin typeface="Times New Roman" panose="02020603050405020304" pitchFamily="18" charset="0"/>
              </a:rPr>
              <a:t>…</a:t>
            </a:r>
          </a:p>
        </p:txBody>
      </p:sp>
      <p:sp>
        <p:nvSpPr>
          <p:cNvPr id="81" name="矩形 80">
            <a:extLst>
              <a:ext uri="{FF2B5EF4-FFF2-40B4-BE49-F238E27FC236}">
                <a16:creationId xmlns:a16="http://schemas.microsoft.com/office/drawing/2014/main" id="{39696C5F-D379-407C-8410-FD5C327F3295}"/>
              </a:ext>
            </a:extLst>
          </p:cNvPr>
          <p:cNvSpPr/>
          <p:nvPr/>
        </p:nvSpPr>
        <p:spPr>
          <a:xfrm>
            <a:off x="605000" y="3429000"/>
            <a:ext cx="1167307" cy="461665"/>
          </a:xfrm>
          <a:prstGeom prst="rect">
            <a:avLst/>
          </a:prstGeom>
        </p:spPr>
        <p:txBody>
          <a:bodyPr wrap="none">
            <a:spAutoFit/>
          </a:bodyPr>
          <a:lstStyle/>
          <a:p>
            <a:pPr>
              <a:spcBef>
                <a:spcPct val="0"/>
              </a:spcBef>
            </a:pPr>
            <a:r>
              <a:rPr lang="en-US" altLang="zh-TW" sz="2400" b="1" dirty="0">
                <a:solidFill>
                  <a:srgbClr val="FF0000"/>
                </a:solidFill>
                <a:latin typeface="Times New Roman" panose="02020603050405020304" pitchFamily="18" charset="0"/>
                <a:cs typeface="Times New Roman" panose="02020603050405020304" pitchFamily="18" charset="0"/>
              </a:rPr>
              <a:t>c.1.10.1</a:t>
            </a:r>
            <a:endParaRPr lang="zh-TW" altLang="en-US" sz="2400" b="1" dirty="0">
              <a:solidFill>
                <a:srgbClr val="FF0000"/>
              </a:solidFill>
              <a:latin typeface="Times New Roman" panose="02020603050405020304" pitchFamily="18" charset="0"/>
              <a:cs typeface="Times New Roman" panose="02020603050405020304" pitchFamily="18" charset="0"/>
            </a:endParaRPr>
          </a:p>
        </p:txBody>
      </p:sp>
      <p:sp>
        <p:nvSpPr>
          <p:cNvPr id="83" name="矩形 82">
            <a:extLst>
              <a:ext uri="{FF2B5EF4-FFF2-40B4-BE49-F238E27FC236}">
                <a16:creationId xmlns:a16="http://schemas.microsoft.com/office/drawing/2014/main" id="{4FA3CD71-37B4-445C-A48E-2FC307EA3F98}"/>
              </a:ext>
            </a:extLst>
          </p:cNvPr>
          <p:cNvSpPr/>
          <p:nvPr/>
        </p:nvSpPr>
        <p:spPr>
          <a:xfrm>
            <a:off x="5803208" y="3447381"/>
            <a:ext cx="1167307" cy="461665"/>
          </a:xfrm>
          <a:prstGeom prst="rect">
            <a:avLst/>
          </a:prstGeom>
        </p:spPr>
        <p:txBody>
          <a:bodyPr wrap="none">
            <a:spAutoFit/>
          </a:bodyPr>
          <a:lstStyle/>
          <a:p>
            <a:pPr>
              <a:spcBef>
                <a:spcPct val="0"/>
              </a:spcBef>
            </a:pPr>
            <a:r>
              <a:rPr lang="en-US" altLang="zh-TW" sz="2400" b="1" dirty="0">
                <a:solidFill>
                  <a:srgbClr val="FF0000"/>
                </a:solidFill>
                <a:latin typeface="Times New Roman" panose="02020603050405020304" pitchFamily="18" charset="0"/>
                <a:cs typeface="Times New Roman" panose="02020603050405020304" pitchFamily="18" charset="0"/>
              </a:rPr>
              <a:t>c.1.10.7</a:t>
            </a:r>
            <a:endParaRPr lang="zh-TW" altLang="en-US" sz="2400" b="1" dirty="0">
              <a:solidFill>
                <a:srgbClr val="FF0000"/>
              </a:solidFill>
              <a:latin typeface="Times New Roman" panose="02020603050405020304" pitchFamily="18" charset="0"/>
              <a:cs typeface="Times New Roman" panose="02020603050405020304" pitchFamily="18" charset="0"/>
            </a:endParaRPr>
          </a:p>
        </p:txBody>
      </p:sp>
      <p:sp>
        <p:nvSpPr>
          <p:cNvPr id="84" name="Rectangle 65">
            <a:extLst>
              <a:ext uri="{FF2B5EF4-FFF2-40B4-BE49-F238E27FC236}">
                <a16:creationId xmlns:a16="http://schemas.microsoft.com/office/drawing/2014/main" id="{E8FC07D5-C9A1-42B4-BD7F-558949D8D9F3}"/>
              </a:ext>
            </a:extLst>
          </p:cNvPr>
          <p:cNvSpPr>
            <a:spLocks noChangeArrowheads="1"/>
          </p:cNvSpPr>
          <p:nvPr/>
        </p:nvSpPr>
        <p:spPr bwMode="auto">
          <a:xfrm>
            <a:off x="6949517" y="4427939"/>
            <a:ext cx="8175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spcBef>
                <a:spcPct val="20000"/>
              </a:spcBef>
              <a:buChar char="•"/>
              <a:defRPr kumimoji="1" sz="3200">
                <a:solidFill>
                  <a:schemeClr val="tx1"/>
                </a:solidFill>
                <a:latin typeface="Arial" panose="020B0604020202020204" pitchFamily="34" charset="0"/>
                <a:ea typeface="PMingLiU" panose="02020500000000000000" pitchFamily="18" charset="-120"/>
              </a:defRPr>
            </a:lvl1pPr>
            <a:lvl2pPr marL="742950" indent="-285750" eaLnBrk="0" hangingPunct="0">
              <a:spcBef>
                <a:spcPct val="20000"/>
              </a:spcBef>
              <a:buChar char="–"/>
              <a:defRPr kumimoji="1" sz="2800">
                <a:solidFill>
                  <a:schemeClr val="tx1"/>
                </a:solidFill>
                <a:latin typeface="Arial" panose="020B0604020202020204" pitchFamily="34" charset="0"/>
                <a:ea typeface="PMingLiU" panose="02020500000000000000" pitchFamily="18" charset="-120"/>
              </a:defRPr>
            </a:lvl2pPr>
            <a:lvl3pPr marL="1143000" indent="-228600" eaLnBrk="0" hangingPunct="0">
              <a:spcBef>
                <a:spcPct val="20000"/>
              </a:spcBef>
              <a:buChar char="•"/>
              <a:defRPr kumimoji="1" sz="2400">
                <a:solidFill>
                  <a:schemeClr val="tx1"/>
                </a:solidFill>
                <a:latin typeface="Arial" panose="020B0604020202020204" pitchFamily="34" charset="0"/>
                <a:ea typeface="PMingLiU" panose="02020500000000000000" pitchFamily="18" charset="-120"/>
              </a:defRPr>
            </a:lvl3pPr>
            <a:lvl4pPr marL="16002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4pPr>
            <a:lvl5pPr marL="20574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9pPr>
          </a:lstStyle>
          <a:p>
            <a:pPr>
              <a:spcBef>
                <a:spcPct val="0"/>
              </a:spcBef>
              <a:buFontTx/>
              <a:buNone/>
            </a:pPr>
            <a:r>
              <a:rPr kumimoji="0" lang="en-US" altLang="zh-TW" sz="1600" b="1" dirty="0">
                <a:latin typeface="Times New Roman" panose="02020603050405020304" pitchFamily="18" charset="0"/>
              </a:rPr>
              <a:t>Species</a:t>
            </a:r>
          </a:p>
        </p:txBody>
      </p:sp>
      <p:sp>
        <p:nvSpPr>
          <p:cNvPr id="85" name="Rectangle 66">
            <a:extLst>
              <a:ext uri="{FF2B5EF4-FFF2-40B4-BE49-F238E27FC236}">
                <a16:creationId xmlns:a16="http://schemas.microsoft.com/office/drawing/2014/main" id="{73EE78A0-051F-42CF-AB50-022FA2B39FFC}"/>
              </a:ext>
            </a:extLst>
          </p:cNvPr>
          <p:cNvSpPr>
            <a:spLocks noChangeArrowheads="1"/>
          </p:cNvSpPr>
          <p:nvPr/>
        </p:nvSpPr>
        <p:spPr bwMode="auto">
          <a:xfrm>
            <a:off x="6918657" y="5036170"/>
            <a:ext cx="9509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spcBef>
                <a:spcPct val="20000"/>
              </a:spcBef>
              <a:buChar char="•"/>
              <a:defRPr kumimoji="1" sz="3200">
                <a:solidFill>
                  <a:schemeClr val="tx1"/>
                </a:solidFill>
                <a:latin typeface="Arial" panose="020B0604020202020204" pitchFamily="34" charset="0"/>
                <a:ea typeface="PMingLiU" panose="02020500000000000000" pitchFamily="18" charset="-120"/>
              </a:defRPr>
            </a:lvl1pPr>
            <a:lvl2pPr marL="742950" indent="-285750" eaLnBrk="0" hangingPunct="0">
              <a:spcBef>
                <a:spcPct val="20000"/>
              </a:spcBef>
              <a:buChar char="–"/>
              <a:defRPr kumimoji="1" sz="2800">
                <a:solidFill>
                  <a:schemeClr val="tx1"/>
                </a:solidFill>
                <a:latin typeface="Arial" panose="020B0604020202020204" pitchFamily="34" charset="0"/>
                <a:ea typeface="PMingLiU" panose="02020500000000000000" pitchFamily="18" charset="-120"/>
              </a:defRPr>
            </a:lvl2pPr>
            <a:lvl3pPr marL="1143000" indent="-228600" eaLnBrk="0" hangingPunct="0">
              <a:spcBef>
                <a:spcPct val="20000"/>
              </a:spcBef>
              <a:buChar char="•"/>
              <a:defRPr kumimoji="1" sz="2400">
                <a:solidFill>
                  <a:schemeClr val="tx1"/>
                </a:solidFill>
                <a:latin typeface="Arial" panose="020B0604020202020204" pitchFamily="34" charset="0"/>
                <a:ea typeface="PMingLiU" panose="02020500000000000000" pitchFamily="18" charset="-120"/>
              </a:defRPr>
            </a:lvl3pPr>
            <a:lvl4pPr marL="16002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4pPr>
            <a:lvl5pPr marL="2057400" indent="-228600" eaLnBrk="0" hangingPunct="0">
              <a:spcBef>
                <a:spcPct val="20000"/>
              </a:spcBef>
              <a:buChar char="»"/>
              <a:defRPr kumimoji="1" sz="2000">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PMingLiU" panose="02020500000000000000" pitchFamily="18" charset="-120"/>
              </a:defRPr>
            </a:lvl9pPr>
          </a:lstStyle>
          <a:p>
            <a:pPr>
              <a:spcBef>
                <a:spcPct val="0"/>
              </a:spcBef>
              <a:buFontTx/>
              <a:buNone/>
            </a:pPr>
            <a:r>
              <a:rPr kumimoji="0" lang="en-US" altLang="zh-TW" sz="1600" b="1" dirty="0">
                <a:latin typeface="Times New Roman" panose="02020603050405020304" pitchFamily="18" charset="0"/>
              </a:rPr>
              <a:t>PDB/Ref</a:t>
            </a:r>
          </a:p>
        </p:txBody>
      </p:sp>
      <p:sp>
        <p:nvSpPr>
          <p:cNvPr id="89" name="Line 11">
            <a:extLst>
              <a:ext uri="{FF2B5EF4-FFF2-40B4-BE49-F238E27FC236}">
                <a16:creationId xmlns:a16="http://schemas.microsoft.com/office/drawing/2014/main" id="{7D50E614-2A5D-4611-B045-1FB01400DBDB}"/>
              </a:ext>
            </a:extLst>
          </p:cNvPr>
          <p:cNvSpPr>
            <a:spLocks noChangeShapeType="1"/>
          </p:cNvSpPr>
          <p:nvPr/>
        </p:nvSpPr>
        <p:spPr bwMode="auto">
          <a:xfrm>
            <a:off x="4025008" y="4802717"/>
            <a:ext cx="0" cy="28098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90" name="Line 13">
            <a:extLst>
              <a:ext uri="{FF2B5EF4-FFF2-40B4-BE49-F238E27FC236}">
                <a16:creationId xmlns:a16="http://schemas.microsoft.com/office/drawing/2014/main" id="{2D497141-3174-4CEB-AD5F-156C2CC93DD4}"/>
              </a:ext>
            </a:extLst>
          </p:cNvPr>
          <p:cNvSpPr>
            <a:spLocks noChangeShapeType="1"/>
          </p:cNvSpPr>
          <p:nvPr/>
        </p:nvSpPr>
        <p:spPr bwMode="auto">
          <a:xfrm>
            <a:off x="4028183" y="4239154"/>
            <a:ext cx="0" cy="280988"/>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93" name="矩形 92">
            <a:extLst>
              <a:ext uri="{FF2B5EF4-FFF2-40B4-BE49-F238E27FC236}">
                <a16:creationId xmlns:a16="http://schemas.microsoft.com/office/drawing/2014/main" id="{6BFDE4F1-BF60-4839-BA21-858E7EE6AB8F}"/>
              </a:ext>
            </a:extLst>
          </p:cNvPr>
          <p:cNvSpPr/>
          <p:nvPr/>
        </p:nvSpPr>
        <p:spPr>
          <a:xfrm>
            <a:off x="3201889" y="4461445"/>
            <a:ext cx="1665841"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Escherichia coli</a:t>
            </a:r>
            <a:endParaRPr lang="zh-TW" altLang="en-US" dirty="0">
              <a:latin typeface="Times New Roman" panose="02020603050405020304" pitchFamily="18" charset="0"/>
              <a:cs typeface="Times New Roman" panose="02020603050405020304" pitchFamily="18" charset="0"/>
            </a:endParaRPr>
          </a:p>
        </p:txBody>
      </p:sp>
      <p:sp>
        <p:nvSpPr>
          <p:cNvPr id="94" name="矩形 93">
            <a:extLst>
              <a:ext uri="{FF2B5EF4-FFF2-40B4-BE49-F238E27FC236}">
                <a16:creationId xmlns:a16="http://schemas.microsoft.com/office/drawing/2014/main" id="{D09046E1-9A1E-45A3-AD9D-026391DEA92A}"/>
              </a:ext>
            </a:extLst>
          </p:cNvPr>
          <p:cNvSpPr/>
          <p:nvPr/>
        </p:nvSpPr>
        <p:spPr>
          <a:xfrm>
            <a:off x="3730078" y="5014498"/>
            <a:ext cx="556563" cy="369332"/>
          </a:xfrm>
          <a:prstGeom prst="rect">
            <a:avLst/>
          </a:prstGeom>
        </p:spPr>
        <p:txBody>
          <a:bodyPr wrap="none">
            <a:spAutoFit/>
          </a:bodyPr>
          <a:lstStyle/>
          <a:p>
            <a:r>
              <a:rPr lang="zh-TW" altLang="en-US" dirty="0">
                <a:latin typeface="Times New Roman" panose="02020603050405020304" pitchFamily="18" charset="0"/>
                <a:cs typeface="Times New Roman" panose="02020603050405020304" pitchFamily="18" charset="0"/>
              </a:rPr>
              <a:t>2fiq</a:t>
            </a:r>
          </a:p>
        </p:txBody>
      </p:sp>
      <p:sp>
        <p:nvSpPr>
          <p:cNvPr id="95" name="矩形 94">
            <a:extLst>
              <a:ext uri="{FF2B5EF4-FFF2-40B4-BE49-F238E27FC236}">
                <a16:creationId xmlns:a16="http://schemas.microsoft.com/office/drawing/2014/main" id="{D6A597A0-1F2F-4456-BE97-495DDDDAA03C}"/>
              </a:ext>
            </a:extLst>
          </p:cNvPr>
          <p:cNvSpPr/>
          <p:nvPr/>
        </p:nvSpPr>
        <p:spPr>
          <a:xfrm>
            <a:off x="7580861" y="3303811"/>
            <a:ext cx="1016625" cy="307777"/>
          </a:xfrm>
          <a:prstGeom prst="rect">
            <a:avLst/>
          </a:prstGeom>
        </p:spPr>
        <p:txBody>
          <a:bodyPr wrap="none">
            <a:spAutoFit/>
          </a:bodyPr>
          <a:lstStyle/>
          <a:p>
            <a:r>
              <a:rPr lang="en-US" altLang="zh-TW" sz="1400" dirty="0">
                <a:latin typeface="Times New Roman" panose="02020603050405020304" pitchFamily="18" charset="0"/>
                <a:cs typeface="Times New Roman" panose="02020603050405020304" pitchFamily="18" charset="0"/>
              </a:rPr>
              <a:t>(7 families)</a:t>
            </a:r>
            <a:endParaRPr lang="zh-TW" altLang="en-US" sz="1400" dirty="0">
              <a:latin typeface="Times New Roman" panose="02020603050405020304" pitchFamily="18" charset="0"/>
              <a:cs typeface="Times New Roman" panose="02020603050405020304" pitchFamily="18" charset="0"/>
            </a:endParaRPr>
          </a:p>
        </p:txBody>
      </p:sp>
      <p:sp>
        <p:nvSpPr>
          <p:cNvPr id="96" name="投影片編號版面配置區 3">
            <a:extLst>
              <a:ext uri="{FF2B5EF4-FFF2-40B4-BE49-F238E27FC236}">
                <a16:creationId xmlns:a16="http://schemas.microsoft.com/office/drawing/2014/main" id="{00783B34-A06C-488D-AA08-C48F63298431}"/>
              </a:ext>
            </a:extLst>
          </p:cNvPr>
          <p:cNvSpPr>
            <a:spLocks noGrp="1"/>
          </p:cNvSpPr>
          <p:nvPr>
            <p:ph type="sldNum" sz="quarter" idx="12"/>
          </p:nvPr>
        </p:nvSpPr>
        <p:spPr>
          <a:xfrm>
            <a:off x="6553200" y="6356350"/>
            <a:ext cx="2133600" cy="365125"/>
          </a:xfrm>
        </p:spPr>
        <p:txBody>
          <a:bodyPr/>
          <a:lstStyle/>
          <a:p>
            <a:fld id="{04C04D6A-2E29-441A-A244-9F1014899F6D}" type="slidenum">
              <a:rPr lang="zh-TW" altLang="en-US" sz="1600" smtClean="0"/>
              <a:pPr/>
              <a:t>5</a:t>
            </a:fld>
            <a:endParaRPr lang="zh-TW" altLang="en-US" sz="1600" dirty="0"/>
          </a:p>
        </p:txBody>
      </p:sp>
      <p:sp>
        <p:nvSpPr>
          <p:cNvPr id="2" name="矩形 1"/>
          <p:cNvSpPr/>
          <p:nvPr/>
        </p:nvSpPr>
        <p:spPr>
          <a:xfrm>
            <a:off x="4768752" y="4451065"/>
            <a:ext cx="1210588" cy="400110"/>
          </a:xfrm>
          <a:prstGeom prst="rect">
            <a:avLst/>
          </a:prstGeom>
        </p:spPr>
        <p:txBody>
          <a:bodyPr wrap="none">
            <a:spAutoFit/>
          </a:bodyPr>
          <a:lstStyle/>
          <a:p>
            <a:r>
              <a:rPr lang="zh-TW" altLang="en-US" sz="2000" dirty="0">
                <a:solidFill>
                  <a:srgbClr val="FF0000"/>
                </a:solidFill>
                <a:latin typeface="標楷體" panose="03000509000000000000" pitchFamily="65" charset="-120"/>
                <a:ea typeface="標楷體" panose="03000509000000000000" pitchFamily="65" charset="-120"/>
              </a:rPr>
              <a:t>大腸桿菌</a:t>
            </a:r>
            <a:endParaRPr lang="zh-TW" altLang="en-US" dirty="0">
              <a:solidFill>
                <a:srgbClr val="FF0000"/>
              </a:solidFill>
              <a:latin typeface="標楷體" panose="03000509000000000000" pitchFamily="65" charset="-120"/>
              <a:ea typeface="標楷體" panose="03000509000000000000" pitchFamily="65" charset="-120"/>
            </a:endParaRPr>
          </a:p>
        </p:txBody>
      </p:sp>
      <p:sp>
        <p:nvSpPr>
          <p:cNvPr id="3" name="矩形 2"/>
          <p:cNvSpPr/>
          <p:nvPr/>
        </p:nvSpPr>
        <p:spPr>
          <a:xfrm>
            <a:off x="2323327" y="4086923"/>
            <a:ext cx="1210588" cy="400110"/>
          </a:xfrm>
          <a:prstGeom prst="rect">
            <a:avLst/>
          </a:prstGeom>
        </p:spPr>
        <p:txBody>
          <a:bodyPr wrap="none">
            <a:spAutoFit/>
          </a:bodyPr>
          <a:lstStyle/>
          <a:p>
            <a:r>
              <a:rPr lang="zh-TW" altLang="en-US" sz="2000" dirty="0">
                <a:solidFill>
                  <a:srgbClr val="FF0000"/>
                </a:solidFill>
                <a:latin typeface="標楷體" panose="03000509000000000000" pitchFamily="65" charset="-120"/>
                <a:ea typeface="標楷體" panose="03000509000000000000" pitchFamily="65" charset="-120"/>
              </a:rPr>
              <a:t>磷酸激酶</a:t>
            </a:r>
          </a:p>
        </p:txBody>
      </p:sp>
    </p:spTree>
    <p:extLst>
      <p:ext uri="{BB962C8B-B14F-4D97-AF65-F5344CB8AC3E}">
        <p14:creationId xmlns:p14="http://schemas.microsoft.com/office/powerpoint/2010/main" val="427725588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字方塊 10">
            <a:extLst>
              <a:ext uri="{FF2B5EF4-FFF2-40B4-BE49-F238E27FC236}">
                <a16:creationId xmlns:a16="http://schemas.microsoft.com/office/drawing/2014/main" id="{F7024DF5-78FF-4A3F-B7F4-E9879D39926E}"/>
              </a:ext>
            </a:extLst>
          </p:cNvPr>
          <p:cNvSpPr txBox="1"/>
          <p:nvPr/>
        </p:nvSpPr>
        <p:spPr>
          <a:xfrm>
            <a:off x="188616" y="91827"/>
            <a:ext cx="8755811" cy="707886"/>
          </a:xfrm>
          <a:prstGeom prst="rect">
            <a:avLst/>
          </a:prstGeom>
          <a:noFill/>
        </p:spPr>
        <p:txBody>
          <a:bodyPr wrap="square" rtlCol="0">
            <a:spAutoFit/>
          </a:bodyPr>
          <a:lstStyle/>
          <a:p>
            <a:r>
              <a:rPr lang="en-US" altLang="zh-TW" sz="4000" b="1" dirty="0">
                <a:latin typeface="Times New Roman" panose="02020603050405020304" pitchFamily="18" charset="0"/>
                <a:cs typeface="Times New Roman" panose="02020603050405020304" pitchFamily="18" charset="0"/>
              </a:rPr>
              <a:t>Calculating Fitness and Evaluation</a:t>
            </a:r>
            <a:endParaRPr lang="zh-TW" altLang="en-US" sz="40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B2EDF4B5-6676-4833-BC7F-D879CE8401CC}"/>
                  </a:ext>
                </a:extLst>
              </p:cNvPr>
              <p:cNvSpPr/>
              <p:nvPr/>
            </p:nvSpPr>
            <p:spPr>
              <a:xfrm>
                <a:off x="683568" y="2207094"/>
                <a:ext cx="7128792" cy="1337674"/>
              </a:xfrm>
              <a:prstGeom prst="rect">
                <a:avLst/>
              </a:prstGeom>
            </p:spPr>
            <p:txBody>
              <a:bodyPr wrap="square">
                <a:spAutoFit/>
              </a:bodyPr>
              <a:lstStyle/>
              <a:p>
                <a:pPr algn="ctr"/>
                <a:r>
                  <a:rPr lang="en-US" altLang="zh-TW" sz="40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TW" sz="4000" i="1" smtClean="0">
                            <a:latin typeface="Cambria Math" panose="02040503050406030204" pitchFamily="18" charset="0"/>
                          </a:rPr>
                        </m:ctrlPr>
                      </m:sSubPr>
                      <m:e>
                        <m:r>
                          <a:rPr lang="en-US" altLang="zh-TW" sz="4000" i="1">
                            <a:latin typeface="Cambria Math" panose="02040503050406030204" pitchFamily="18" charset="0"/>
                          </a:rPr>
                          <m:t>𝑄</m:t>
                        </m:r>
                      </m:e>
                      <m:sub>
                        <m:r>
                          <a:rPr lang="en-US" altLang="zh-TW" sz="4000" i="1" smtClean="0">
                            <a:latin typeface="Cambria Math" panose="02040503050406030204" pitchFamily="18" charset="0"/>
                          </a:rPr>
                          <m:t> </m:t>
                        </m:r>
                      </m:sub>
                    </m:sSub>
                    <m:r>
                      <a:rPr lang="en-US" altLang="zh-TW" sz="4000" i="1">
                        <a:latin typeface="Cambria Math" panose="02040503050406030204" pitchFamily="18" charset="0"/>
                      </a:rPr>
                      <m:t>=</m:t>
                    </m:r>
                    <m:f>
                      <m:fPr>
                        <m:ctrlPr>
                          <a:rPr lang="en-US" altLang="zh-TW" sz="4000" i="1" smtClean="0">
                            <a:latin typeface="Cambria Math" panose="02040503050406030204" pitchFamily="18" charset="0"/>
                          </a:rPr>
                        </m:ctrlPr>
                      </m:fPr>
                      <m:num>
                        <m:r>
                          <a:rPr lang="en-US" altLang="zh-TW" sz="4000" b="0" i="1" smtClean="0">
                            <a:latin typeface="Cambria Math" panose="02040503050406030204" pitchFamily="18" charset="0"/>
                          </a:rPr>
                          <m:t>1</m:t>
                        </m:r>
                      </m:num>
                      <m:den>
                        <m:d>
                          <m:dPr>
                            <m:begChr m:val="|"/>
                            <m:endChr m:val="|"/>
                            <m:ctrlPr>
                              <a:rPr lang="en-US" altLang="zh-TW" sz="4000" b="0" i="1" smtClean="0">
                                <a:latin typeface="Cambria Math" panose="02040503050406030204" pitchFamily="18" charset="0"/>
                              </a:rPr>
                            </m:ctrlPr>
                          </m:dPr>
                          <m:e>
                            <m:r>
                              <a:rPr lang="en-US" altLang="zh-TW" sz="4000" i="1">
                                <a:latin typeface="Cambria Math" panose="02040503050406030204" pitchFamily="18" charset="0"/>
                              </a:rPr>
                              <m:t>𝑆</m:t>
                            </m:r>
                          </m:e>
                        </m:d>
                      </m:den>
                    </m:f>
                    <m:nary>
                      <m:naryPr>
                        <m:chr m:val="∑"/>
                        <m:ctrlPr>
                          <a:rPr lang="en-US" altLang="zh-TW" sz="4000" i="1" smtClean="0">
                            <a:latin typeface="Cambria Math" panose="02040503050406030204" pitchFamily="18" charset="0"/>
                          </a:rPr>
                        </m:ctrlPr>
                      </m:naryPr>
                      <m:sub>
                        <m:r>
                          <a:rPr lang="en-US" altLang="zh-TW" sz="4000" i="1">
                            <a:latin typeface="Cambria Math" panose="02040503050406030204" pitchFamily="18" charset="0"/>
                          </a:rPr>
                          <m:t>𝑖</m:t>
                        </m:r>
                        <m:r>
                          <a:rPr lang="en-US" altLang="zh-TW" sz="4000" i="1">
                            <a:latin typeface="Cambria Math" panose="02040503050406030204" pitchFamily="18" charset="0"/>
                          </a:rPr>
                          <m:t>=1</m:t>
                        </m:r>
                      </m:sub>
                      <m:sup>
                        <m:d>
                          <m:dPr>
                            <m:begChr m:val="|"/>
                            <m:endChr m:val="|"/>
                            <m:ctrlPr>
                              <a:rPr lang="en-US" altLang="zh-TW" sz="4000" i="1">
                                <a:latin typeface="Cambria Math" panose="02040503050406030204" pitchFamily="18" charset="0"/>
                              </a:rPr>
                            </m:ctrlPr>
                          </m:dPr>
                          <m:e>
                            <m:r>
                              <a:rPr lang="en-US" altLang="zh-TW" sz="4000" i="1">
                                <a:latin typeface="Cambria Math" panose="02040503050406030204" pitchFamily="18" charset="0"/>
                              </a:rPr>
                              <m:t>𝑆</m:t>
                            </m:r>
                          </m:e>
                        </m:d>
                      </m:sup>
                      <m:e>
                        <m:f>
                          <m:fPr>
                            <m:ctrlPr>
                              <a:rPr lang="en-US" altLang="zh-TW" sz="4000" i="1" smtClean="0">
                                <a:latin typeface="Cambria Math" panose="02040503050406030204" pitchFamily="18" charset="0"/>
                              </a:rPr>
                            </m:ctrlPr>
                          </m:fPr>
                          <m:num>
                            <m:d>
                              <m:dPr>
                                <m:begChr m:val="|"/>
                                <m:endChr m:val="|"/>
                                <m:ctrlPr>
                                  <a:rPr lang="en-US" altLang="zh-TW" sz="4000" i="1">
                                    <a:latin typeface="Cambria Math" panose="02040503050406030204" pitchFamily="18" charset="0"/>
                                  </a:rPr>
                                </m:ctrlPr>
                              </m:dPr>
                              <m:e>
                                <m:sSub>
                                  <m:sSubPr>
                                    <m:ctrlPr>
                                      <a:rPr lang="en-US" altLang="zh-TW" sz="4000" i="1">
                                        <a:latin typeface="Cambria Math" panose="02040503050406030204" pitchFamily="18" charset="0"/>
                                      </a:rPr>
                                    </m:ctrlPr>
                                  </m:sSubPr>
                                  <m:e>
                                    <m:r>
                                      <a:rPr lang="en-US" altLang="zh-TW" sz="4000" i="1">
                                        <a:latin typeface="Cambria Math" panose="02040503050406030204" pitchFamily="18" charset="0"/>
                                      </a:rPr>
                                      <m:t>𝑇</m:t>
                                    </m:r>
                                  </m:e>
                                  <m:sub>
                                    <m:r>
                                      <a:rPr lang="en-US" altLang="zh-TW" sz="4000" i="1">
                                        <a:latin typeface="Cambria Math" panose="02040503050406030204" pitchFamily="18" charset="0"/>
                                      </a:rPr>
                                      <m:t>𝑖</m:t>
                                    </m:r>
                                  </m:sub>
                                </m:sSub>
                              </m:e>
                            </m:d>
                          </m:num>
                          <m:den>
                            <m:r>
                              <a:rPr lang="en-US" altLang="zh-TW" sz="4000" i="1">
                                <a:latin typeface="Cambria Math" panose="02040503050406030204" pitchFamily="18" charset="0"/>
                              </a:rPr>
                              <m:t>2</m:t>
                            </m:r>
                            <m:d>
                              <m:dPr>
                                <m:ctrlPr>
                                  <a:rPr lang="en-US" altLang="zh-TW" sz="4000" i="1">
                                    <a:latin typeface="Cambria Math" panose="02040503050406030204" pitchFamily="18" charset="0"/>
                                  </a:rPr>
                                </m:ctrlPr>
                              </m:dPr>
                              <m:e>
                                <m:m>
                                  <m:mPr>
                                    <m:mcs>
                                      <m:mc>
                                        <m:mcPr>
                                          <m:count m:val="1"/>
                                          <m:mcJc m:val="center"/>
                                        </m:mcPr>
                                      </m:mc>
                                    </m:mcs>
                                    <m:ctrlPr>
                                      <a:rPr lang="en-US" altLang="zh-TW" sz="4000" i="1">
                                        <a:latin typeface="Cambria Math" panose="02040503050406030204" pitchFamily="18" charset="0"/>
                                      </a:rPr>
                                    </m:ctrlPr>
                                  </m:mPr>
                                  <m:mr>
                                    <m:e>
                                      <m:sSub>
                                        <m:sSubPr>
                                          <m:ctrlPr>
                                            <a:rPr lang="en-US" altLang="zh-TW" sz="4000" i="1">
                                              <a:latin typeface="Cambria Math" panose="02040503050406030204" pitchFamily="18" charset="0"/>
                                            </a:rPr>
                                          </m:ctrlPr>
                                        </m:sSubPr>
                                        <m:e>
                                          <m:r>
                                            <a:rPr lang="en-US" altLang="zh-TW" sz="4000" b="0" i="1" smtClean="0">
                                              <a:latin typeface="Cambria Math" panose="02040503050406030204" pitchFamily="18" charset="0"/>
                                            </a:rPr>
                                            <m:t>𝑑</m:t>
                                          </m:r>
                                        </m:e>
                                        <m:sub>
                                          <m:r>
                                            <a:rPr lang="en-US" altLang="zh-TW" sz="4000" i="1">
                                              <a:latin typeface="Cambria Math" panose="02040503050406030204" pitchFamily="18" charset="0"/>
                                            </a:rPr>
                                            <m:t>𝑖</m:t>
                                          </m:r>
                                        </m:sub>
                                      </m:sSub>
                                    </m:e>
                                  </m:mr>
                                  <m:mr>
                                    <m:e>
                                      <m:r>
                                        <a:rPr lang="en-US" altLang="zh-TW" sz="4000" i="1">
                                          <a:latin typeface="Cambria Math" panose="02040503050406030204" pitchFamily="18" charset="0"/>
                                        </a:rPr>
                                        <m:t>2</m:t>
                                      </m:r>
                                    </m:e>
                                  </m:mr>
                                </m:m>
                              </m:e>
                            </m:d>
                          </m:den>
                        </m:f>
                      </m:e>
                    </m:nary>
                  </m:oMath>
                </a14:m>
                <a:endParaRPr lang="en-US" altLang="zh-TW" sz="4000" dirty="0">
                  <a:latin typeface="Times New Roman" panose="02020603050405020304" pitchFamily="18" charset="0"/>
                  <a:cs typeface="Times New Roman" panose="02020603050405020304" pitchFamily="18" charset="0"/>
                </a:endParaRPr>
              </a:p>
            </p:txBody>
          </p:sp>
        </mc:Choice>
        <mc:Fallback xmlns="">
          <p:sp>
            <p:nvSpPr>
              <p:cNvPr id="4" name="矩形 3">
                <a:extLst>
                  <a:ext uri="{FF2B5EF4-FFF2-40B4-BE49-F238E27FC236}">
                    <a16:creationId xmlns:a16="http://schemas.microsoft.com/office/drawing/2014/main" id="{B2EDF4B5-6676-4833-BC7F-D879CE8401CC}"/>
                  </a:ext>
                </a:extLst>
              </p:cNvPr>
              <p:cNvSpPr>
                <a:spLocks noRot="1" noChangeAspect="1" noMove="1" noResize="1" noEditPoints="1" noAdjustHandles="1" noChangeArrowheads="1" noChangeShapeType="1" noTextEdit="1"/>
              </p:cNvSpPr>
              <p:nvPr/>
            </p:nvSpPr>
            <p:spPr>
              <a:xfrm>
                <a:off x="683568" y="2207094"/>
                <a:ext cx="7128792" cy="1337674"/>
              </a:xfrm>
              <a:prstGeom prst="rect">
                <a:avLst/>
              </a:prstGeom>
              <a:blipFill>
                <a:blip r:embed="rId3"/>
                <a:stretch>
                  <a:fillRect/>
                </a:stretch>
              </a:blipFill>
            </p:spPr>
            <p:txBody>
              <a:bodyPr/>
              <a:lstStyle/>
              <a:p>
                <a:r>
                  <a:rPr lang="zh-TW" altLang="en-US">
                    <a:noFill/>
                  </a:rPr>
                  <a:t> </a:t>
                </a:r>
              </a:p>
            </p:txBody>
          </p:sp>
        </mc:Fallback>
      </mc:AlternateContent>
      <p:sp>
        <p:nvSpPr>
          <p:cNvPr id="6" name="投影片編號版面配置區 3">
            <a:extLst>
              <a:ext uri="{FF2B5EF4-FFF2-40B4-BE49-F238E27FC236}">
                <a16:creationId xmlns:a16="http://schemas.microsoft.com/office/drawing/2014/main" id="{1B76160C-031D-418F-9693-FB4663533C16}"/>
              </a:ext>
            </a:extLst>
          </p:cNvPr>
          <p:cNvSpPr>
            <a:spLocks noGrp="1"/>
          </p:cNvSpPr>
          <p:nvPr>
            <p:ph type="sldNum" sz="quarter" idx="12"/>
          </p:nvPr>
        </p:nvSpPr>
        <p:spPr>
          <a:xfrm>
            <a:off x="6553200" y="6356350"/>
            <a:ext cx="2133600" cy="365125"/>
          </a:xfrm>
        </p:spPr>
        <p:txBody>
          <a:bodyPr/>
          <a:lstStyle/>
          <a:p>
            <a:fld id="{04C04D6A-2E29-441A-A244-9F1014899F6D}" type="slidenum">
              <a:rPr lang="zh-TW" altLang="en-US" sz="1600" smtClean="0"/>
              <a:pPr/>
              <a:t>6</a:t>
            </a:fld>
            <a:endParaRPr lang="zh-TW" altLang="en-US" sz="1600" dirty="0"/>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C85C7089-4FBA-4057-B012-C480C4899C0C}"/>
                  </a:ext>
                </a:extLst>
              </p:cNvPr>
              <p:cNvSpPr/>
              <p:nvPr/>
            </p:nvSpPr>
            <p:spPr>
              <a:xfrm>
                <a:off x="683568" y="4003583"/>
                <a:ext cx="7632848" cy="1200329"/>
              </a:xfrm>
              <a:prstGeom prst="rect">
                <a:avLst/>
              </a:prstGeom>
            </p:spPr>
            <p:txBody>
              <a:bodyPr wrap="square">
                <a:spAutoFit/>
              </a:bodyPr>
              <a:lstStyle/>
              <a:p>
                <a14:m>
                  <m:oMath xmlns:m="http://schemas.openxmlformats.org/officeDocument/2006/math">
                    <m:r>
                      <a:rPr lang="en-US" altLang="zh-TW" sz="2400" i="1" smtClean="0">
                        <a:latin typeface="Cambria Math" panose="02040503050406030204" pitchFamily="18" charset="0"/>
                      </a:rPr>
                      <m:t>𝑆</m:t>
                    </m:r>
                  </m:oMath>
                </a14:m>
                <a:r>
                  <a:rPr lang="en-US" altLang="zh-TW" sz="2400" dirty="0">
                    <a:latin typeface="Times New Roman" panose="02020603050405020304" pitchFamily="18" charset="0"/>
                    <a:cs typeface="Times New Roman" panose="02020603050405020304" pitchFamily="18" charset="0"/>
                  </a:rPr>
                  <a:t>: the set of superfamilies in the dataset</a:t>
                </a:r>
              </a:p>
              <a:p>
                <a14:m>
                  <m:oMath xmlns:m="http://schemas.openxmlformats.org/officeDocument/2006/math">
                    <m:d>
                      <m:dPr>
                        <m:begChr m:val="|"/>
                        <m:endChr m:val="|"/>
                        <m:ctrlPr>
                          <a:rPr lang="en-US" altLang="zh-TW" sz="2400" i="1">
                            <a:latin typeface="Cambria Math" panose="02040503050406030204" pitchFamily="18" charset="0"/>
                          </a:rPr>
                        </m:ctrlPr>
                      </m:dPr>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𝑇</m:t>
                            </m:r>
                          </m:e>
                          <m:sub>
                            <m:r>
                              <a:rPr lang="en-US" altLang="zh-TW" sz="2400" i="1">
                                <a:latin typeface="Cambria Math" panose="02040503050406030204" pitchFamily="18" charset="0"/>
                              </a:rPr>
                              <m:t>𝑖</m:t>
                            </m:r>
                          </m:sub>
                        </m:sSub>
                      </m:e>
                    </m:d>
                  </m:oMath>
                </a14:m>
                <a:r>
                  <a:rPr lang="en-US" altLang="zh-TW" sz="2400" dirty="0">
                    <a:latin typeface="Times New Roman" panose="02020603050405020304" pitchFamily="18" charset="0"/>
                    <a:cs typeface="Times New Roman" panose="02020603050405020304" pitchFamily="18" charset="0"/>
                  </a:rPr>
                  <a:t>:</a:t>
                </a:r>
                <a:r>
                  <a:rPr lang="zh-TW" altLang="en-US" sz="2400" dirty="0">
                    <a:latin typeface="Times New Roman" panose="02020603050405020304" pitchFamily="18" charset="0"/>
                    <a:cs typeface="Times New Roman" panose="02020603050405020304" pitchFamily="18" charset="0"/>
                  </a:rPr>
                  <a:t> the number of true positive relations found for a </a:t>
                </a:r>
                <a:r>
                  <a:rPr lang="en-US" altLang="zh-TW" sz="2400" dirty="0">
                    <a:latin typeface="Times New Roman" panose="02020603050405020304" pitchFamily="18" charset="0"/>
                    <a:cs typeface="Times New Roman" panose="02020603050405020304" pitchFamily="18" charset="0"/>
                  </a:rPr>
                  <a:t>super</a:t>
                </a:r>
                <a:r>
                  <a:rPr lang="zh-TW" altLang="en-US" sz="2400" dirty="0">
                    <a:latin typeface="Times New Roman" panose="02020603050405020304" pitchFamily="18" charset="0"/>
                    <a:cs typeface="Times New Roman" panose="02020603050405020304" pitchFamily="18" charset="0"/>
                  </a:rPr>
                  <a:t>families</a:t>
                </a:r>
                <a:r>
                  <a:rPr lang="en-US" altLang="zh-TW" sz="2400" dirty="0">
                    <a:latin typeface="Times New Roman" panose="02020603050405020304" pitchFamily="18" charset="0"/>
                    <a:cs typeface="Times New Roman" panose="02020603050405020304" pitchFamily="18" charset="0"/>
                  </a:rPr>
                  <a:t> </a:t>
                </a:r>
                <a14:m>
                  <m:oMath xmlns:m="http://schemas.openxmlformats.org/officeDocument/2006/math">
                    <m:r>
                      <a:rPr lang="en-US" altLang="zh-TW" sz="2400" i="1">
                        <a:latin typeface="Cambria Math" panose="02040503050406030204" pitchFamily="18" charset="0"/>
                      </a:rPr>
                      <m:t>𝑖</m:t>
                    </m:r>
                  </m:oMath>
                </a14:m>
                <a:r>
                  <a:rPr lang="zh-TW" altLang="en-US" sz="2400" dirty="0">
                    <a:latin typeface="Times New Roman" panose="02020603050405020304" pitchFamily="18" charset="0"/>
                    <a:cs typeface="Times New Roman" panose="02020603050405020304" pitchFamily="18" charset="0"/>
                  </a:rPr>
                  <a:t> which contains </a:t>
                </a:r>
                <a14:m>
                  <m:oMath xmlns:m="http://schemas.openxmlformats.org/officeDocument/2006/math">
                    <m:sSub>
                      <m:sSubPr>
                        <m:ctrlPr>
                          <a:rPr lang="en-US" altLang="zh-TW" sz="2400" i="1">
                            <a:latin typeface="Cambria Math" panose="02040503050406030204" pitchFamily="18" charset="0"/>
                          </a:rPr>
                        </m:ctrlPr>
                      </m:sSubPr>
                      <m:e>
                        <m:r>
                          <a:rPr lang="en-US" altLang="zh-TW" sz="2400" b="0" i="1" smtClean="0">
                            <a:latin typeface="Cambria Math" panose="02040503050406030204" pitchFamily="18" charset="0"/>
                          </a:rPr>
                          <m:t>𝑑</m:t>
                        </m:r>
                      </m:e>
                      <m:sub>
                        <m:r>
                          <a:rPr lang="en-US" altLang="zh-TW" sz="2400" i="1">
                            <a:latin typeface="Cambria Math" panose="02040503050406030204" pitchFamily="18" charset="0"/>
                          </a:rPr>
                          <m:t>𝑖</m:t>
                        </m:r>
                      </m:sub>
                    </m:sSub>
                  </m:oMath>
                </a14:m>
                <a:r>
                  <a:rPr lang="zh-TW" altLang="en-US" sz="2400" dirty="0">
                    <a:latin typeface="Times New Roman" panose="02020603050405020304" pitchFamily="18" charset="0"/>
                    <a:cs typeface="Times New Roman" panose="02020603050405020304" pitchFamily="18" charset="0"/>
                  </a:rPr>
                  <a:t> sequences</a:t>
                </a: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p:txBody>
          </p:sp>
        </mc:Choice>
        <mc:Fallback xmlns="">
          <p:sp>
            <p:nvSpPr>
              <p:cNvPr id="2" name="矩形 1">
                <a:extLst>
                  <a:ext uri="{FF2B5EF4-FFF2-40B4-BE49-F238E27FC236}">
                    <a16:creationId xmlns:a16="http://schemas.microsoft.com/office/drawing/2014/main" id="{C85C7089-4FBA-4057-B012-C480C4899C0C}"/>
                  </a:ext>
                </a:extLst>
              </p:cNvPr>
              <p:cNvSpPr>
                <a:spLocks noRot="1" noChangeAspect="1" noMove="1" noResize="1" noEditPoints="1" noAdjustHandles="1" noChangeArrowheads="1" noChangeShapeType="1" noTextEdit="1"/>
              </p:cNvSpPr>
              <p:nvPr/>
            </p:nvSpPr>
            <p:spPr>
              <a:xfrm>
                <a:off x="683568" y="4003583"/>
                <a:ext cx="7632848" cy="1200329"/>
              </a:xfrm>
              <a:prstGeom prst="rect">
                <a:avLst/>
              </a:prstGeom>
              <a:blipFill>
                <a:blip r:embed="rId4"/>
                <a:stretch>
                  <a:fillRect l="-1198" t="-4061" b="-1066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79590940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fld id="{04C04D6A-2E29-441A-A244-9F1014899F6D}" type="slidenum">
              <a:rPr lang="zh-TW" altLang="en-US" sz="1600" smtClean="0"/>
              <a:pPr/>
              <a:t>7</a:t>
            </a:fld>
            <a:endParaRPr lang="zh-TW" altLang="en-US" sz="1600" dirty="0"/>
          </a:p>
        </p:txBody>
      </p:sp>
      <p:graphicFrame>
        <p:nvGraphicFramePr>
          <p:cNvPr id="5" name="表格 4">
            <a:extLst>
              <a:ext uri="{FF2B5EF4-FFF2-40B4-BE49-F238E27FC236}">
                <a16:creationId xmlns:a16="http://schemas.microsoft.com/office/drawing/2014/main" id="{96631F35-7394-448D-AE01-5CC329184217}"/>
              </a:ext>
            </a:extLst>
          </p:cNvPr>
          <p:cNvGraphicFramePr>
            <a:graphicFrameLocks noGrp="1"/>
          </p:cNvGraphicFramePr>
          <p:nvPr>
            <p:extLst>
              <p:ext uri="{D42A27DB-BD31-4B8C-83A1-F6EECF244321}">
                <p14:modId xmlns:p14="http://schemas.microsoft.com/office/powerpoint/2010/main" val="4124505939"/>
              </p:ext>
            </p:extLst>
          </p:nvPr>
        </p:nvGraphicFramePr>
        <p:xfrm>
          <a:off x="2483768" y="854586"/>
          <a:ext cx="6355439" cy="4419573"/>
        </p:xfrm>
        <a:graphic>
          <a:graphicData uri="http://schemas.openxmlformats.org/drawingml/2006/table">
            <a:tbl>
              <a:tblPr firstRow="1" bandRow="1">
                <a:tableStyleId>{5940675A-B579-460E-94D1-54222C63F5DA}</a:tableStyleId>
              </a:tblPr>
              <a:tblGrid>
                <a:gridCol w="1040001">
                  <a:extLst>
                    <a:ext uri="{9D8B030D-6E8A-4147-A177-3AD203B41FA5}">
                      <a16:colId xmlns:a16="http://schemas.microsoft.com/office/drawing/2014/main" val="20001"/>
                    </a:ext>
                  </a:extLst>
                </a:gridCol>
                <a:gridCol w="1120239">
                  <a:extLst>
                    <a:ext uri="{9D8B030D-6E8A-4147-A177-3AD203B41FA5}">
                      <a16:colId xmlns:a16="http://schemas.microsoft.com/office/drawing/2014/main" val="20002"/>
                    </a:ext>
                  </a:extLst>
                </a:gridCol>
                <a:gridCol w="959598">
                  <a:extLst>
                    <a:ext uri="{9D8B030D-6E8A-4147-A177-3AD203B41FA5}">
                      <a16:colId xmlns:a16="http://schemas.microsoft.com/office/drawing/2014/main" val="1380456813"/>
                    </a:ext>
                  </a:extLst>
                </a:gridCol>
                <a:gridCol w="1042712">
                  <a:extLst>
                    <a:ext uri="{9D8B030D-6E8A-4147-A177-3AD203B41FA5}">
                      <a16:colId xmlns:a16="http://schemas.microsoft.com/office/drawing/2014/main" val="777342397"/>
                    </a:ext>
                  </a:extLst>
                </a:gridCol>
                <a:gridCol w="1022026">
                  <a:extLst>
                    <a:ext uri="{9D8B030D-6E8A-4147-A177-3AD203B41FA5}">
                      <a16:colId xmlns:a16="http://schemas.microsoft.com/office/drawing/2014/main" val="1276665802"/>
                    </a:ext>
                  </a:extLst>
                </a:gridCol>
                <a:gridCol w="1170863">
                  <a:extLst>
                    <a:ext uri="{9D8B030D-6E8A-4147-A177-3AD203B41FA5}">
                      <a16:colId xmlns:a16="http://schemas.microsoft.com/office/drawing/2014/main" val="2565180938"/>
                    </a:ext>
                  </a:extLst>
                </a:gridCol>
              </a:tblGrid>
              <a:tr h="261629">
                <a:tc gridSpan="3">
                  <a:txBody>
                    <a:bodyPr/>
                    <a:lstStyle/>
                    <a:p>
                      <a:pPr algn="ctr"/>
                      <a:r>
                        <a:rPr lang="en-US" altLang="zh-TW" sz="1600" dirty="0">
                          <a:latin typeface="Times New Roman" panose="02020603050405020304" pitchFamily="18" charset="0"/>
                          <a:cs typeface="Times New Roman" panose="02020603050405020304" pitchFamily="18" charset="0"/>
                        </a:rPr>
                        <a:t>Database search results</a:t>
                      </a:r>
                      <a:endParaRPr lang="zh-TW" altLang="en-US" sz="1600" dirty="0">
                        <a:latin typeface="Times New Roman" panose="02020603050405020304" pitchFamily="18" charset="0"/>
                        <a:cs typeface="Times New Roman" panose="02020603050405020304" pitchFamily="18" charset="0"/>
                      </a:endParaRPr>
                    </a:p>
                  </a:txBody>
                  <a:tcPr/>
                </a:tc>
                <a:tc hMerge="1">
                  <a:txBody>
                    <a:bodyPr/>
                    <a:lstStyle/>
                    <a:p>
                      <a:endParaRPr lang="zh-TW" altLang="en-US" dirty="0"/>
                    </a:p>
                  </a:txBody>
                  <a:tcPr/>
                </a:tc>
                <a:tc hMerge="1">
                  <a:txBody>
                    <a:bodyPr/>
                    <a:lstStyle/>
                    <a:p>
                      <a:endParaRPr lang="zh-TW" altLang="en-US"/>
                    </a:p>
                  </a:txBody>
                  <a:tcPr/>
                </a:tc>
                <a:tc gridSpan="3">
                  <a:txBody>
                    <a:bodyPr/>
                    <a:lstStyle/>
                    <a:p>
                      <a:pPr algn="ctr"/>
                      <a:r>
                        <a:rPr lang="en-US" altLang="zh-TW" sz="1600" dirty="0">
                          <a:latin typeface="Times New Roman" panose="02020603050405020304" pitchFamily="18" charset="0"/>
                          <a:cs typeface="Times New Roman" panose="02020603050405020304" pitchFamily="18" charset="0"/>
                        </a:rPr>
                        <a:t>Analysis</a:t>
                      </a:r>
                      <a:endParaRPr lang="zh-TW" altLang="en-US" sz="1600" dirty="0">
                        <a:latin typeface="Times New Roman" panose="02020603050405020304" pitchFamily="18" charset="0"/>
                        <a:cs typeface="Times New Roman" panose="02020603050405020304" pitchFamily="18" charset="0"/>
                      </a:endParaRPr>
                    </a:p>
                  </a:txBody>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10000"/>
                  </a:ext>
                </a:extLst>
              </a:tr>
              <a:tr h="273333">
                <a:tc>
                  <a:txBody>
                    <a:bodyPr/>
                    <a:lstStyle/>
                    <a:p>
                      <a:pPr algn="ctr"/>
                      <a:r>
                        <a:rPr lang="en-US" altLang="zh-TW" sz="1600" dirty="0">
                          <a:latin typeface="Times New Roman" panose="02020603050405020304" pitchFamily="18" charset="0"/>
                          <a:cs typeface="Times New Roman" panose="02020603050405020304" pitchFamily="18" charset="0"/>
                        </a:rPr>
                        <a:t>Query</a:t>
                      </a:r>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dirty="0">
                          <a:latin typeface="Times New Roman" panose="02020603050405020304" pitchFamily="18" charset="0"/>
                          <a:cs typeface="Times New Roman" panose="02020603050405020304" pitchFamily="18" charset="0"/>
                        </a:rPr>
                        <a:t>Target</a:t>
                      </a:r>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dirty="0">
                          <a:latin typeface="Times New Roman" panose="02020603050405020304" pitchFamily="18" charset="0"/>
                          <a:cs typeface="Times New Roman" panose="02020603050405020304" pitchFamily="18" charset="0"/>
                        </a:rPr>
                        <a:t>E-value</a:t>
                      </a:r>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dirty="0">
                          <a:latin typeface="Times New Roman" panose="02020603050405020304" pitchFamily="18" charset="0"/>
                          <a:cs typeface="Times New Roman" panose="02020603050405020304" pitchFamily="18" charset="0"/>
                        </a:rPr>
                        <a:t>Related?</a:t>
                      </a:r>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dirty="0">
                          <a:latin typeface="Times New Roman" panose="02020603050405020304" pitchFamily="18" charset="0"/>
                          <a:cs typeface="Times New Roman" panose="02020603050405020304" pitchFamily="18" charset="0"/>
                        </a:rPr>
                        <a:t>Coverage</a:t>
                      </a:r>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dirty="0">
                          <a:latin typeface="Times New Roman" panose="02020603050405020304" pitchFamily="18" charset="0"/>
                          <a:cs typeface="Times New Roman" panose="02020603050405020304" pitchFamily="18" charset="0"/>
                        </a:rPr>
                        <a:t>Errors per</a:t>
                      </a:r>
                    </a:p>
                    <a:p>
                      <a:pPr algn="ctr"/>
                      <a:r>
                        <a:rPr lang="en-US" altLang="zh-TW" sz="1600" dirty="0">
                          <a:latin typeface="Times New Roman" panose="02020603050405020304" pitchFamily="18" charset="0"/>
                          <a:cs typeface="Times New Roman" panose="02020603050405020304" pitchFamily="18" charset="0"/>
                        </a:rPr>
                        <a:t>query</a:t>
                      </a:r>
                      <a:endParaRPr lang="zh-TW" alt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1"/>
                  </a:ext>
                </a:extLst>
              </a:tr>
              <a:tr h="27333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dirty="0">
                          <a:latin typeface="Times New Roman" panose="02020603050405020304" pitchFamily="18" charset="0"/>
                          <a:cs typeface="Times New Roman" panose="02020603050405020304" pitchFamily="18" charset="0"/>
                        </a:rPr>
                        <a:t>Q7Z2Z1</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b="1" dirty="0">
                          <a:solidFill>
                            <a:srgbClr val="FF0000"/>
                          </a:solidFill>
                          <a:latin typeface="Times New Roman" panose="02020603050405020304" pitchFamily="18" charset="0"/>
                          <a:cs typeface="Times New Roman" panose="02020603050405020304" pitchFamily="18" charset="0"/>
                        </a:rPr>
                        <a:t>c.1.10.1</a:t>
                      </a:r>
                      <a:endParaRPr lang="zh-TW" altLang="en-US" sz="16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dirty="0">
                          <a:latin typeface="Times New Roman" panose="02020603050405020304" pitchFamily="18" charset="0"/>
                          <a:cs typeface="Times New Roman" panose="02020603050405020304" pitchFamily="18" charset="0"/>
                        </a:rPr>
                        <a:t>Q8BQ33</a:t>
                      </a:r>
                      <a:r>
                        <a:rPr lang="zh-TW" altLang="en-US" sz="1600" dirty="0">
                          <a:latin typeface="Times New Roman" panose="02020603050405020304" pitchFamily="18" charset="0"/>
                          <a:cs typeface="Times New Roman" panose="02020603050405020304" pitchFamily="18" charset="0"/>
                        </a:rPr>
                        <a:t> </a:t>
                      </a:r>
                      <a:r>
                        <a:rPr lang="en-US" altLang="zh-TW" sz="1600" b="1" dirty="0">
                          <a:solidFill>
                            <a:srgbClr val="FF0000"/>
                          </a:solidFill>
                          <a:latin typeface="Times New Roman" panose="02020603050405020304" pitchFamily="18" charset="0"/>
                          <a:cs typeface="Times New Roman" panose="02020603050405020304" pitchFamily="18" charset="0"/>
                        </a:rPr>
                        <a:t>c.1.10.2</a:t>
                      </a:r>
                      <a:endParaRPr lang="zh-TW" altLang="en-US" sz="16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zh-TW" altLang="en-US" sz="1600" dirty="0">
                          <a:latin typeface="Times New Roman" panose="02020603050405020304" pitchFamily="18" charset="0"/>
                          <a:cs typeface="Times New Roman" panose="02020603050405020304" pitchFamily="18" charset="0"/>
                        </a:rPr>
                        <a:t>3.3e-35</a:t>
                      </a:r>
                    </a:p>
                  </a:txBody>
                  <a:tcPr anchor="ctr"/>
                </a:tc>
                <a:tc>
                  <a:txBody>
                    <a:bodyPr/>
                    <a:lstStyle/>
                    <a:p>
                      <a:pPr algn="ctr"/>
                      <a:r>
                        <a:rPr lang="en-US" altLang="zh-TW" sz="1600" dirty="0">
                          <a:latin typeface="Times New Roman" panose="02020603050405020304" pitchFamily="18" charset="0"/>
                          <a:cs typeface="Times New Roman" panose="02020603050405020304" pitchFamily="18" charset="0"/>
                        </a:rPr>
                        <a:t>Yes</a:t>
                      </a:r>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dirty="0">
                          <a:latin typeface="Times New Roman" panose="02020603050405020304" pitchFamily="18" charset="0"/>
                          <a:cs typeface="Times New Roman" panose="02020603050405020304" pitchFamily="18" charset="0"/>
                        </a:rPr>
                        <a:t>0.055</a:t>
                      </a:r>
                      <a:endParaRPr lang="zh-TW" altLang="en-US" sz="1600" dirty="0">
                        <a:latin typeface="Times New Roman" panose="02020603050405020304" pitchFamily="18" charset="0"/>
                        <a:cs typeface="Times New Roman" panose="02020603050405020304" pitchFamily="18" charset="0"/>
                      </a:endParaRPr>
                    </a:p>
                  </a:txBody>
                  <a:tcPr anchor="ctr">
                    <a:solidFill>
                      <a:schemeClr val="accent3">
                        <a:lumMod val="60000"/>
                        <a:lumOff val="40000"/>
                      </a:schemeClr>
                    </a:solidFill>
                  </a:tcPr>
                </a:tc>
                <a:tc>
                  <a:txBody>
                    <a:bodyPr/>
                    <a:lstStyle/>
                    <a:p>
                      <a:pPr algn="ctr"/>
                      <a:r>
                        <a:rPr lang="en-US" altLang="zh-TW" sz="1600" dirty="0">
                          <a:latin typeface="Times New Roman" panose="02020603050405020304" pitchFamily="18" charset="0"/>
                          <a:cs typeface="Times New Roman" panose="02020603050405020304" pitchFamily="18" charset="0"/>
                        </a:rPr>
                        <a:t>0</a:t>
                      </a:r>
                      <a:endParaRPr lang="zh-TW" alt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3"/>
                  </a:ext>
                </a:extLst>
              </a:tr>
              <a:tr h="273333">
                <a:tc>
                  <a:txBody>
                    <a:bodyPr/>
                    <a:lstStyle/>
                    <a:p>
                      <a:pPr algn="ctr"/>
                      <a:r>
                        <a:rPr lang="en-US" altLang="zh-TW" sz="1600" dirty="0">
                          <a:latin typeface="Times New Roman" panose="02020603050405020304" pitchFamily="18" charset="0"/>
                          <a:cs typeface="Times New Roman" panose="02020603050405020304" pitchFamily="18" charset="0"/>
                        </a:rPr>
                        <a:t>Q7Z2Z1 </a:t>
                      </a:r>
                      <a:r>
                        <a:rPr lang="en-US" altLang="zh-TW" sz="1600" b="1" dirty="0">
                          <a:solidFill>
                            <a:srgbClr val="FF0000"/>
                          </a:solidFill>
                          <a:latin typeface="Times New Roman" panose="02020603050405020304" pitchFamily="18" charset="0"/>
                          <a:cs typeface="Times New Roman" panose="02020603050405020304" pitchFamily="18" charset="0"/>
                        </a:rPr>
                        <a:t>c.1.10.1</a:t>
                      </a:r>
                      <a:endParaRPr lang="zh-TW" altLang="en-US" sz="16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sz="1600" dirty="0">
                          <a:latin typeface="Times New Roman" panose="02020603050405020304" pitchFamily="18" charset="0"/>
                          <a:cs typeface="Times New Roman" panose="02020603050405020304" pitchFamily="18" charset="0"/>
                        </a:rPr>
                        <a:t>D3IUT5 </a:t>
                      </a:r>
                      <a:r>
                        <a:rPr lang="en-US" altLang="zh-TW" sz="1600" b="1" dirty="0">
                          <a:solidFill>
                            <a:srgbClr val="FF0000"/>
                          </a:solidFill>
                          <a:latin typeface="Times New Roman" panose="02020603050405020304" pitchFamily="18" charset="0"/>
                          <a:cs typeface="Times New Roman" panose="02020603050405020304" pitchFamily="18" charset="0"/>
                        </a:rPr>
                        <a:t>c.1.10.3</a:t>
                      </a:r>
                      <a:endParaRPr lang="zh-TW" altLang="en-US" sz="16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sz="1600" dirty="0">
                          <a:latin typeface="Times New Roman" panose="02020603050405020304" pitchFamily="18" charset="0"/>
                          <a:cs typeface="Times New Roman" panose="02020603050405020304" pitchFamily="18" charset="0"/>
                        </a:rPr>
                        <a:t>3.3e-24</a:t>
                      </a:r>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dirty="0">
                          <a:latin typeface="Times New Roman" panose="02020603050405020304" pitchFamily="18" charset="0"/>
                          <a:cs typeface="Times New Roman" panose="02020603050405020304" pitchFamily="18" charset="0"/>
                        </a:rPr>
                        <a:t>Yes</a:t>
                      </a:r>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dirty="0">
                          <a:latin typeface="Times New Roman" panose="02020603050405020304" pitchFamily="18" charset="0"/>
                          <a:cs typeface="Times New Roman" panose="02020603050405020304" pitchFamily="18" charset="0"/>
                        </a:rPr>
                        <a:t>0.110</a:t>
                      </a:r>
                      <a:endParaRPr lang="zh-TW" altLang="en-US" sz="1600" dirty="0">
                        <a:latin typeface="Times New Roman" panose="02020603050405020304" pitchFamily="18" charset="0"/>
                        <a:cs typeface="Times New Roman" panose="02020603050405020304" pitchFamily="18" charset="0"/>
                      </a:endParaRPr>
                    </a:p>
                  </a:txBody>
                  <a:tcPr anchor="ctr">
                    <a:solidFill>
                      <a:schemeClr val="accent3">
                        <a:lumMod val="60000"/>
                        <a:lumOff val="40000"/>
                      </a:schemeClr>
                    </a:solidFill>
                  </a:tcPr>
                </a:tc>
                <a:tc>
                  <a:txBody>
                    <a:bodyPr/>
                    <a:lstStyle/>
                    <a:p>
                      <a:pPr algn="ctr"/>
                      <a:r>
                        <a:rPr lang="en-US" altLang="zh-TW" sz="1600" dirty="0">
                          <a:latin typeface="Times New Roman" panose="02020603050405020304" pitchFamily="18" charset="0"/>
                          <a:cs typeface="Times New Roman" panose="02020603050405020304" pitchFamily="18" charset="0"/>
                        </a:rPr>
                        <a:t>0</a:t>
                      </a:r>
                      <a:endParaRPr lang="zh-TW" altLang="en-US" sz="1600" dirty="0">
                        <a:latin typeface="Times New Roman" panose="02020603050405020304" pitchFamily="18" charset="0"/>
                        <a:cs typeface="Times New Roman" panose="02020603050405020304" pitchFamily="18" charset="0"/>
                      </a:endParaRPr>
                    </a:p>
                  </a:txBody>
                  <a:tcPr anchor="ctr">
                    <a:solidFill>
                      <a:schemeClr val="bg1"/>
                    </a:solidFill>
                  </a:tcPr>
                </a:tc>
                <a:extLst>
                  <a:ext uri="{0D108BD9-81ED-4DB2-BD59-A6C34878D82A}">
                    <a16:rowId xmlns:a16="http://schemas.microsoft.com/office/drawing/2014/main" val="10004"/>
                  </a:ext>
                </a:extLst>
              </a:tr>
              <a:tr h="273333">
                <a:tc>
                  <a:txBody>
                    <a:bodyPr/>
                    <a:lstStyle/>
                    <a:p>
                      <a:pPr algn="ctr"/>
                      <a:r>
                        <a:rPr lang="en-US" altLang="zh-TW" sz="1600" dirty="0">
                          <a:latin typeface="Times New Roman" panose="02020603050405020304" pitchFamily="18" charset="0"/>
                          <a:cs typeface="Times New Roman" panose="02020603050405020304" pitchFamily="18" charset="0"/>
                        </a:rPr>
                        <a:t>Q13009 </a:t>
                      </a:r>
                      <a:r>
                        <a:rPr lang="en-US" altLang="zh-TW" sz="1600" b="1" dirty="0">
                          <a:solidFill>
                            <a:srgbClr val="FF0000"/>
                          </a:solidFill>
                          <a:latin typeface="Times New Roman" panose="02020603050405020304" pitchFamily="18" charset="0"/>
                          <a:cs typeface="Times New Roman" panose="02020603050405020304" pitchFamily="18" charset="0"/>
                        </a:rPr>
                        <a:t>c.1.699.2</a:t>
                      </a:r>
                      <a:endParaRPr lang="zh-TW" altLang="en-US" sz="16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sz="1600" dirty="0">
                          <a:latin typeface="Times New Roman" panose="02020603050405020304" pitchFamily="18" charset="0"/>
                          <a:cs typeface="Times New Roman" panose="02020603050405020304" pitchFamily="18" charset="0"/>
                        </a:rPr>
                        <a:t>Q63406 </a:t>
                      </a:r>
                      <a:r>
                        <a:rPr lang="en-US" altLang="zh-TW" sz="1600" b="1" dirty="0">
                          <a:solidFill>
                            <a:srgbClr val="FF0000"/>
                          </a:solidFill>
                          <a:latin typeface="Times New Roman" panose="02020603050405020304" pitchFamily="18" charset="0"/>
                          <a:cs typeface="Times New Roman" panose="02020603050405020304" pitchFamily="18" charset="0"/>
                        </a:rPr>
                        <a:t>c.1.10.1</a:t>
                      </a:r>
                      <a:endParaRPr lang="zh-TW" altLang="en-US" sz="16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sz="1600" dirty="0">
                          <a:latin typeface="Times New Roman" panose="02020603050405020304" pitchFamily="18" charset="0"/>
                          <a:cs typeface="Times New Roman" panose="02020603050405020304" pitchFamily="18" charset="0"/>
                        </a:rPr>
                        <a:t>1.6e-20</a:t>
                      </a:r>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dirty="0">
                          <a:latin typeface="Times New Roman" panose="02020603050405020304" pitchFamily="18" charset="0"/>
                          <a:cs typeface="Times New Roman" panose="02020603050405020304" pitchFamily="18" charset="0"/>
                        </a:rPr>
                        <a:t>No</a:t>
                      </a:r>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dirty="0">
                          <a:latin typeface="Times New Roman" panose="02020603050405020304" pitchFamily="18" charset="0"/>
                          <a:cs typeface="Times New Roman" panose="02020603050405020304" pitchFamily="18" charset="0"/>
                        </a:rPr>
                        <a:t>0.11</a:t>
                      </a:r>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dirty="0">
                          <a:latin typeface="Times New Roman" panose="02020603050405020304" pitchFamily="18" charset="0"/>
                          <a:cs typeface="Times New Roman" panose="02020603050405020304" pitchFamily="18" charset="0"/>
                        </a:rPr>
                        <a:t>0.001</a:t>
                      </a:r>
                      <a:endParaRPr lang="zh-TW" altLang="en-US" sz="1600" dirty="0">
                        <a:latin typeface="Times New Roman" panose="02020603050405020304" pitchFamily="18" charset="0"/>
                        <a:cs typeface="Times New Roman" panose="02020603050405020304" pitchFamily="18" charset="0"/>
                      </a:endParaRPr>
                    </a:p>
                  </a:txBody>
                  <a:tcPr anchor="ctr">
                    <a:solidFill>
                      <a:schemeClr val="accent2">
                        <a:lumMod val="40000"/>
                        <a:lumOff val="60000"/>
                      </a:schemeClr>
                    </a:solidFill>
                  </a:tcPr>
                </a:tc>
                <a:extLst>
                  <a:ext uri="{0D108BD9-81ED-4DB2-BD59-A6C34878D82A}">
                    <a16:rowId xmlns:a16="http://schemas.microsoft.com/office/drawing/2014/main" val="870710400"/>
                  </a:ext>
                </a:extLst>
              </a:tr>
              <a:tr h="273333">
                <a:tc>
                  <a:txBody>
                    <a:bodyPr/>
                    <a:lstStyle/>
                    <a:p>
                      <a:pPr algn="ctr"/>
                      <a:r>
                        <a:rPr lang="en-US" altLang="zh-TW" sz="1600" dirty="0">
                          <a:latin typeface="Times New Roman" panose="02020603050405020304" pitchFamily="18" charset="0"/>
                          <a:cs typeface="Times New Roman" panose="02020603050405020304" pitchFamily="18" charset="0"/>
                        </a:rPr>
                        <a:t>Q13009 </a:t>
                      </a:r>
                      <a:r>
                        <a:rPr lang="en-US" altLang="zh-TW" sz="1600" b="1" dirty="0">
                          <a:solidFill>
                            <a:srgbClr val="FF0000"/>
                          </a:solidFill>
                          <a:latin typeface="Times New Roman" panose="02020603050405020304" pitchFamily="18" charset="0"/>
                          <a:cs typeface="Times New Roman" panose="02020603050405020304" pitchFamily="18" charset="0"/>
                        </a:rPr>
                        <a:t>c.1.699.2</a:t>
                      </a:r>
                      <a:endParaRPr lang="zh-TW" altLang="en-US" sz="16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sz="1600" dirty="0">
                          <a:latin typeface="Times New Roman" panose="02020603050405020304" pitchFamily="18" charset="0"/>
                          <a:cs typeface="Times New Roman" panose="02020603050405020304" pitchFamily="18" charset="0"/>
                        </a:rPr>
                        <a:t>P38990 </a:t>
                      </a:r>
                      <a:r>
                        <a:rPr lang="en-US" altLang="zh-TW" sz="1600" b="1" dirty="0">
                          <a:solidFill>
                            <a:srgbClr val="FF0000"/>
                          </a:solidFill>
                          <a:latin typeface="Times New Roman" panose="02020603050405020304" pitchFamily="18" charset="0"/>
                          <a:cs typeface="Times New Roman" panose="02020603050405020304" pitchFamily="18" charset="0"/>
                        </a:rPr>
                        <a:t>c.1.699.4</a:t>
                      </a:r>
                      <a:endParaRPr lang="zh-TW" altLang="en-US" sz="16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sz="1600" dirty="0">
                          <a:latin typeface="Times New Roman" panose="02020603050405020304" pitchFamily="18" charset="0"/>
                          <a:cs typeface="Times New Roman" panose="02020603050405020304" pitchFamily="18" charset="0"/>
                        </a:rPr>
                        <a:t>5e-19</a:t>
                      </a:r>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dirty="0">
                          <a:latin typeface="Times New Roman" panose="02020603050405020304" pitchFamily="18" charset="0"/>
                          <a:cs typeface="Times New Roman" panose="02020603050405020304" pitchFamily="18" charset="0"/>
                        </a:rPr>
                        <a:t>Yes</a:t>
                      </a:r>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dirty="0">
                          <a:latin typeface="Times New Roman" panose="02020603050405020304" pitchFamily="18" charset="0"/>
                          <a:cs typeface="Times New Roman" panose="02020603050405020304" pitchFamily="18" charset="0"/>
                        </a:rPr>
                        <a:t>0.165</a:t>
                      </a:r>
                      <a:endParaRPr lang="zh-TW" altLang="en-US" sz="1600" dirty="0">
                        <a:latin typeface="Times New Roman" panose="02020603050405020304" pitchFamily="18" charset="0"/>
                        <a:cs typeface="Times New Roman" panose="02020603050405020304" pitchFamily="18" charset="0"/>
                      </a:endParaRPr>
                    </a:p>
                  </a:txBody>
                  <a:tcPr anchor="ctr">
                    <a:solidFill>
                      <a:schemeClr val="accent3">
                        <a:lumMod val="60000"/>
                        <a:lumOff val="4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dirty="0">
                          <a:latin typeface="Times New Roman" panose="02020603050405020304" pitchFamily="18" charset="0"/>
                          <a:cs typeface="Times New Roman" panose="02020603050405020304" pitchFamily="18" charset="0"/>
                        </a:rPr>
                        <a:t>0.001</a:t>
                      </a:r>
                      <a:endParaRPr lang="zh-TW" altLang="en-US" sz="1600" dirty="0">
                        <a:latin typeface="Times New Roman" panose="02020603050405020304" pitchFamily="18" charset="0"/>
                        <a:cs typeface="Times New Roman" panose="02020603050405020304" pitchFamily="18" charset="0"/>
                      </a:endParaRPr>
                    </a:p>
                  </a:txBody>
                  <a:tcPr anchor="ctr">
                    <a:solidFill>
                      <a:schemeClr val="bg1"/>
                    </a:solidFill>
                  </a:tcPr>
                </a:tc>
                <a:extLst>
                  <a:ext uri="{0D108BD9-81ED-4DB2-BD59-A6C34878D82A}">
                    <a16:rowId xmlns:a16="http://schemas.microsoft.com/office/drawing/2014/main" val="1434054792"/>
                  </a:ext>
                </a:extLst>
              </a:tr>
              <a:tr h="560784">
                <a:tc gridSpan="6">
                  <a:txBody>
                    <a:bodyPr/>
                    <a:lstStyle/>
                    <a:p>
                      <a:pPr algn="ctr"/>
                      <a:r>
                        <a:rPr lang="en-US" altLang="zh-TW" sz="1000" dirty="0">
                          <a:latin typeface="Times New Roman" panose="02020603050405020304" pitchFamily="18" charset="0"/>
                          <a:cs typeface="Times New Roman" panose="02020603050405020304" pitchFamily="18" charset="0"/>
                        </a:rPr>
                        <a:t>●●●</a:t>
                      </a:r>
                    </a:p>
                  </a:txBody>
                  <a:tcPr vert="eaVert" anchor="ctr"/>
                </a:tc>
                <a:tc hMerge="1">
                  <a:txBody>
                    <a:bodyPr/>
                    <a:lstStyle/>
                    <a:p>
                      <a:pPr algn="ctr"/>
                      <a:endParaRPr lang="zh-TW" altLang="en-US" sz="1400" dirty="0"/>
                    </a:p>
                  </a:txBody>
                  <a:tcPr anchor="ct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10005"/>
                  </a:ext>
                </a:extLst>
              </a:tr>
              <a:tr h="627909">
                <a:tc>
                  <a:txBody>
                    <a:bodyPr/>
                    <a:lstStyle/>
                    <a:p>
                      <a:pPr algn="ctr"/>
                      <a:r>
                        <a:rPr lang="en-US" altLang="zh-TW" sz="1600" dirty="0">
                          <a:latin typeface="Times New Roman" panose="02020603050405020304" pitchFamily="18" charset="0"/>
                          <a:cs typeface="Times New Roman" panose="02020603050405020304" pitchFamily="18" charset="0"/>
                        </a:rPr>
                        <a:t>Q70E73 </a:t>
                      </a:r>
                      <a:r>
                        <a:rPr lang="en-US" altLang="zh-TW" sz="1600" b="1" dirty="0">
                          <a:solidFill>
                            <a:srgbClr val="FF0000"/>
                          </a:solidFill>
                          <a:latin typeface="Times New Roman" panose="02020603050405020304" pitchFamily="18" charset="0"/>
                          <a:cs typeface="Times New Roman" panose="02020603050405020304" pitchFamily="18" charset="0"/>
                        </a:rPr>
                        <a:t>c.1.532.1</a:t>
                      </a:r>
                      <a:endParaRPr lang="zh-TW" altLang="en-US" sz="16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sz="1600" dirty="0">
                          <a:latin typeface="Times New Roman" panose="02020603050405020304" pitchFamily="18" charset="0"/>
                          <a:cs typeface="Times New Roman" panose="02020603050405020304" pitchFamily="18" charset="0"/>
                        </a:rPr>
                        <a:t>Q63406 </a:t>
                      </a:r>
                      <a:r>
                        <a:rPr lang="en-US" altLang="zh-TW" sz="1600" b="1" dirty="0">
                          <a:solidFill>
                            <a:srgbClr val="FF0000"/>
                          </a:solidFill>
                          <a:latin typeface="Times New Roman" panose="02020603050405020304" pitchFamily="18" charset="0"/>
                          <a:cs typeface="Times New Roman" panose="02020603050405020304" pitchFamily="18" charset="0"/>
                        </a:rPr>
                        <a:t>a.1.1881.1</a:t>
                      </a:r>
                      <a:endParaRPr lang="zh-TW" altLang="en-US" sz="16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sz="1600" dirty="0">
                          <a:latin typeface="Times New Roman" panose="02020603050405020304" pitchFamily="18" charset="0"/>
                          <a:cs typeface="Times New Roman" panose="02020603050405020304" pitchFamily="18" charset="0"/>
                        </a:rPr>
                        <a:t>1.6e-2</a:t>
                      </a:r>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dirty="0">
                          <a:latin typeface="Times New Roman" panose="02020603050405020304" pitchFamily="18" charset="0"/>
                          <a:cs typeface="Times New Roman" panose="02020603050405020304" pitchFamily="18" charset="0"/>
                        </a:rPr>
                        <a:t>No</a:t>
                      </a:r>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dirty="0">
                          <a:latin typeface="Times New Roman" panose="02020603050405020304" pitchFamily="18" charset="0"/>
                          <a:cs typeface="Times New Roman" panose="02020603050405020304" pitchFamily="18" charset="0"/>
                        </a:rPr>
                        <a:t>0.385</a:t>
                      </a:r>
                      <a:endParaRPr lang="zh-TW" alt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dirty="0">
                          <a:latin typeface="Times New Roman" panose="02020603050405020304" pitchFamily="18" charset="0"/>
                          <a:cs typeface="Times New Roman" panose="02020603050405020304" pitchFamily="18" charset="0"/>
                        </a:rPr>
                        <a:t>0.010</a:t>
                      </a:r>
                    </a:p>
                  </a:txBody>
                  <a:tcPr anchor="ctr">
                    <a:solidFill>
                      <a:schemeClr val="accent2">
                        <a:lumMod val="40000"/>
                        <a:lumOff val="60000"/>
                      </a:schemeClr>
                    </a:solidFill>
                  </a:tcPr>
                </a:tc>
                <a:extLst>
                  <a:ext uri="{0D108BD9-81ED-4DB2-BD59-A6C34878D82A}">
                    <a16:rowId xmlns:a16="http://schemas.microsoft.com/office/drawing/2014/main" val="10008"/>
                  </a:ext>
                </a:extLst>
              </a:tr>
            </a:tbl>
          </a:graphicData>
        </a:graphic>
      </p:graphicFrame>
      <p:sp>
        <p:nvSpPr>
          <p:cNvPr id="6" name="矩形 5">
            <a:extLst>
              <a:ext uri="{FF2B5EF4-FFF2-40B4-BE49-F238E27FC236}">
                <a16:creationId xmlns:a16="http://schemas.microsoft.com/office/drawing/2014/main" id="{435B1D50-694F-46CD-A837-A5317E5B9A20}"/>
              </a:ext>
            </a:extLst>
          </p:cNvPr>
          <p:cNvSpPr/>
          <p:nvPr/>
        </p:nvSpPr>
        <p:spPr>
          <a:xfrm>
            <a:off x="188616" y="937510"/>
            <a:ext cx="5310336" cy="646331"/>
          </a:xfrm>
          <a:prstGeom prst="rect">
            <a:avLst/>
          </a:prstGeom>
        </p:spPr>
        <p:txBody>
          <a:bodyPr wrap="square">
            <a:spAutoFit/>
          </a:bodyPr>
          <a:lstStyle/>
          <a:p>
            <a:r>
              <a:rPr lang="zh-TW" altLang="en-US" dirty="0">
                <a:latin typeface="Times New Roman" panose="02020603050405020304" pitchFamily="18" charset="0"/>
                <a:cs typeface="Times New Roman" panose="02020603050405020304" pitchFamily="18" charset="0"/>
              </a:rPr>
              <a:t>Superfamily c.1.10:</a:t>
            </a:r>
            <a:endParaRPr lang="en-US" altLang="zh-TW" dirty="0">
              <a:latin typeface="Times New Roman" panose="02020603050405020304" pitchFamily="18" charset="0"/>
              <a:cs typeface="Times New Roman" panose="02020603050405020304" pitchFamily="18" charset="0"/>
            </a:endParaRPr>
          </a:p>
          <a:p>
            <a:r>
              <a:rPr lang="zh-TW" altLang="en-US"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3</a:t>
            </a:r>
            <a:r>
              <a:rPr lang="zh-TW" altLang="en-US" dirty="0">
                <a:latin typeface="Times New Roman" panose="02020603050405020304" pitchFamily="18" charset="0"/>
                <a:cs typeface="Times New Roman" panose="02020603050405020304" pitchFamily="18" charset="0"/>
              </a:rPr>
              <a:t> sequences)</a:t>
            </a:r>
          </a:p>
        </p:txBody>
      </p:sp>
      <p:sp>
        <p:nvSpPr>
          <p:cNvPr id="7" name="矩形 6"/>
          <p:cNvSpPr/>
          <p:nvPr/>
        </p:nvSpPr>
        <p:spPr>
          <a:xfrm>
            <a:off x="188616" y="1688426"/>
            <a:ext cx="4572000" cy="646331"/>
          </a:xfrm>
          <a:prstGeom prst="rect">
            <a:avLst/>
          </a:prstGeom>
        </p:spPr>
        <p:txBody>
          <a:bodyPr>
            <a:spAutoFit/>
          </a:bodyPr>
          <a:lstStyle/>
          <a:p>
            <a:r>
              <a:rPr lang="zh-TW" altLang="en-US" dirty="0">
                <a:latin typeface="Times New Roman" panose="02020603050405020304" pitchFamily="18" charset="0"/>
                <a:cs typeface="Times New Roman" panose="02020603050405020304" pitchFamily="18" charset="0"/>
              </a:rPr>
              <a:t>Superfamily </a:t>
            </a:r>
            <a:r>
              <a:rPr lang="en-US" altLang="zh-TW" dirty="0">
                <a:latin typeface="Times New Roman" panose="02020603050405020304" pitchFamily="18" charset="0"/>
                <a:cs typeface="Times New Roman" panose="02020603050405020304" pitchFamily="18" charset="0"/>
              </a:rPr>
              <a:t>c.1.699</a:t>
            </a:r>
            <a:r>
              <a:rPr lang="zh-TW" altLang="en-US" dirty="0">
                <a:latin typeface="Times New Roman" panose="02020603050405020304" pitchFamily="18" charset="0"/>
                <a:cs typeface="Times New Roman" panose="02020603050405020304" pitchFamily="18" charset="0"/>
              </a:rPr>
              <a:t>:</a:t>
            </a:r>
            <a:endParaRPr lang="en-US" altLang="zh-TW" dirty="0">
              <a:latin typeface="Times New Roman" panose="02020603050405020304" pitchFamily="18" charset="0"/>
              <a:cs typeface="Times New Roman" panose="02020603050405020304" pitchFamily="18" charset="0"/>
            </a:endParaRPr>
          </a:p>
          <a:p>
            <a:r>
              <a:rPr lang="zh-TW" altLang="en-US"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3</a:t>
            </a:r>
            <a:r>
              <a:rPr lang="zh-TW" altLang="en-US" dirty="0">
                <a:latin typeface="Times New Roman" panose="02020603050405020304" pitchFamily="18" charset="0"/>
                <a:cs typeface="Times New Roman" panose="02020603050405020304" pitchFamily="18" charset="0"/>
              </a:rPr>
              <a:t> sequences)</a:t>
            </a:r>
          </a:p>
        </p:txBody>
      </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B34A4ED3-EE20-4896-9ED4-A94D9B2A6B76}"/>
                  </a:ext>
                </a:extLst>
              </p:cNvPr>
              <p:cNvSpPr/>
              <p:nvPr/>
            </p:nvSpPr>
            <p:spPr>
              <a:xfrm>
                <a:off x="251520" y="4534652"/>
                <a:ext cx="1898084" cy="1114921"/>
              </a:xfrm>
              <a:prstGeom prst="rect">
                <a:avLst/>
              </a:prstGeom>
            </p:spPr>
            <p:txBody>
              <a:bodyPr wrap="none">
                <a:spAutoFit/>
              </a:bodyPr>
              <a:lstStyle/>
              <a:p>
                <a14:m>
                  <m:oMath xmlns:m="http://schemas.openxmlformats.org/officeDocument/2006/math">
                    <m:f>
                      <m:fPr>
                        <m:ctrlPr>
                          <a:rPr lang="en-US" altLang="zh-TW" sz="2400" i="1" smtClean="0">
                            <a:latin typeface="Cambria Math" panose="02040503050406030204" pitchFamily="18" charset="0"/>
                          </a:rPr>
                        </m:ctrlPr>
                      </m:fPr>
                      <m:num>
                        <m:r>
                          <a:rPr lang="en-US" altLang="zh-TW" sz="2400" b="0" i="1" smtClean="0">
                            <a:latin typeface="Cambria Math" panose="02040503050406030204" pitchFamily="18" charset="0"/>
                          </a:rPr>
                          <m:t>1</m:t>
                        </m:r>
                      </m:num>
                      <m:den>
                        <m:r>
                          <a:rPr lang="en-US" altLang="zh-TW" sz="2400" i="1">
                            <a:latin typeface="Cambria Math" panose="02040503050406030204" pitchFamily="18" charset="0"/>
                          </a:rPr>
                          <m:t>3</m:t>
                        </m:r>
                      </m:den>
                    </m:f>
                    <m:f>
                      <m:fPr>
                        <m:ctrlPr>
                          <a:rPr lang="en-US" altLang="zh-TW" sz="2400" i="1" smtClean="0">
                            <a:latin typeface="Cambria Math" panose="02040503050406030204" pitchFamily="18" charset="0"/>
                          </a:rPr>
                        </m:ctrlPr>
                      </m:fPr>
                      <m:num>
                        <m:r>
                          <a:rPr lang="en-US" altLang="zh-TW" sz="2400" b="0" i="1" smtClean="0">
                            <a:latin typeface="Cambria Math" panose="02040503050406030204" pitchFamily="18" charset="0"/>
                          </a:rPr>
                          <m:t>2</m:t>
                        </m:r>
                      </m:num>
                      <m:den>
                        <m:r>
                          <a:rPr lang="en-US" altLang="zh-TW" sz="2400" b="0" i="1" smtClean="0">
                            <a:latin typeface="Cambria Math" panose="02040503050406030204" pitchFamily="18" charset="0"/>
                          </a:rPr>
                          <m:t>2</m:t>
                        </m:r>
                        <m:d>
                          <m:dPr>
                            <m:ctrlPr>
                              <a:rPr lang="en-US" altLang="zh-TW" sz="2400" i="1" smtClean="0">
                                <a:latin typeface="Cambria Math" panose="02040503050406030204" pitchFamily="18" charset="0"/>
                              </a:rPr>
                            </m:ctrlPr>
                          </m:dPr>
                          <m:e>
                            <m:m>
                              <m:mPr>
                                <m:mcs>
                                  <m:mc>
                                    <m:mcPr>
                                      <m:count m:val="1"/>
                                      <m:mcJc m:val="center"/>
                                    </m:mcPr>
                                  </m:mc>
                                </m:mcs>
                                <m:ctrlPr>
                                  <a:rPr lang="en-US" altLang="zh-TW" sz="2400" i="1">
                                    <a:latin typeface="Cambria Math" panose="02040503050406030204" pitchFamily="18" charset="0"/>
                                  </a:rPr>
                                </m:ctrlPr>
                              </m:mPr>
                              <m:mr>
                                <m:e>
                                  <m:r>
                                    <a:rPr lang="en-US" altLang="zh-TW" sz="2400" i="1">
                                      <a:latin typeface="Cambria Math" panose="02040503050406030204" pitchFamily="18" charset="0"/>
                                    </a:rPr>
                                    <m:t>3</m:t>
                                  </m:r>
                                </m:e>
                              </m:mr>
                              <m:mr>
                                <m:e>
                                  <m:r>
                                    <a:rPr lang="en-US" altLang="zh-TW" sz="2400" i="1">
                                      <a:latin typeface="Cambria Math" panose="02040503050406030204" pitchFamily="18" charset="0"/>
                                    </a:rPr>
                                    <m:t>2</m:t>
                                  </m:r>
                                </m:e>
                              </m:mr>
                            </m:m>
                          </m:e>
                        </m:d>
                      </m:den>
                    </m:f>
                  </m:oMath>
                </a14:m>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 </a:t>
                </a:r>
                <a14:m>
                  <m:oMath xmlns:m="http://schemas.openxmlformats.org/officeDocument/2006/math">
                    <m:f>
                      <m:fPr>
                        <m:ctrlPr>
                          <a:rPr lang="en-US" altLang="zh-TW" sz="2400" i="1">
                            <a:latin typeface="Cambria Math" panose="02040503050406030204" pitchFamily="18" charset="0"/>
                          </a:rPr>
                        </m:ctrlPr>
                      </m:fPr>
                      <m:num>
                        <m:r>
                          <a:rPr lang="en-US" altLang="zh-TW" sz="2400" i="1">
                            <a:latin typeface="Cambria Math" panose="02040503050406030204" pitchFamily="18" charset="0"/>
                          </a:rPr>
                          <m:t>1</m:t>
                        </m:r>
                      </m:num>
                      <m:den>
                        <m:r>
                          <a:rPr lang="en-US" altLang="zh-TW" sz="2400" i="1">
                            <a:latin typeface="Cambria Math" panose="02040503050406030204" pitchFamily="18" charset="0"/>
                          </a:rPr>
                          <m:t>3</m:t>
                        </m:r>
                      </m:den>
                    </m:f>
                    <m:f>
                      <m:fPr>
                        <m:ctrlPr>
                          <a:rPr lang="en-US" altLang="zh-TW" sz="2400" i="1">
                            <a:latin typeface="Cambria Math" panose="02040503050406030204" pitchFamily="18" charset="0"/>
                          </a:rPr>
                        </m:ctrlPr>
                      </m:fPr>
                      <m:num>
                        <m:r>
                          <a:rPr lang="en-US" altLang="zh-TW" sz="2400" i="1">
                            <a:latin typeface="Cambria Math" panose="02040503050406030204" pitchFamily="18" charset="0"/>
                          </a:rPr>
                          <m:t>1</m:t>
                        </m:r>
                      </m:num>
                      <m:den>
                        <m:r>
                          <a:rPr lang="en-US" altLang="zh-TW" sz="2400" b="0" i="1" smtClean="0">
                            <a:latin typeface="Cambria Math" panose="02040503050406030204" pitchFamily="18" charset="0"/>
                          </a:rPr>
                          <m:t>2</m:t>
                        </m:r>
                        <m:d>
                          <m:dPr>
                            <m:ctrlPr>
                              <a:rPr lang="en-US" altLang="zh-TW" sz="2400" i="1">
                                <a:latin typeface="Cambria Math" panose="02040503050406030204" pitchFamily="18" charset="0"/>
                              </a:rPr>
                            </m:ctrlPr>
                          </m:dPr>
                          <m:e>
                            <m:m>
                              <m:mPr>
                                <m:mcs>
                                  <m:mc>
                                    <m:mcPr>
                                      <m:count m:val="1"/>
                                      <m:mcJc m:val="center"/>
                                    </m:mcPr>
                                  </m:mc>
                                </m:mcs>
                                <m:ctrlPr>
                                  <a:rPr lang="en-US" altLang="zh-TW" sz="2400" i="1">
                                    <a:latin typeface="Cambria Math" panose="02040503050406030204" pitchFamily="18" charset="0"/>
                                  </a:rPr>
                                </m:ctrlPr>
                              </m:mPr>
                              <m:mr>
                                <m:e>
                                  <m:r>
                                    <a:rPr lang="en-US" altLang="zh-TW" sz="2400" i="1">
                                      <a:latin typeface="Cambria Math" panose="02040503050406030204" pitchFamily="18" charset="0"/>
                                    </a:rPr>
                                    <m:t>3</m:t>
                                  </m:r>
                                </m:e>
                              </m:mr>
                              <m:mr>
                                <m:e>
                                  <m:r>
                                    <a:rPr lang="en-US" altLang="zh-TW" sz="2400" i="1">
                                      <a:latin typeface="Cambria Math" panose="02040503050406030204" pitchFamily="18" charset="0"/>
                                    </a:rPr>
                                    <m:t>2</m:t>
                                  </m:r>
                                </m:e>
                              </m:mr>
                            </m:m>
                          </m:e>
                        </m:d>
                      </m:den>
                    </m:f>
                  </m:oMath>
                </a14:m>
                <a:r>
                  <a:rPr lang="en-US" altLang="zh-TW" sz="2000" dirty="0">
                    <a:latin typeface="Times New Roman" panose="02020603050405020304" pitchFamily="18" charset="0"/>
                    <a:cs typeface="Times New Roman" panose="02020603050405020304" pitchFamily="18" charset="0"/>
                  </a:rPr>
                  <a:t> </a:t>
                </a:r>
              </a:p>
              <a:p>
                <a:r>
                  <a:rPr lang="en-US" altLang="zh-TW" sz="2000" dirty="0">
                    <a:latin typeface="Times New Roman" panose="02020603050405020304" pitchFamily="18" charset="0"/>
                    <a:cs typeface="Times New Roman" panose="02020603050405020304" pitchFamily="18" charset="0"/>
                  </a:rPr>
                  <a:t>= 0.165</a:t>
                </a:r>
                <a:endParaRPr lang="zh-TW" altLang="en-US" sz="2000" dirty="0">
                  <a:latin typeface="Times New Roman" panose="02020603050405020304" pitchFamily="18" charset="0"/>
                  <a:cs typeface="Times New Roman" panose="02020603050405020304" pitchFamily="18" charset="0"/>
                </a:endParaRPr>
              </a:p>
            </p:txBody>
          </p:sp>
        </mc:Choice>
        <mc:Fallback xmlns="">
          <p:sp>
            <p:nvSpPr>
              <p:cNvPr id="8" name="矩形 7">
                <a:extLst>
                  <a:ext uri="{FF2B5EF4-FFF2-40B4-BE49-F238E27FC236}">
                    <a16:creationId xmlns:a16="http://schemas.microsoft.com/office/drawing/2014/main" id="{B34A4ED3-EE20-4896-9ED4-A94D9B2A6B76}"/>
                  </a:ext>
                </a:extLst>
              </p:cNvPr>
              <p:cNvSpPr>
                <a:spLocks noRot="1" noChangeAspect="1" noMove="1" noResize="1" noEditPoints="1" noAdjustHandles="1" noChangeArrowheads="1" noChangeShapeType="1" noTextEdit="1"/>
              </p:cNvSpPr>
              <p:nvPr/>
            </p:nvSpPr>
            <p:spPr>
              <a:xfrm>
                <a:off x="251520" y="4534652"/>
                <a:ext cx="1898084" cy="1114921"/>
              </a:xfrm>
              <a:prstGeom prst="rect">
                <a:avLst/>
              </a:prstGeom>
              <a:blipFill>
                <a:blip r:embed="rId2"/>
                <a:stretch>
                  <a:fillRect l="-3205" b="-8743"/>
                </a:stretch>
              </a:blipFill>
            </p:spPr>
            <p:txBody>
              <a:bodyPr/>
              <a:lstStyle/>
              <a:p>
                <a:r>
                  <a:rPr lang="zh-TW" altLang="en-US">
                    <a:noFill/>
                  </a:rPr>
                  <a:t> </a:t>
                </a:r>
              </a:p>
            </p:txBody>
          </p:sp>
        </mc:Fallback>
      </mc:AlternateContent>
      <p:sp>
        <p:nvSpPr>
          <p:cNvPr id="10" name="矩形 9"/>
          <p:cNvSpPr/>
          <p:nvPr/>
        </p:nvSpPr>
        <p:spPr>
          <a:xfrm>
            <a:off x="188616" y="2454237"/>
            <a:ext cx="4572000" cy="646331"/>
          </a:xfrm>
          <a:prstGeom prst="rect">
            <a:avLst/>
          </a:prstGeom>
        </p:spPr>
        <p:txBody>
          <a:bodyPr>
            <a:spAutoFit/>
          </a:bodyPr>
          <a:lstStyle/>
          <a:p>
            <a:r>
              <a:rPr lang="zh-TW" altLang="en-US" dirty="0">
                <a:latin typeface="Times New Roman" panose="02020603050405020304" pitchFamily="18" charset="0"/>
                <a:cs typeface="Times New Roman" panose="02020603050405020304" pitchFamily="18" charset="0"/>
              </a:rPr>
              <a:t>Superfamily </a:t>
            </a:r>
            <a:r>
              <a:rPr lang="en-US" altLang="zh-TW" dirty="0">
                <a:latin typeface="Times New Roman" panose="02020603050405020304" pitchFamily="18" charset="0"/>
                <a:cs typeface="Times New Roman" panose="02020603050405020304" pitchFamily="18" charset="0"/>
              </a:rPr>
              <a:t>c.1.532</a:t>
            </a:r>
            <a:r>
              <a:rPr lang="zh-TW" altLang="en-US" dirty="0">
                <a:latin typeface="Times New Roman" panose="02020603050405020304" pitchFamily="18" charset="0"/>
                <a:cs typeface="Times New Roman" panose="02020603050405020304" pitchFamily="18" charset="0"/>
              </a:rPr>
              <a:t>:</a:t>
            </a: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(3</a:t>
            </a:r>
            <a:r>
              <a:rPr lang="zh-TW" altLang="en-US" dirty="0">
                <a:latin typeface="Times New Roman" panose="02020603050405020304" pitchFamily="18" charset="0"/>
                <a:cs typeface="Times New Roman" panose="02020603050405020304" pitchFamily="18" charset="0"/>
              </a:rPr>
              <a:t> sequences)</a:t>
            </a:r>
          </a:p>
        </p:txBody>
      </p:sp>
      <p:sp>
        <p:nvSpPr>
          <p:cNvPr id="9" name="矩形 8">
            <a:extLst>
              <a:ext uri="{FF2B5EF4-FFF2-40B4-BE49-F238E27FC236}">
                <a16:creationId xmlns:a16="http://schemas.microsoft.com/office/drawing/2014/main" id="{D690D27A-DE3C-46F3-A35B-3368E26148D2}"/>
              </a:ext>
            </a:extLst>
          </p:cNvPr>
          <p:cNvSpPr/>
          <p:nvPr/>
        </p:nvSpPr>
        <p:spPr>
          <a:xfrm>
            <a:off x="611560" y="6077247"/>
            <a:ext cx="7488832" cy="584775"/>
          </a:xfrm>
          <a:prstGeom prst="rect">
            <a:avLst/>
          </a:prstGeom>
        </p:spPr>
        <p:txBody>
          <a:bodyPr wrap="square">
            <a:spAutoFit/>
          </a:bodyPr>
          <a:lstStyle/>
          <a:p>
            <a:r>
              <a:rPr lang="zh-TW" altLang="en-US" sz="1600" dirty="0">
                <a:latin typeface="Times New Roman" panose="02020603050405020304" pitchFamily="18" charset="0"/>
                <a:cs typeface="Times New Roman" panose="02020603050405020304" pitchFamily="18" charset="0"/>
              </a:rPr>
              <a:t>We employed SSEARCH from FASTA package (Version: 36.10) to evaluate the utility value of </a:t>
            </a:r>
            <a:r>
              <a:rPr lang="en-US" altLang="zh-TW" sz="1600" b="1" dirty="0">
                <a:latin typeface="Times New Roman" panose="02020603050405020304" pitchFamily="18" charset="0"/>
                <a:cs typeface="Times New Roman" panose="02020603050405020304" pitchFamily="18" charset="0"/>
              </a:rPr>
              <a:t>our</a:t>
            </a:r>
            <a:r>
              <a:rPr lang="zh-TW" altLang="en-US" sz="1600" b="1" dirty="0">
                <a:latin typeface="Times New Roman" panose="02020603050405020304" pitchFamily="18" charset="0"/>
                <a:cs typeface="Times New Roman" panose="02020603050405020304" pitchFamily="18" charset="0"/>
              </a:rPr>
              <a:t> matrices</a:t>
            </a:r>
            <a:r>
              <a:rPr lang="zh-TW" altLang="en-US" sz="1600" dirty="0">
                <a:latin typeface="Times New Roman" panose="02020603050405020304" pitchFamily="18" charset="0"/>
                <a:cs typeface="Times New Roman" panose="02020603050405020304" pitchFamily="18" charset="0"/>
              </a:rPr>
              <a:t> with respect to various commonly used search matrices.</a:t>
            </a:r>
          </a:p>
        </p:txBody>
      </p:sp>
      <p:sp>
        <p:nvSpPr>
          <p:cNvPr id="11" name="文字方塊 10">
            <a:extLst>
              <a:ext uri="{FF2B5EF4-FFF2-40B4-BE49-F238E27FC236}">
                <a16:creationId xmlns:a16="http://schemas.microsoft.com/office/drawing/2014/main" id="{F7024DF5-78FF-4A3F-B7F4-E9879D39926E}"/>
              </a:ext>
            </a:extLst>
          </p:cNvPr>
          <p:cNvSpPr txBox="1"/>
          <p:nvPr/>
        </p:nvSpPr>
        <p:spPr>
          <a:xfrm>
            <a:off x="188616" y="91827"/>
            <a:ext cx="8755811" cy="707886"/>
          </a:xfrm>
          <a:prstGeom prst="rect">
            <a:avLst/>
          </a:prstGeom>
          <a:noFill/>
        </p:spPr>
        <p:txBody>
          <a:bodyPr wrap="square" rtlCol="0">
            <a:spAutoFit/>
          </a:bodyPr>
          <a:lstStyle/>
          <a:p>
            <a:r>
              <a:rPr lang="en-US" altLang="zh-TW" sz="4000" b="1" dirty="0">
                <a:latin typeface="Times New Roman" panose="02020603050405020304" pitchFamily="18" charset="0"/>
                <a:cs typeface="Times New Roman" panose="02020603050405020304" pitchFamily="18" charset="0"/>
              </a:rPr>
              <a:t>Calculating Fitness and Evaluation</a:t>
            </a:r>
            <a:endParaRPr lang="zh-TW" altLang="en-US" sz="4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676378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字方塊 5">
            <a:extLst>
              <a:ext uri="{FF2B5EF4-FFF2-40B4-BE49-F238E27FC236}">
                <a16:creationId xmlns:a16="http://schemas.microsoft.com/office/drawing/2014/main" id="{A19A91F3-ACB6-498B-885F-8CFD3AD3DBEC}"/>
              </a:ext>
            </a:extLst>
          </p:cNvPr>
          <p:cNvSpPr txBox="1"/>
          <p:nvPr/>
        </p:nvSpPr>
        <p:spPr>
          <a:xfrm>
            <a:off x="188616" y="91827"/>
            <a:ext cx="8755811" cy="707886"/>
          </a:xfrm>
          <a:prstGeom prst="rect">
            <a:avLst/>
          </a:prstGeom>
          <a:noFill/>
        </p:spPr>
        <p:txBody>
          <a:bodyPr wrap="square" rtlCol="0">
            <a:spAutoFit/>
          </a:bodyPr>
          <a:lstStyle/>
          <a:p>
            <a:r>
              <a:rPr lang="en-US" altLang="zh-TW" sz="4000" b="1" dirty="0">
                <a:latin typeface="Times New Roman" panose="02020603050405020304" pitchFamily="18" charset="0"/>
                <a:cs typeface="Times New Roman" panose="02020603050405020304" pitchFamily="18" charset="0"/>
              </a:rPr>
              <a:t>Signiﬁcant Test with Student’s </a:t>
            </a:r>
            <a:r>
              <a:rPr lang="en-US" altLang="zh-TW" sz="4000" b="1" i="1" dirty="0">
                <a:latin typeface="Times New Roman" panose="02020603050405020304" pitchFamily="18" charset="0"/>
                <a:cs typeface="Times New Roman" panose="02020603050405020304" pitchFamily="18" charset="0"/>
              </a:rPr>
              <a:t>t</a:t>
            </a:r>
            <a:r>
              <a:rPr lang="en-US" altLang="zh-TW" sz="4000" b="1" dirty="0">
                <a:latin typeface="Times New Roman" panose="02020603050405020304" pitchFamily="18" charset="0"/>
                <a:cs typeface="Times New Roman" panose="02020603050405020304" pitchFamily="18" charset="0"/>
              </a:rPr>
              <a:t>-test:</a:t>
            </a:r>
            <a:endParaRPr lang="zh-TW" altLang="en-US" sz="4000" dirty="0">
              <a:latin typeface="Times New Roman" panose="02020603050405020304" pitchFamily="18" charset="0"/>
              <a:cs typeface="Times New Roman" panose="02020603050405020304" pitchFamily="18" charset="0"/>
            </a:endParaRPr>
          </a:p>
        </p:txBody>
      </p:sp>
      <p:pic>
        <p:nvPicPr>
          <p:cNvPr id="3" name="圖片 2"/>
          <p:cNvPicPr>
            <a:picLocks noChangeAspect="1"/>
          </p:cNvPicPr>
          <p:nvPr/>
        </p:nvPicPr>
        <p:blipFill>
          <a:blip r:embed="rId3"/>
          <a:stretch>
            <a:fillRect/>
          </a:stretch>
        </p:blipFill>
        <p:spPr>
          <a:xfrm>
            <a:off x="1953947" y="4790921"/>
            <a:ext cx="843617" cy="575530"/>
          </a:xfrm>
          <a:prstGeom prst="rect">
            <a:avLst/>
          </a:prstGeom>
        </p:spPr>
      </p:pic>
      <p:pic>
        <p:nvPicPr>
          <p:cNvPr id="5" name="圖片 4"/>
          <p:cNvPicPr>
            <a:picLocks noChangeAspect="1"/>
          </p:cNvPicPr>
          <p:nvPr/>
        </p:nvPicPr>
        <p:blipFill>
          <a:blip r:embed="rId4"/>
          <a:stretch>
            <a:fillRect/>
          </a:stretch>
        </p:blipFill>
        <p:spPr>
          <a:xfrm>
            <a:off x="3491880" y="4747179"/>
            <a:ext cx="802759" cy="619272"/>
          </a:xfrm>
          <a:prstGeom prst="rect">
            <a:avLst/>
          </a:prstGeom>
        </p:spPr>
      </p:pic>
      <p:sp>
        <p:nvSpPr>
          <p:cNvPr id="9" name="矩形 8"/>
          <p:cNvSpPr/>
          <p:nvPr/>
        </p:nvSpPr>
        <p:spPr>
          <a:xfrm>
            <a:off x="1043608" y="4950953"/>
            <a:ext cx="7776864" cy="830997"/>
          </a:xfrm>
          <a:prstGeom prst="rect">
            <a:avLst/>
          </a:prstGeom>
        </p:spPr>
        <p:txBody>
          <a:bodyPr wrap="square">
            <a:spAutoFit/>
          </a:bodyPr>
          <a:lstStyle/>
          <a:p>
            <a:r>
              <a:rPr lang="zh-TW" altLang="en-US" sz="2400" dirty="0">
                <a:latin typeface="Times New Roman" panose="02020603050405020304" pitchFamily="18" charset="0"/>
                <a:cs typeface="Times New Roman" panose="02020603050405020304" pitchFamily="18" charset="0"/>
              </a:rPr>
              <a:t>where              and             are the mean and the variance of coverages diﬀerence with 0.01 EPQ for the pair of matrices</a:t>
            </a: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0B432337-6D21-4F6B-9066-C5EEED41B10D}"/>
              </a:ext>
            </a:extLst>
          </p:cNvPr>
          <p:cNvPicPr>
            <a:picLocks noChangeAspect="1"/>
          </p:cNvPicPr>
          <p:nvPr/>
        </p:nvPicPr>
        <p:blipFill>
          <a:blip r:embed="rId5"/>
          <a:stretch>
            <a:fillRect/>
          </a:stretch>
        </p:blipFill>
        <p:spPr>
          <a:xfrm>
            <a:off x="2115853" y="1700808"/>
            <a:ext cx="2752054" cy="2334360"/>
          </a:xfrm>
          <a:prstGeom prst="rect">
            <a:avLst/>
          </a:prstGeom>
        </p:spPr>
      </p:pic>
      <p:sp>
        <p:nvSpPr>
          <p:cNvPr id="2" name="投影片編號版面配置區 1"/>
          <p:cNvSpPr>
            <a:spLocks noGrp="1"/>
          </p:cNvSpPr>
          <p:nvPr>
            <p:ph type="sldNum" sz="quarter" idx="12"/>
          </p:nvPr>
        </p:nvSpPr>
        <p:spPr/>
        <p:txBody>
          <a:bodyPr/>
          <a:lstStyle/>
          <a:p>
            <a:fld id="{04C04D6A-2E29-441A-A244-9F1014899F6D}" type="slidenum">
              <a:rPr lang="zh-TW" altLang="en-US" sz="1600" smtClean="0"/>
              <a:pPr/>
              <a:t>8</a:t>
            </a:fld>
            <a:endParaRPr lang="zh-TW" altLang="en-US" sz="1600" dirty="0"/>
          </a:p>
        </p:txBody>
      </p:sp>
    </p:spTree>
    <p:extLst>
      <p:ext uri="{BB962C8B-B14F-4D97-AF65-F5344CB8AC3E}">
        <p14:creationId xmlns:p14="http://schemas.microsoft.com/office/powerpoint/2010/main" val="427317606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圖片 7">
            <a:extLst>
              <a:ext uri="{FF2B5EF4-FFF2-40B4-BE49-F238E27FC236}">
                <a16:creationId xmlns:a16="http://schemas.microsoft.com/office/drawing/2014/main" id="{694C6A79-841B-4D15-BDAC-1CE5BA51BE4F}"/>
              </a:ext>
            </a:extLst>
          </p:cNvPr>
          <p:cNvPicPr>
            <a:picLocks noChangeAspect="1"/>
          </p:cNvPicPr>
          <p:nvPr/>
        </p:nvPicPr>
        <p:blipFill>
          <a:blip r:embed="rId3"/>
          <a:stretch>
            <a:fillRect/>
          </a:stretch>
        </p:blipFill>
        <p:spPr>
          <a:xfrm>
            <a:off x="2411760" y="4005064"/>
            <a:ext cx="3862217" cy="2353410"/>
          </a:xfrm>
          <a:prstGeom prst="rect">
            <a:avLst/>
          </a:prstGeom>
        </p:spPr>
      </p:pic>
      <p:sp>
        <p:nvSpPr>
          <p:cNvPr id="6" name="文字方塊 5">
            <a:extLst>
              <a:ext uri="{FF2B5EF4-FFF2-40B4-BE49-F238E27FC236}">
                <a16:creationId xmlns:a16="http://schemas.microsoft.com/office/drawing/2014/main" id="{A19A91F3-ACB6-498B-885F-8CFD3AD3DBEC}"/>
              </a:ext>
            </a:extLst>
          </p:cNvPr>
          <p:cNvSpPr txBox="1"/>
          <p:nvPr/>
        </p:nvSpPr>
        <p:spPr>
          <a:xfrm>
            <a:off x="188616" y="91827"/>
            <a:ext cx="8755811" cy="707886"/>
          </a:xfrm>
          <a:prstGeom prst="rect">
            <a:avLst/>
          </a:prstGeom>
          <a:noFill/>
        </p:spPr>
        <p:txBody>
          <a:bodyPr wrap="square" rtlCol="0">
            <a:spAutoFit/>
          </a:bodyPr>
          <a:lstStyle/>
          <a:p>
            <a:r>
              <a:rPr lang="en-US" altLang="zh-TW" sz="4000" b="1" dirty="0">
                <a:latin typeface="Times New Roman" panose="02020603050405020304" pitchFamily="18" charset="0"/>
                <a:cs typeface="Times New Roman" panose="02020603050405020304" pitchFamily="18" charset="0"/>
              </a:rPr>
              <a:t>The Blocks Database:</a:t>
            </a:r>
            <a:endParaRPr lang="zh-TW" altLang="en-US" sz="4000" dirty="0">
              <a:latin typeface="Times New Roman" panose="02020603050405020304" pitchFamily="18" charset="0"/>
              <a:cs typeface="Times New Roman" panose="02020603050405020304" pitchFamily="18" charset="0"/>
            </a:endParaRPr>
          </a:p>
        </p:txBody>
      </p:sp>
      <p:sp>
        <p:nvSpPr>
          <p:cNvPr id="10" name="矩形 9">
            <a:extLst>
              <a:ext uri="{FF2B5EF4-FFF2-40B4-BE49-F238E27FC236}">
                <a16:creationId xmlns:a16="http://schemas.microsoft.com/office/drawing/2014/main" id="{87168329-0466-404C-9DB3-8985F2AA288A}"/>
              </a:ext>
            </a:extLst>
          </p:cNvPr>
          <p:cNvSpPr/>
          <p:nvPr/>
        </p:nvSpPr>
        <p:spPr>
          <a:xfrm>
            <a:off x="1377325" y="2853940"/>
            <a:ext cx="6526146" cy="1015663"/>
          </a:xfrm>
          <a:prstGeom prst="rect">
            <a:avLst/>
          </a:prstGeom>
        </p:spPr>
        <p:txBody>
          <a:bodyPr wrap="square">
            <a:spAutoFit/>
          </a:bodyPr>
          <a:lstStyle/>
          <a:p>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The Blocks Database contains multiple alignments of conserved regions in protein families. </a:t>
            </a:r>
          </a:p>
          <a:p>
            <a:endParaRPr lang="zh-TW" altLang="en-US" sz="2000" dirty="0">
              <a:latin typeface="Times New Roman" panose="02020603050405020304" pitchFamily="18" charset="0"/>
              <a:cs typeface="Times New Roman" panose="02020603050405020304" pitchFamily="18" charset="0"/>
            </a:endParaRPr>
          </a:p>
        </p:txBody>
      </p:sp>
      <p:sp>
        <p:nvSpPr>
          <p:cNvPr id="4" name="矩形 3">
            <a:extLst>
              <a:ext uri="{FF2B5EF4-FFF2-40B4-BE49-F238E27FC236}">
                <a16:creationId xmlns:a16="http://schemas.microsoft.com/office/drawing/2014/main" id="{A87F9591-E8F8-4A8B-896B-7AD4386858B4}"/>
              </a:ext>
            </a:extLst>
          </p:cNvPr>
          <p:cNvSpPr/>
          <p:nvPr/>
        </p:nvSpPr>
        <p:spPr>
          <a:xfrm>
            <a:off x="1377325" y="1340768"/>
            <a:ext cx="6378391" cy="1015663"/>
          </a:xfrm>
          <a:prstGeom prst="rect">
            <a:avLst/>
          </a:prstGeom>
        </p:spPr>
        <p:txBody>
          <a:bodyPr wrap="square">
            <a:spAutoFit/>
          </a:bodyPr>
          <a:lstStyle/>
          <a:p>
            <a:r>
              <a:rPr lang="zh-TW" altLang="en-US" sz="2000" dirty="0">
                <a:latin typeface="Times New Roman" panose="02020603050405020304" pitchFamily="18" charset="0"/>
                <a:cs typeface="Times New Roman" panose="02020603050405020304" pitchFamily="18" charset="0"/>
              </a:rPr>
              <a:t>• Henikoff (1991) developed a database of “blocks”based on sequences with shared motifs (&gt;2,000 blocks of aligned sequence segments from &gt;500 groups of related proteins)</a:t>
            </a:r>
          </a:p>
        </p:txBody>
      </p:sp>
      <p:sp>
        <p:nvSpPr>
          <p:cNvPr id="2" name="投影片編號版面配置區 1"/>
          <p:cNvSpPr>
            <a:spLocks noGrp="1"/>
          </p:cNvSpPr>
          <p:nvPr>
            <p:ph type="sldNum" sz="quarter" idx="12"/>
          </p:nvPr>
        </p:nvSpPr>
        <p:spPr/>
        <p:txBody>
          <a:bodyPr/>
          <a:lstStyle/>
          <a:p>
            <a:fld id="{04C04D6A-2E29-441A-A244-9F1014899F6D}" type="slidenum">
              <a:rPr lang="zh-TW" altLang="en-US" sz="1600" smtClean="0"/>
              <a:pPr/>
              <a:t>9</a:t>
            </a:fld>
            <a:endParaRPr lang="zh-TW" altLang="en-US" sz="1600" dirty="0"/>
          </a:p>
        </p:txBody>
      </p:sp>
    </p:spTree>
    <p:extLst>
      <p:ext uri="{BB962C8B-B14F-4D97-AF65-F5344CB8AC3E}">
        <p14:creationId xmlns:p14="http://schemas.microsoft.com/office/powerpoint/2010/main" val="289139469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字方塊 10">
            <a:extLst>
              <a:ext uri="{FF2B5EF4-FFF2-40B4-BE49-F238E27FC236}">
                <a16:creationId xmlns:a16="http://schemas.microsoft.com/office/drawing/2014/main" id="{F7024DF5-78FF-4A3F-B7F4-E9879D39926E}"/>
              </a:ext>
            </a:extLst>
          </p:cNvPr>
          <p:cNvSpPr txBox="1"/>
          <p:nvPr/>
        </p:nvSpPr>
        <p:spPr>
          <a:xfrm>
            <a:off x="188616" y="91827"/>
            <a:ext cx="8755811" cy="707886"/>
          </a:xfrm>
          <a:prstGeom prst="rect">
            <a:avLst/>
          </a:prstGeom>
          <a:noFill/>
        </p:spPr>
        <p:txBody>
          <a:bodyPr wrap="square" rtlCol="0">
            <a:spAutoFit/>
          </a:bodyPr>
          <a:lstStyle/>
          <a:p>
            <a:r>
              <a:rPr lang="en-US" altLang="zh-TW" sz="4000" b="1" dirty="0">
                <a:latin typeface="Times New Roman" panose="02020603050405020304" pitchFamily="18" charset="0"/>
                <a:cs typeface="Times New Roman" panose="02020603050405020304" pitchFamily="18" charset="0"/>
              </a:rPr>
              <a:t>Example of BLOSUM Calculation</a:t>
            </a:r>
            <a:endParaRPr lang="zh-TW" altLang="en-US" sz="40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 name="文字方塊 1">
                <a:extLst>
                  <a:ext uri="{FF2B5EF4-FFF2-40B4-BE49-F238E27FC236}">
                    <a16:creationId xmlns:a16="http://schemas.microsoft.com/office/drawing/2014/main" id="{A2235B76-8D79-4FF4-8556-2DB02C3CBF07}"/>
                  </a:ext>
                </a:extLst>
              </p:cNvPr>
              <p:cNvSpPr txBox="1"/>
              <p:nvPr/>
            </p:nvSpPr>
            <p:spPr>
              <a:xfrm>
                <a:off x="3375318" y="889250"/>
                <a:ext cx="5832648" cy="822661"/>
              </a:xfrm>
              <a:prstGeom prst="rect">
                <a:avLst/>
              </a:prstGeom>
              <a:noFill/>
            </p:spPr>
            <p:txBody>
              <a:bodyPr wrap="square" rtlCol="0">
                <a:spAutoFit/>
              </a:bodyPr>
              <a:lstStyle/>
              <a:p>
                <a:r>
                  <a:rPr lang="en-US" altLang="zh-TW" sz="2000" dirty="0" smtClean="0">
                    <a:latin typeface="Times New Roman" panose="02020603050405020304" pitchFamily="18" charset="0"/>
                    <a:cs typeface="Times New Roman" panose="02020603050405020304" pitchFamily="18" charset="0"/>
                  </a:rPr>
                  <a:t>Step 2</a:t>
                </a:r>
                <a:r>
                  <a:rPr lang="en-US" altLang="zh-TW" sz="2000" dirty="0">
                    <a:latin typeface="Times New Roman" panose="02020603050405020304" pitchFamily="18" charset="0"/>
                    <a:cs typeface="Times New Roman" panose="02020603050405020304" pitchFamily="18" charset="0"/>
                  </a:rPr>
                  <a:t>: count pair frequencies</a:t>
                </a:r>
                <a14:m>
                  <m:oMath xmlns:m="http://schemas.openxmlformats.org/officeDocument/2006/math">
                    <m:sSubSup>
                      <m:sSubSupPr>
                        <m:ctrlPr>
                          <a:rPr lang="zh-TW" altLang="en-US" sz="2000" i="1" dirty="0">
                            <a:latin typeface="Cambria Math" panose="02040503050406030204" pitchFamily="18" charset="0"/>
                          </a:rPr>
                        </m:ctrlPr>
                      </m:sSubSupPr>
                      <m:e>
                        <m:r>
                          <a:rPr lang="en-US" altLang="zh-TW" sz="2000" i="1" dirty="0">
                            <a:latin typeface="Cambria Math" panose="02040503050406030204" pitchFamily="18" charset="0"/>
                          </a:rPr>
                          <m:t> </m:t>
                        </m:r>
                        <m:r>
                          <a:rPr lang="zh-TW" altLang="en-US" sz="2000" i="1" dirty="0">
                            <a:latin typeface="Cambria Math" panose="02040503050406030204" pitchFamily="18" charset="0"/>
                          </a:rPr>
                          <m:t>𝑐</m:t>
                        </m:r>
                      </m:e>
                      <m:sub>
                        <m:r>
                          <a:rPr lang="en-US" altLang="zh-TW" sz="2000" i="1" dirty="0">
                            <a:latin typeface="Cambria Math" panose="02040503050406030204" pitchFamily="18" charset="0"/>
                          </a:rPr>
                          <m:t>𝑖𝑗</m:t>
                        </m:r>
                      </m:sub>
                      <m:sup>
                        <m:d>
                          <m:dPr>
                            <m:ctrlPr>
                              <a:rPr lang="zh-TW" altLang="en-US" sz="2000" i="1" dirty="0">
                                <a:latin typeface="Cambria Math" panose="02040503050406030204" pitchFamily="18" charset="0"/>
                              </a:rPr>
                            </m:ctrlPr>
                          </m:dPr>
                          <m:e>
                            <m:r>
                              <a:rPr lang="zh-TW" altLang="en-US" sz="2000" i="1" dirty="0">
                                <a:latin typeface="Cambria Math" panose="02040503050406030204" pitchFamily="18" charset="0"/>
                              </a:rPr>
                              <m:t>𝑘</m:t>
                            </m:r>
                          </m:e>
                        </m:d>
                      </m:sup>
                    </m:sSubSup>
                  </m:oMath>
                </a14:m>
                <a:r>
                  <a:rPr lang="en-US" altLang="zh-TW" sz="2000" dirty="0">
                    <a:latin typeface="Times New Roman" panose="02020603050405020304" pitchFamily="18" charset="0"/>
                    <a:cs typeface="Times New Roman" panose="02020603050405020304" pitchFamily="18" charset="0"/>
                  </a:rPr>
                  <a:t> for each pair of amino acids </a:t>
                </a:r>
                <a:r>
                  <a:rPr lang="en-US" altLang="zh-TW" sz="2000" i="1" dirty="0" err="1">
                    <a:latin typeface="Times New Roman" panose="02020603050405020304" pitchFamily="18" charset="0"/>
                    <a:cs typeface="Times New Roman" panose="02020603050405020304" pitchFamily="18" charset="0"/>
                  </a:rPr>
                  <a:t>i</a:t>
                </a:r>
                <a:r>
                  <a:rPr lang="en-US" altLang="zh-TW" sz="2000" i="1"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and </a:t>
                </a:r>
                <a:r>
                  <a:rPr lang="en-US" altLang="zh-TW" sz="2000" i="1" dirty="0">
                    <a:latin typeface="Times New Roman" panose="02020603050405020304" pitchFamily="18" charset="0"/>
                    <a:cs typeface="Times New Roman" panose="02020603050405020304" pitchFamily="18" charset="0"/>
                  </a:rPr>
                  <a:t>j</a:t>
                </a:r>
                <a:r>
                  <a:rPr lang="en-US" altLang="zh-TW" sz="2000" dirty="0">
                    <a:latin typeface="Times New Roman" panose="02020603050405020304" pitchFamily="18" charset="0"/>
                    <a:cs typeface="Times New Roman" panose="02020603050405020304" pitchFamily="18" charset="0"/>
                  </a:rPr>
                  <a:t>, for each column </a:t>
                </a:r>
                <a:r>
                  <a:rPr lang="en-US" altLang="zh-TW" sz="2000" i="1" dirty="0">
                    <a:latin typeface="Times New Roman" panose="02020603050405020304" pitchFamily="18" charset="0"/>
                    <a:cs typeface="Times New Roman" panose="02020603050405020304" pitchFamily="18" charset="0"/>
                  </a:rPr>
                  <a:t>k</a:t>
                </a:r>
                <a:r>
                  <a:rPr lang="en-US" altLang="zh-TW" sz="2000" dirty="0">
                    <a:latin typeface="Times New Roman" panose="02020603050405020304" pitchFamily="18" charset="0"/>
                    <a:cs typeface="Times New Roman" panose="02020603050405020304" pitchFamily="18" charset="0"/>
                  </a:rPr>
                  <a:t> of each block.</a:t>
                </a:r>
                <a:endParaRPr lang="zh-TW" altLang="en-US" sz="2000" dirty="0">
                  <a:latin typeface="Times New Roman" panose="02020603050405020304" pitchFamily="18" charset="0"/>
                  <a:cs typeface="Times New Roman" panose="02020603050405020304" pitchFamily="18" charset="0"/>
                </a:endParaRPr>
              </a:p>
            </p:txBody>
          </p:sp>
        </mc:Choice>
        <mc:Fallback xmlns="">
          <p:sp>
            <p:nvSpPr>
              <p:cNvPr id="2" name="文字方塊 1">
                <a:extLst>
                  <a:ext uri="{FF2B5EF4-FFF2-40B4-BE49-F238E27FC236}">
                    <a16:creationId xmlns:a16="http://schemas.microsoft.com/office/drawing/2014/main" id="{A2235B76-8D79-4FF4-8556-2DB02C3CBF07}"/>
                  </a:ext>
                </a:extLst>
              </p:cNvPr>
              <p:cNvSpPr txBox="1">
                <a:spLocks noRot="1" noChangeAspect="1" noMove="1" noResize="1" noEditPoints="1" noAdjustHandles="1" noChangeArrowheads="1" noChangeShapeType="1" noTextEdit="1"/>
              </p:cNvSpPr>
              <p:nvPr/>
            </p:nvSpPr>
            <p:spPr>
              <a:xfrm>
                <a:off x="3375318" y="889250"/>
                <a:ext cx="5832648" cy="822661"/>
              </a:xfrm>
              <a:prstGeom prst="rect">
                <a:avLst/>
              </a:prstGeom>
              <a:blipFill>
                <a:blip r:embed="rId3"/>
                <a:stretch>
                  <a:fillRect l="-1151" b="-12593"/>
                </a:stretch>
              </a:blipFill>
            </p:spPr>
            <p:txBody>
              <a:bodyPr/>
              <a:lstStyle/>
              <a:p>
                <a:r>
                  <a:rPr lang="zh-TW" altLang="en-US">
                    <a:noFill/>
                  </a:rPr>
                  <a:t> </a:t>
                </a:r>
              </a:p>
            </p:txBody>
          </p:sp>
        </mc:Fallback>
      </mc:AlternateContent>
      <p:sp>
        <p:nvSpPr>
          <p:cNvPr id="6" name="投影片編號版面配置區 3">
            <a:extLst>
              <a:ext uri="{FF2B5EF4-FFF2-40B4-BE49-F238E27FC236}">
                <a16:creationId xmlns:a16="http://schemas.microsoft.com/office/drawing/2014/main" id="{DAC67317-7587-4437-89B7-DEBFB87FA034}"/>
              </a:ext>
            </a:extLst>
          </p:cNvPr>
          <p:cNvSpPr>
            <a:spLocks noGrp="1"/>
          </p:cNvSpPr>
          <p:nvPr>
            <p:ph type="sldNum" sz="quarter" idx="12"/>
          </p:nvPr>
        </p:nvSpPr>
        <p:spPr>
          <a:xfrm>
            <a:off x="6553200" y="6356350"/>
            <a:ext cx="2133600" cy="365125"/>
          </a:xfrm>
        </p:spPr>
        <p:txBody>
          <a:bodyPr/>
          <a:lstStyle/>
          <a:p>
            <a:fld id="{04C04D6A-2E29-441A-A244-9F1014899F6D}" type="slidenum">
              <a:rPr lang="zh-TW" altLang="en-US" sz="1600" smtClean="0"/>
              <a:pPr/>
              <a:t>10</a:t>
            </a:fld>
            <a:endParaRPr lang="zh-TW" altLang="en-US" sz="1600" dirty="0"/>
          </a:p>
        </p:txBody>
      </p:sp>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6AB9C518-8C01-42DA-B20B-632C44CD3229}"/>
                  </a:ext>
                </a:extLst>
              </p:cNvPr>
              <p:cNvSpPr/>
              <p:nvPr/>
            </p:nvSpPr>
            <p:spPr>
              <a:xfrm>
                <a:off x="3757262" y="4224235"/>
                <a:ext cx="4162101" cy="868186"/>
              </a:xfrm>
              <a:prstGeom prst="rect">
                <a:avLst/>
              </a:prstGeom>
            </p:spPr>
            <p:txBody>
              <a:bodyPr wrap="none">
                <a:spAutoFit/>
              </a:bodyPr>
              <a:lstStyle/>
              <a:p>
                <a:r>
                  <a:rPr lang="zh-TW" altLang="en-US" sz="2000" dirty="0">
                    <a:latin typeface="Times New Roman" panose="02020603050405020304" pitchFamily="18" charset="0"/>
                    <a:cs typeface="Times New Roman" panose="02020603050405020304" pitchFamily="18" charset="0"/>
                  </a:rPr>
                  <a:t>i.e</a:t>
                </a:r>
                <a:r>
                  <a:rPr lang="zh-TW" altLang="en-US" sz="2000" dirty="0" smtClean="0">
                    <a:latin typeface="Times New Roman" panose="02020603050405020304" pitchFamily="18" charset="0"/>
                    <a:cs typeface="Times New Roman" panose="02020603050405020304" pitchFamily="18" charset="0"/>
                  </a:rPr>
                  <a:t>.</a:t>
                </a:r>
                <a:endParaRPr lang="en-US" altLang="zh-TW" sz="2000" dirty="0">
                  <a:latin typeface="Times New Roman" panose="02020603050405020304" pitchFamily="18" charset="0"/>
                  <a:cs typeface="Times New Roman" panose="02020603050405020304" pitchFamily="18" charset="0"/>
                </a:endParaRPr>
              </a:p>
              <a:p>
                <a:r>
                  <a:rPr lang="zh-TW" altLang="en-US" sz="2000" dirty="0" smtClean="0">
                    <a:latin typeface="Times New Roman" panose="02020603050405020304" pitchFamily="18" charset="0"/>
                    <a:cs typeface="Times New Roman" panose="02020603050405020304" pitchFamily="18" charset="0"/>
                  </a:rPr>
                  <a:t>for </a:t>
                </a:r>
                <a:r>
                  <a:rPr lang="zh-TW" altLang="en-US" sz="2000" dirty="0">
                    <a:latin typeface="Times New Roman" panose="02020603050405020304" pitchFamily="18" charset="0"/>
                    <a:cs typeface="Times New Roman" panose="02020603050405020304" pitchFamily="18" charset="0"/>
                  </a:rPr>
                  <a:t>“like” comparisons,</a:t>
                </a:r>
                <a:r>
                  <a:rPr lang="zh-TW" altLang="en-US" sz="2000" dirty="0" smtClean="0">
                    <a:latin typeface="Times New Roman" panose="02020603050405020304" pitchFamily="18" charset="0"/>
                    <a:cs typeface="Times New Roman" panose="02020603050405020304" pitchFamily="18" charset="0"/>
                  </a:rPr>
                  <a:t> </a:t>
                </a:r>
                <a14:m>
                  <m:oMath xmlns:m="http://schemas.openxmlformats.org/officeDocument/2006/math">
                    <m:sSubSup>
                      <m:sSubSupPr>
                        <m:ctrlPr>
                          <a:rPr lang="zh-TW" altLang="en-US" sz="2000" i="1" dirty="0" smtClean="0">
                            <a:latin typeface="Cambria Math" panose="02040503050406030204" pitchFamily="18" charset="0"/>
                          </a:rPr>
                        </m:ctrlPr>
                      </m:sSubSupPr>
                      <m:e>
                        <m:r>
                          <a:rPr lang="zh-TW" altLang="en-US" sz="2000" i="1" dirty="0">
                            <a:latin typeface="Cambria Math" panose="02040503050406030204" pitchFamily="18" charset="0"/>
                          </a:rPr>
                          <m:t>𝑐</m:t>
                        </m:r>
                      </m:e>
                      <m:sub>
                        <m:r>
                          <a:rPr lang="en-US" altLang="zh-TW" sz="2000" b="0" i="1" dirty="0" smtClean="0">
                            <a:latin typeface="Cambria Math" panose="02040503050406030204" pitchFamily="18" charset="0"/>
                          </a:rPr>
                          <m:t>𝑖𝑖</m:t>
                        </m:r>
                      </m:sub>
                      <m:sup>
                        <m:d>
                          <m:dPr>
                            <m:ctrlPr>
                              <a:rPr lang="zh-TW" altLang="en-US" sz="2000" i="1" dirty="0">
                                <a:latin typeface="Cambria Math" panose="02040503050406030204" pitchFamily="18" charset="0"/>
                              </a:rPr>
                            </m:ctrlPr>
                          </m:dPr>
                          <m:e>
                            <m:r>
                              <a:rPr lang="zh-TW" altLang="en-US" sz="2000" i="1" dirty="0">
                                <a:latin typeface="Cambria Math" panose="02040503050406030204" pitchFamily="18" charset="0"/>
                              </a:rPr>
                              <m:t>𝑘</m:t>
                            </m:r>
                          </m:e>
                        </m:d>
                      </m:sup>
                    </m:sSubSup>
                    <m:r>
                      <a:rPr lang="en-US" altLang="zh-TW" sz="2000" b="0" i="1" dirty="0" smtClean="0">
                        <a:latin typeface="Cambria Math" panose="02040503050406030204" pitchFamily="18" charset="0"/>
                      </a:rPr>
                      <m:t>=</m:t>
                    </m:r>
                    <m:d>
                      <m:dPr>
                        <m:ctrlPr>
                          <a:rPr lang="zh-TW" altLang="en-US" sz="2000" i="1" dirty="0" smtClean="0">
                            <a:latin typeface="Cambria Math" panose="02040503050406030204" pitchFamily="18" charset="0"/>
                          </a:rPr>
                        </m:ctrlPr>
                      </m:dPr>
                      <m:e>
                        <m:m>
                          <m:mPr>
                            <m:plcHide m:val="on"/>
                            <m:mcs>
                              <m:mc>
                                <m:mcPr>
                                  <m:count m:val="1"/>
                                  <m:mcJc m:val="center"/>
                                </m:mcPr>
                              </m:mc>
                            </m:mcs>
                            <m:ctrlPr>
                              <a:rPr lang="zh-TW" altLang="en-US" sz="2000" i="1" dirty="0">
                                <a:latin typeface="Cambria Math" panose="02040503050406030204" pitchFamily="18" charset="0"/>
                              </a:rPr>
                            </m:ctrlPr>
                          </m:mPr>
                          <m:mr>
                            <m:e>
                              <m:sSub>
                                <m:sSubPr>
                                  <m:ctrlPr>
                                    <a:rPr lang="zh-TW" altLang="en-US" sz="2000" i="1" dirty="0">
                                      <a:latin typeface="Cambria Math" panose="02040503050406030204" pitchFamily="18" charset="0"/>
                                    </a:rPr>
                                  </m:ctrlPr>
                                </m:sSubPr>
                                <m:e>
                                  <m:r>
                                    <a:rPr lang="zh-TW" altLang="en-US" sz="2000" i="1" dirty="0">
                                      <a:latin typeface="Cambria Math" panose="02040503050406030204" pitchFamily="18" charset="0"/>
                                    </a:rPr>
                                    <m:t>𝑛</m:t>
                                  </m:r>
                                </m:e>
                                <m:sub>
                                  <m:r>
                                    <a:rPr lang="zh-TW" altLang="en-US" sz="2000" i="1" dirty="0">
                                      <a:latin typeface="Cambria Math" panose="02040503050406030204" pitchFamily="18" charset="0"/>
                                    </a:rPr>
                                    <m:t>𝑖</m:t>
                                  </m:r>
                                </m:sub>
                              </m:sSub>
                            </m:e>
                          </m:mr>
                          <m:mr>
                            <m:e>
                              <m:r>
                                <a:rPr lang="zh-TW" altLang="en-US" sz="2000" i="0" dirty="0">
                                  <a:latin typeface="Cambria Math" panose="02040503050406030204" pitchFamily="18" charset="0"/>
                                </a:rPr>
                                <m:t>2</m:t>
                              </m:r>
                            </m:e>
                          </m:mr>
                        </m:m>
                      </m:e>
                    </m:d>
                  </m:oMath>
                </a14:m>
                <a:endParaRPr lang="zh-TW" altLang="en-US" sz="2000" dirty="0">
                  <a:latin typeface="Times New Roman" panose="02020603050405020304" pitchFamily="18" charset="0"/>
                  <a:cs typeface="Times New Roman" panose="02020603050405020304" pitchFamily="18" charset="0"/>
                </a:endParaRPr>
              </a:p>
            </p:txBody>
          </p:sp>
        </mc:Choice>
        <mc:Fallback xmlns="">
          <p:sp>
            <p:nvSpPr>
              <p:cNvPr id="9" name="矩形 8">
                <a:extLst>
                  <a:ext uri="{FF2B5EF4-FFF2-40B4-BE49-F238E27FC236}">
                    <a16:creationId xmlns:a16="http://schemas.microsoft.com/office/drawing/2014/main" id="{6AB9C518-8C01-42DA-B20B-632C44CD3229}"/>
                  </a:ext>
                </a:extLst>
              </p:cNvPr>
              <p:cNvSpPr>
                <a:spLocks noRot="1" noChangeAspect="1" noMove="1" noResize="1" noEditPoints="1" noAdjustHandles="1" noChangeArrowheads="1" noChangeShapeType="1" noTextEdit="1"/>
              </p:cNvSpPr>
              <p:nvPr/>
            </p:nvSpPr>
            <p:spPr>
              <a:xfrm>
                <a:off x="3757262" y="4224235"/>
                <a:ext cx="4162101" cy="868186"/>
              </a:xfrm>
              <a:prstGeom prst="rect">
                <a:avLst/>
              </a:prstGeom>
              <a:blipFill>
                <a:blip r:embed="rId4"/>
                <a:stretch>
                  <a:fillRect l="-1464" t="-4225" b="-281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02406E9D-562F-4676-A4E8-1DDA137E7C17}"/>
                  </a:ext>
                </a:extLst>
              </p:cNvPr>
              <p:cNvSpPr/>
              <p:nvPr/>
            </p:nvSpPr>
            <p:spPr>
              <a:xfrm>
                <a:off x="3757262" y="4993419"/>
                <a:ext cx="4453079" cy="514885"/>
              </a:xfrm>
              <a:prstGeom prst="rect">
                <a:avLst/>
              </a:prstGeom>
            </p:spPr>
            <p:txBody>
              <a:bodyPr wrap="none">
                <a:spAutoFit/>
              </a:bodyPr>
              <a:lstStyle/>
              <a:p>
                <a:r>
                  <a:rPr lang="zh-TW" altLang="en-US" sz="2000" dirty="0">
                    <a:latin typeface="Times New Roman" panose="02020603050405020304" pitchFamily="18" charset="0"/>
                    <a:cs typeface="Times New Roman" panose="02020603050405020304" pitchFamily="18" charset="0"/>
                  </a:rPr>
                  <a:t>for “unlike” comparisons, </a:t>
                </a:r>
                <a14:m>
                  <m:oMath xmlns:m="http://schemas.openxmlformats.org/officeDocument/2006/math">
                    <m:sSubSup>
                      <m:sSubSupPr>
                        <m:ctrlPr>
                          <a:rPr lang="zh-TW" altLang="en-US" sz="2000" i="1" dirty="0">
                            <a:latin typeface="Cambria Math" panose="02040503050406030204" pitchFamily="18" charset="0"/>
                          </a:rPr>
                        </m:ctrlPr>
                      </m:sSubSupPr>
                      <m:e>
                        <m:r>
                          <a:rPr lang="zh-TW" altLang="en-US" sz="2000" i="1" dirty="0">
                            <a:latin typeface="Cambria Math" panose="02040503050406030204" pitchFamily="18" charset="0"/>
                          </a:rPr>
                          <m:t>𝑐</m:t>
                        </m:r>
                      </m:e>
                      <m:sub>
                        <m:r>
                          <a:rPr lang="en-US" altLang="zh-TW" sz="2000" b="0" i="1" dirty="0" smtClean="0">
                            <a:latin typeface="Cambria Math" panose="02040503050406030204" pitchFamily="18" charset="0"/>
                          </a:rPr>
                          <m:t>𝑖𝑗</m:t>
                        </m:r>
                      </m:sub>
                      <m:sup>
                        <m:d>
                          <m:dPr>
                            <m:ctrlPr>
                              <a:rPr lang="zh-TW" altLang="en-US" sz="2000" i="1" dirty="0">
                                <a:latin typeface="Cambria Math" panose="02040503050406030204" pitchFamily="18" charset="0"/>
                              </a:rPr>
                            </m:ctrlPr>
                          </m:dPr>
                          <m:e>
                            <m:r>
                              <a:rPr lang="zh-TW" altLang="en-US" sz="2000" i="1" dirty="0">
                                <a:latin typeface="Cambria Math" panose="02040503050406030204" pitchFamily="18" charset="0"/>
                              </a:rPr>
                              <m:t>𝑘</m:t>
                            </m:r>
                          </m:e>
                        </m:d>
                      </m:sup>
                    </m:sSubSup>
                    <m:r>
                      <a:rPr lang="en-US" altLang="zh-TW" sz="2000" b="0" i="1" dirty="0" smtClean="0">
                        <a:latin typeface="Cambria Math" panose="02040503050406030204" pitchFamily="18" charset="0"/>
                      </a:rPr>
                      <m:t>= </m:t>
                    </m:r>
                    <m:sSub>
                      <m:sSubPr>
                        <m:ctrlPr>
                          <a:rPr lang="zh-TW" altLang="en-US" sz="2000" i="1" dirty="0" smtClean="0">
                            <a:latin typeface="Cambria Math" panose="02040503050406030204" pitchFamily="18" charset="0"/>
                          </a:rPr>
                        </m:ctrlPr>
                      </m:sSubPr>
                      <m:e>
                        <m:r>
                          <a:rPr lang="zh-TW" altLang="en-US" sz="2000" i="1" dirty="0">
                            <a:latin typeface="Cambria Math" panose="02040503050406030204" pitchFamily="18" charset="0"/>
                          </a:rPr>
                          <m:t>𝑛</m:t>
                        </m:r>
                      </m:e>
                      <m:sub>
                        <m:r>
                          <a:rPr lang="zh-TW" altLang="en-US" sz="2000" i="1" dirty="0">
                            <a:latin typeface="Cambria Math" panose="02040503050406030204" pitchFamily="18" charset="0"/>
                          </a:rPr>
                          <m:t>𝑖</m:t>
                        </m:r>
                      </m:sub>
                    </m:sSub>
                    <m:sSub>
                      <m:sSubPr>
                        <m:ctrlPr>
                          <a:rPr lang="zh-TW" altLang="en-US" sz="2000" i="1" dirty="0">
                            <a:latin typeface="Cambria Math" panose="02040503050406030204" pitchFamily="18" charset="0"/>
                          </a:rPr>
                        </m:ctrlPr>
                      </m:sSubPr>
                      <m:e>
                        <m:r>
                          <a:rPr lang="zh-TW" altLang="en-US" sz="2000" i="1" dirty="0">
                            <a:latin typeface="Cambria Math" panose="02040503050406030204" pitchFamily="18" charset="0"/>
                          </a:rPr>
                          <m:t>𝑛</m:t>
                        </m:r>
                      </m:e>
                      <m:sub>
                        <m:r>
                          <a:rPr lang="en-US" altLang="zh-TW" sz="2000" b="0" i="1" dirty="0" smtClean="0">
                            <a:latin typeface="Cambria Math" panose="02040503050406030204" pitchFamily="18" charset="0"/>
                          </a:rPr>
                          <m:t>𝑗</m:t>
                        </m:r>
                      </m:sub>
                    </m:sSub>
                  </m:oMath>
                </a14:m>
                <a:endParaRPr lang="zh-TW" altLang="en-US" sz="2000" dirty="0">
                  <a:latin typeface="Times New Roman" panose="02020603050405020304" pitchFamily="18" charset="0"/>
                  <a:cs typeface="Times New Roman" panose="02020603050405020304" pitchFamily="18" charset="0"/>
                </a:endParaRPr>
              </a:p>
            </p:txBody>
          </p:sp>
        </mc:Choice>
        <mc:Fallback xmlns="">
          <p:sp>
            <p:nvSpPr>
              <p:cNvPr id="10" name="矩形 9">
                <a:extLst>
                  <a:ext uri="{FF2B5EF4-FFF2-40B4-BE49-F238E27FC236}">
                    <a16:creationId xmlns:a16="http://schemas.microsoft.com/office/drawing/2014/main" id="{02406E9D-562F-4676-A4E8-1DDA137E7C17}"/>
                  </a:ext>
                </a:extLst>
              </p:cNvPr>
              <p:cNvSpPr>
                <a:spLocks noRot="1" noChangeAspect="1" noMove="1" noResize="1" noEditPoints="1" noAdjustHandles="1" noChangeArrowheads="1" noChangeShapeType="1" noTextEdit="1"/>
              </p:cNvSpPr>
              <p:nvPr/>
            </p:nvSpPr>
            <p:spPr>
              <a:xfrm>
                <a:off x="3757262" y="4993419"/>
                <a:ext cx="4453079" cy="514885"/>
              </a:xfrm>
              <a:prstGeom prst="rect">
                <a:avLst/>
              </a:prstGeom>
              <a:blipFill>
                <a:blip r:embed="rId5"/>
                <a:stretch>
                  <a:fillRect l="-1368" b="-9412"/>
                </a:stretch>
              </a:blipFill>
            </p:spPr>
            <p:txBody>
              <a:bodyPr/>
              <a:lstStyle/>
              <a:p>
                <a:r>
                  <a:rPr lang="zh-TW" altLang="en-US">
                    <a:noFill/>
                  </a:rPr>
                  <a:t> </a:t>
                </a:r>
              </a:p>
            </p:txBody>
          </p:sp>
        </mc:Fallback>
      </mc:AlternateContent>
      <p:graphicFrame>
        <p:nvGraphicFramePr>
          <p:cNvPr id="12" name="表格 11">
            <a:extLst>
              <a:ext uri="{FF2B5EF4-FFF2-40B4-BE49-F238E27FC236}">
                <a16:creationId xmlns:a16="http://schemas.microsoft.com/office/drawing/2014/main" id="{B29A0E73-E3E1-48D2-8727-612EBDD37DAB}"/>
              </a:ext>
            </a:extLst>
          </p:cNvPr>
          <p:cNvGraphicFramePr>
            <a:graphicFrameLocks noGrp="1"/>
          </p:cNvGraphicFramePr>
          <p:nvPr>
            <p:extLst>
              <p:ext uri="{D42A27DB-BD31-4B8C-83A1-F6EECF244321}">
                <p14:modId xmlns:p14="http://schemas.microsoft.com/office/powerpoint/2010/main" val="2215552710"/>
              </p:ext>
            </p:extLst>
          </p:nvPr>
        </p:nvGraphicFramePr>
        <p:xfrm>
          <a:off x="3780069" y="2142358"/>
          <a:ext cx="4277273" cy="1781222"/>
        </p:xfrm>
        <a:graphic>
          <a:graphicData uri="http://schemas.openxmlformats.org/drawingml/2006/table">
            <a:tbl>
              <a:tblPr firstRow="1" bandRow="1">
                <a:tableStyleId>{5940675A-B579-460E-94D1-54222C63F5DA}</a:tableStyleId>
              </a:tblPr>
              <a:tblGrid>
                <a:gridCol w="731639">
                  <a:extLst>
                    <a:ext uri="{9D8B030D-6E8A-4147-A177-3AD203B41FA5}">
                      <a16:colId xmlns:a16="http://schemas.microsoft.com/office/drawing/2014/main" val="20000"/>
                    </a:ext>
                  </a:extLst>
                </a:gridCol>
                <a:gridCol w="619079">
                  <a:extLst>
                    <a:ext uri="{9D8B030D-6E8A-4147-A177-3AD203B41FA5}">
                      <a16:colId xmlns:a16="http://schemas.microsoft.com/office/drawing/2014/main" val="3554565227"/>
                    </a:ext>
                  </a:extLst>
                </a:gridCol>
                <a:gridCol w="2926555">
                  <a:extLst>
                    <a:ext uri="{9D8B030D-6E8A-4147-A177-3AD203B41FA5}">
                      <a16:colId xmlns:a16="http://schemas.microsoft.com/office/drawing/2014/main" val="20001"/>
                    </a:ext>
                  </a:extLst>
                </a:gridCol>
              </a:tblGrid>
              <a:tr h="866822">
                <a:tc gridSpan="2">
                  <a:txBody>
                    <a:bodyPr/>
                    <a:lstStyle/>
                    <a:p>
                      <a:pPr algn="ctr"/>
                      <a:r>
                        <a:rPr lang="en-US" altLang="zh-TW" sz="2400" dirty="0">
                          <a:latin typeface="Times New Roman" panose="02020603050405020304" pitchFamily="18" charset="0"/>
                          <a:cs typeface="Times New Roman" panose="02020603050405020304" pitchFamily="18" charset="0"/>
                        </a:rPr>
                        <a:t>Pair</a:t>
                      </a:r>
                      <a:endParaRPr lang="zh-TW" altLang="en-US" sz="2400" dirty="0">
                        <a:latin typeface="Times New Roman" panose="02020603050405020304" pitchFamily="18" charset="0"/>
                        <a:cs typeface="Times New Roman" panose="02020603050405020304" pitchFamily="18" charset="0"/>
                      </a:endParaRPr>
                    </a:p>
                  </a:txBody>
                  <a:tcPr anchor="ctr"/>
                </a:tc>
                <a:tc hMerge="1">
                  <a:txBody>
                    <a:bodyPr/>
                    <a:lstStyle/>
                    <a:p>
                      <a:endParaRPr lang="zh-TW" altLang="en-US"/>
                    </a:p>
                  </a:txBody>
                  <a:tcPr/>
                </a:tc>
                <a:tc>
                  <a:txBody>
                    <a:bodyPr/>
                    <a:lstStyle/>
                    <a:p>
                      <a:pPr algn="ctr"/>
                      <a:r>
                        <a:rPr lang="en-US" altLang="zh-TW" sz="2400" dirty="0">
                          <a:latin typeface="Times New Roman" panose="02020603050405020304" pitchFamily="18" charset="0"/>
                          <a:cs typeface="Times New Roman" panose="02020603050405020304" pitchFamily="18" charset="0"/>
                        </a:rPr>
                        <a:t>Frequency of occurrence</a:t>
                      </a:r>
                      <a:endParaRPr lang="zh-TW" altLang="en-US"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0"/>
                  </a:ext>
                </a:extLst>
              </a:tr>
              <a:tr h="430185">
                <a:tc gridSpan="2">
                  <a:txBody>
                    <a:bodyPr/>
                    <a:lstStyle/>
                    <a:p>
                      <a:pPr algn="ctr"/>
                      <a:r>
                        <a:rPr lang="en-US" altLang="zh-TW" sz="2400" dirty="0">
                          <a:latin typeface="Courier"/>
                          <a:cs typeface="Times New Roman" panose="02020603050405020304" pitchFamily="18" charset="0"/>
                        </a:rPr>
                        <a:t>AA</a:t>
                      </a:r>
                      <a:endParaRPr lang="zh-TW" altLang="en-US" sz="2400" dirty="0">
                        <a:latin typeface="Courier"/>
                        <a:cs typeface="Times New Roman" panose="02020603050405020304" pitchFamily="18" charset="0"/>
                      </a:endParaRPr>
                    </a:p>
                  </a:txBody>
                  <a:tcPr anchor="ctr"/>
                </a:tc>
                <a:tc hMerge="1">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36</a:t>
                      </a:r>
                      <a:endParaRPr lang="zh-TW" altLang="en-US" sz="2400" dirty="0">
                        <a:latin typeface="Times New Roman" panose="02020603050405020304" pitchFamily="18" charset="0"/>
                        <a:cs typeface="Times New Roman" panose="02020603050405020304" pitchFamily="18" charset="0"/>
                      </a:endParaRP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30185">
                <a:tc>
                  <a:txBody>
                    <a:bodyPr/>
                    <a:lstStyle/>
                    <a:p>
                      <a:pPr algn="ctr"/>
                      <a:r>
                        <a:rPr lang="en-US" altLang="zh-TW" sz="2400" dirty="0">
                          <a:latin typeface="Courier"/>
                          <a:cs typeface="Times New Roman" panose="02020603050405020304" pitchFamily="18" charset="0"/>
                        </a:rPr>
                        <a:t>AS</a:t>
                      </a:r>
                      <a:endParaRPr lang="zh-TW" altLang="en-US" sz="2400" dirty="0">
                        <a:latin typeface="Courier"/>
                        <a:cs typeface="Times New Roman" panose="02020603050405020304" pitchFamily="18" charset="0"/>
                      </a:endParaRPr>
                    </a:p>
                  </a:txBody>
                  <a:tcPr anchor="ctr"/>
                </a:tc>
                <a:tc>
                  <a:txBody>
                    <a:bodyPr/>
                    <a:lstStyle/>
                    <a:p>
                      <a:pPr algn="ctr"/>
                      <a:r>
                        <a:rPr lang="en-US" altLang="zh-TW" sz="2400" dirty="0">
                          <a:latin typeface="Courier"/>
                          <a:cs typeface="Times New Roman" panose="02020603050405020304" pitchFamily="18" charset="0"/>
                        </a:rPr>
                        <a:t>SA</a:t>
                      </a:r>
                      <a:endParaRPr lang="zh-TW" altLang="en-US" sz="2400" dirty="0">
                        <a:latin typeface="Courier"/>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29E5028F-9B2F-4EC9-A45A-18DA2A109AA5}"/>
                  </a:ext>
                </a:extLst>
              </p:cNvPr>
              <p:cNvSpPr/>
              <p:nvPr/>
            </p:nvSpPr>
            <p:spPr>
              <a:xfrm>
                <a:off x="3276167" y="5710019"/>
                <a:ext cx="5794215" cy="646331"/>
              </a:xfrm>
              <a:prstGeom prst="rect">
                <a:avLst/>
              </a:prstGeom>
            </p:spPr>
            <p:txBody>
              <a:bodyPr wrap="square">
                <a:spAutoFit/>
              </a:bodyPr>
              <a:lstStyle/>
              <a:p>
                <a:r>
                  <a:rPr lang="zh-TW" altLang="en-US" dirty="0">
                    <a:latin typeface="Times New Roman" panose="02020603050405020304" pitchFamily="18" charset="0"/>
                    <a:cs typeface="Times New Roman" panose="02020603050405020304" pitchFamily="18" charset="0"/>
                  </a:rPr>
                  <a:t>where </a:t>
                </a:r>
                <a14:m>
                  <m:oMath xmlns:m="http://schemas.openxmlformats.org/officeDocument/2006/math">
                    <m:sSub>
                      <m:sSubPr>
                        <m:ctrlPr>
                          <a:rPr lang="zh-TW" altLang="en-US" i="1" dirty="0">
                            <a:latin typeface="Cambria Math" panose="02040503050406030204" pitchFamily="18" charset="0"/>
                          </a:rPr>
                        </m:ctrlPr>
                      </m:sSubPr>
                      <m:e>
                        <m:r>
                          <a:rPr lang="zh-TW" altLang="en-US" i="1" dirty="0">
                            <a:latin typeface="Cambria Math" panose="02040503050406030204" pitchFamily="18" charset="0"/>
                          </a:rPr>
                          <m:t>𝑛</m:t>
                        </m:r>
                      </m:e>
                      <m:sub>
                        <m:r>
                          <a:rPr lang="zh-TW" altLang="en-US" i="1" dirty="0">
                            <a:latin typeface="Cambria Math" panose="02040503050406030204" pitchFamily="18" charset="0"/>
                          </a:rPr>
                          <m:t>𝑖</m:t>
                        </m:r>
                      </m:sub>
                    </m:sSub>
                    <m:r>
                      <a:rPr lang="zh-TW" altLang="en-US" i="1" dirty="0">
                        <a:latin typeface="Cambria Math" panose="02040503050406030204" pitchFamily="18" charset="0"/>
                      </a:rPr>
                      <m:t> </m:t>
                    </m:r>
                  </m:oMath>
                </a14:m>
                <a:r>
                  <a:rPr lang="zh-TW" altLang="en-US" dirty="0">
                    <a:latin typeface="Times New Roman" panose="02020603050405020304" pitchFamily="18" charset="0"/>
                    <a:cs typeface="Times New Roman" panose="02020603050405020304" pitchFamily="18" charset="0"/>
                  </a:rPr>
                  <a:t>= the number of times residue </a:t>
                </a:r>
                <a:r>
                  <a:rPr lang="en-US" altLang="zh-TW" i="1"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a:t>
                </a:r>
                <a:r>
                  <a:rPr lang="zh-TW" altLang="en-US" dirty="0">
                    <a:latin typeface="Times New Roman" panose="02020603050405020304" pitchFamily="18" charset="0"/>
                    <a:cs typeface="Times New Roman" panose="02020603050405020304" pitchFamily="18" charset="0"/>
                  </a:rPr>
                  <a:t>was observed in the column</a:t>
                </a:r>
              </a:p>
            </p:txBody>
          </p:sp>
        </mc:Choice>
        <mc:Fallback xmlns="">
          <p:sp>
            <p:nvSpPr>
              <p:cNvPr id="13" name="矩形 12">
                <a:extLst>
                  <a:ext uri="{FF2B5EF4-FFF2-40B4-BE49-F238E27FC236}">
                    <a16:creationId xmlns:a16="http://schemas.microsoft.com/office/drawing/2014/main" id="{29E5028F-9B2F-4EC9-A45A-18DA2A109AA5}"/>
                  </a:ext>
                </a:extLst>
              </p:cNvPr>
              <p:cNvSpPr>
                <a:spLocks noRot="1" noChangeAspect="1" noMove="1" noResize="1" noEditPoints="1" noAdjustHandles="1" noChangeArrowheads="1" noChangeShapeType="1" noTextEdit="1"/>
              </p:cNvSpPr>
              <p:nvPr/>
            </p:nvSpPr>
            <p:spPr>
              <a:xfrm>
                <a:off x="3276167" y="5710019"/>
                <a:ext cx="5794215" cy="646331"/>
              </a:xfrm>
              <a:prstGeom prst="rect">
                <a:avLst/>
              </a:prstGeom>
              <a:blipFill>
                <a:blip r:embed="rId6"/>
                <a:stretch>
                  <a:fillRect l="-841" t="-5660" r="-1682" b="-14151"/>
                </a:stretch>
              </a:blipFill>
            </p:spPr>
            <p:txBody>
              <a:bodyPr/>
              <a:lstStyle/>
              <a:p>
                <a:r>
                  <a:rPr lang="zh-TW" altLang="en-US">
                    <a:noFill/>
                  </a:rPr>
                  <a:t> </a:t>
                </a:r>
              </a:p>
            </p:txBody>
          </p:sp>
        </mc:Fallback>
      </mc:AlternateContent>
      <p:pic>
        <p:nvPicPr>
          <p:cNvPr id="4" name="圖片 3"/>
          <p:cNvPicPr>
            <a:picLocks noChangeAspect="1"/>
          </p:cNvPicPr>
          <p:nvPr/>
        </p:nvPicPr>
        <p:blipFill>
          <a:blip r:embed="rId7"/>
          <a:stretch>
            <a:fillRect/>
          </a:stretch>
        </p:blipFill>
        <p:spPr>
          <a:xfrm>
            <a:off x="611560" y="1370881"/>
            <a:ext cx="2432078" cy="4752253"/>
          </a:xfrm>
          <a:prstGeom prst="rect">
            <a:avLst/>
          </a:prstGeom>
        </p:spPr>
      </p:pic>
    </p:spTree>
    <p:extLst>
      <p:ext uri="{BB962C8B-B14F-4D97-AF65-F5344CB8AC3E}">
        <p14:creationId xmlns:p14="http://schemas.microsoft.com/office/powerpoint/2010/main" val="310772616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字方塊 10">
            <a:extLst>
              <a:ext uri="{FF2B5EF4-FFF2-40B4-BE49-F238E27FC236}">
                <a16:creationId xmlns:a16="http://schemas.microsoft.com/office/drawing/2014/main" id="{F7024DF5-78FF-4A3F-B7F4-E9879D39926E}"/>
              </a:ext>
            </a:extLst>
          </p:cNvPr>
          <p:cNvSpPr txBox="1"/>
          <p:nvPr/>
        </p:nvSpPr>
        <p:spPr>
          <a:xfrm>
            <a:off x="188616" y="91827"/>
            <a:ext cx="8755811" cy="707886"/>
          </a:xfrm>
          <a:prstGeom prst="rect">
            <a:avLst/>
          </a:prstGeom>
          <a:noFill/>
        </p:spPr>
        <p:txBody>
          <a:bodyPr wrap="square" rtlCol="0">
            <a:spAutoFit/>
          </a:bodyPr>
          <a:lstStyle/>
          <a:p>
            <a:r>
              <a:rPr lang="en-US" altLang="zh-TW" sz="4000" b="1" dirty="0">
                <a:latin typeface="Times New Roman" panose="02020603050405020304" pitchFamily="18" charset="0"/>
                <a:cs typeface="Times New Roman" panose="02020603050405020304" pitchFamily="18" charset="0"/>
              </a:rPr>
              <a:t>Example of BLOSUM Calculation</a:t>
            </a:r>
            <a:endParaRPr lang="zh-TW" altLang="en-US" sz="4000" dirty="0">
              <a:latin typeface="Times New Roman" panose="02020603050405020304" pitchFamily="18" charset="0"/>
              <a:cs typeface="Times New Roman" panose="02020603050405020304" pitchFamily="18" charset="0"/>
            </a:endParaRPr>
          </a:p>
        </p:txBody>
      </p:sp>
      <p:sp>
        <p:nvSpPr>
          <p:cNvPr id="2" name="文字方塊 1">
            <a:extLst>
              <a:ext uri="{FF2B5EF4-FFF2-40B4-BE49-F238E27FC236}">
                <a16:creationId xmlns:a16="http://schemas.microsoft.com/office/drawing/2014/main" id="{A2235B76-8D79-4FF4-8556-2DB02C3CBF07}"/>
              </a:ext>
            </a:extLst>
          </p:cNvPr>
          <p:cNvSpPr txBox="1"/>
          <p:nvPr/>
        </p:nvSpPr>
        <p:spPr>
          <a:xfrm>
            <a:off x="333899" y="851552"/>
            <a:ext cx="4752528" cy="707886"/>
          </a:xfrm>
          <a:prstGeom prst="rect">
            <a:avLst/>
          </a:prstGeom>
          <a:noFill/>
        </p:spPr>
        <p:txBody>
          <a:bodyPr wrap="square" rtlCol="0">
            <a:spAutoFit/>
          </a:bodyPr>
          <a:lstStyle/>
          <a:p>
            <a:r>
              <a:rPr lang="en-US" altLang="zh-TW" sz="2000" dirty="0" smtClean="0">
                <a:latin typeface="Times New Roman" panose="02020603050405020304" pitchFamily="18" charset="0"/>
                <a:cs typeface="Times New Roman" panose="02020603050405020304" pitchFamily="18" charset="0"/>
              </a:rPr>
              <a:t>Step 3</a:t>
            </a:r>
            <a:r>
              <a:rPr lang="en-US" altLang="zh-TW" sz="2000" dirty="0">
                <a:latin typeface="Times New Roman" panose="02020603050405020304" pitchFamily="18" charset="0"/>
                <a:cs typeface="Times New Roman" panose="02020603050405020304" pitchFamily="18" charset="0"/>
              </a:rPr>
              <a:t>: count the observed and expected frequency of amino acid pairs.</a:t>
            </a:r>
            <a:endParaRPr lang="zh-TW" altLang="en-US" sz="20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473D2490-490E-40FD-B5B1-966E9DE413BB}"/>
                  </a:ext>
                </a:extLst>
              </p:cNvPr>
              <p:cNvSpPr txBox="1"/>
              <p:nvPr/>
            </p:nvSpPr>
            <p:spPr>
              <a:xfrm>
                <a:off x="3127655" y="4206637"/>
                <a:ext cx="2398926" cy="369332"/>
              </a:xfrm>
              <a:prstGeom prst="rect">
                <a:avLst/>
              </a:prstGeom>
              <a:noFill/>
            </p:spPr>
            <p:txBody>
              <a:bodyPr wrap="none" lIns="0" tIns="0" rIns="0" bIns="0" rtlCol="0">
                <a:spAutoFit/>
              </a:bodyPr>
              <a:lstStyle/>
              <a:p>
                <a14:m>
                  <m:oMath xmlns:m="http://schemas.openxmlformats.org/officeDocument/2006/math">
                    <m:sSub>
                      <m:sSubPr>
                        <m:ctrlPr>
                          <a:rPr lang="zh-TW" altLang="en-US" sz="2400" i="1" smtClean="0">
                            <a:latin typeface="Cambria Math" panose="02040503050406030204" pitchFamily="18" charset="0"/>
                          </a:rPr>
                        </m:ctrlPr>
                      </m:sSubPr>
                      <m:e>
                        <m:r>
                          <a:rPr lang="en-US" altLang="zh-TW" sz="2400" b="0" i="1" smtClean="0">
                            <a:latin typeface="Cambria Math" panose="02040503050406030204" pitchFamily="18" charset="0"/>
                          </a:rPr>
                          <m:t>𝑞</m:t>
                        </m:r>
                      </m:e>
                      <m:sub>
                        <m:r>
                          <m:rPr>
                            <m:sty m:val="p"/>
                          </m:rPr>
                          <a:rPr lang="en-US" altLang="zh-TW" sz="2400" b="0" i="0" smtClean="0">
                            <a:latin typeface="Cambria Math" panose="02040503050406030204" pitchFamily="18" charset="0"/>
                          </a:rPr>
                          <m:t>AA</m:t>
                        </m:r>
                      </m:sub>
                    </m:sSub>
                    <m:r>
                      <a:rPr lang="en-US" altLang="zh-TW" sz="2400">
                        <a:latin typeface="Cambria Math" panose="02040503050406030204" pitchFamily="18" charset="0"/>
                        <a:ea typeface="Cambria Math" panose="02040503050406030204" pitchFamily="18" charset="0"/>
                        <a:cs typeface="Times New Roman" panose="02020603050405020304" pitchFamily="18" charset="0"/>
                      </a:rPr>
                      <m:t>=</m:t>
                    </m:r>
                    <m:r>
                      <a:rPr lang="en-US" altLang="zh-TW" sz="2400" b="0" i="0" smtClean="0">
                        <a:latin typeface="Cambria Math" panose="02040503050406030204" pitchFamily="18" charset="0"/>
                        <a:ea typeface="Cambria Math" panose="02040503050406030204" pitchFamily="18" charset="0"/>
                        <a:cs typeface="Times New Roman" panose="02020603050405020304" pitchFamily="18" charset="0"/>
                      </a:rPr>
                      <m:t>36</m:t>
                    </m:r>
                  </m:oMath>
                </a14:m>
                <a:r>
                  <a:rPr lang="en-US" altLang="zh-TW" sz="2400" dirty="0">
                    <a:latin typeface="Times New Roman" panose="02020603050405020304" pitchFamily="18" charset="0"/>
                    <a:cs typeface="Times New Roman" panose="02020603050405020304" pitchFamily="18" charset="0"/>
                  </a:rPr>
                  <a:t>/45 </a:t>
                </a:r>
                <a14:m>
                  <m:oMath xmlns:m="http://schemas.openxmlformats.org/officeDocument/2006/math">
                    <m:r>
                      <a:rPr lang="en-US" altLang="zh-TW" sz="2400">
                        <a:latin typeface="Cambria Math" panose="02040503050406030204" pitchFamily="18" charset="0"/>
                        <a:ea typeface="Cambria Math" panose="02040503050406030204" pitchFamily="18" charset="0"/>
                        <a:cs typeface="Times New Roman" panose="02020603050405020304" pitchFamily="18" charset="0"/>
                      </a:rPr>
                      <m:t>=</m:t>
                    </m:r>
                    <m:r>
                      <a:rPr lang="en-US" altLang="zh-TW" sz="2400" b="0" i="0" smtClean="0">
                        <a:latin typeface="Cambria Math" panose="02040503050406030204" pitchFamily="18" charset="0"/>
                        <a:ea typeface="Cambria Math" panose="02040503050406030204" pitchFamily="18" charset="0"/>
                        <a:cs typeface="Times New Roman" panose="02020603050405020304" pitchFamily="18" charset="0"/>
                      </a:rPr>
                      <m:t>0.8</m:t>
                    </m:r>
                  </m:oMath>
                </a14:m>
                <a:endParaRPr lang="zh-TW" altLang="en-US" sz="2400" dirty="0">
                  <a:latin typeface="Times New Roman" panose="02020603050405020304" pitchFamily="18" charset="0"/>
                  <a:cs typeface="Times New Roman" panose="02020603050405020304" pitchFamily="18" charset="0"/>
                </a:endParaRPr>
              </a:p>
            </p:txBody>
          </p:sp>
        </mc:Choice>
        <mc:Fallback xmlns="">
          <p:sp>
            <p:nvSpPr>
              <p:cNvPr id="5" name="文字方塊 4">
                <a:extLst>
                  <a:ext uri="{FF2B5EF4-FFF2-40B4-BE49-F238E27FC236}">
                    <a16:creationId xmlns:a16="http://schemas.microsoft.com/office/drawing/2014/main" id="{473D2490-490E-40FD-B5B1-966E9DE413BB}"/>
                  </a:ext>
                </a:extLst>
              </p:cNvPr>
              <p:cNvSpPr txBox="1">
                <a:spLocks noRot="1" noChangeAspect="1" noMove="1" noResize="1" noEditPoints="1" noAdjustHandles="1" noChangeArrowheads="1" noChangeShapeType="1" noTextEdit="1"/>
              </p:cNvSpPr>
              <p:nvPr/>
            </p:nvSpPr>
            <p:spPr>
              <a:xfrm>
                <a:off x="3127655" y="4206637"/>
                <a:ext cx="2398926" cy="369332"/>
              </a:xfrm>
              <a:prstGeom prst="rect">
                <a:avLst/>
              </a:prstGeom>
              <a:blipFill>
                <a:blip r:embed="rId3"/>
                <a:stretch>
                  <a:fillRect l="-4569" t="-24590" r="-4315" b="-49180"/>
                </a:stretch>
              </a:blipFill>
            </p:spPr>
            <p:txBody>
              <a:bodyPr/>
              <a:lstStyle/>
              <a:p>
                <a:r>
                  <a:rPr lang="zh-TW" altLang="en-US">
                    <a:noFill/>
                  </a:rPr>
                  <a:t> </a:t>
                </a:r>
              </a:p>
            </p:txBody>
          </p:sp>
        </mc:Fallback>
      </mc:AlternateContent>
      <p:sp>
        <p:nvSpPr>
          <p:cNvPr id="22" name="投影片編號版面配置區 3">
            <a:extLst>
              <a:ext uri="{FF2B5EF4-FFF2-40B4-BE49-F238E27FC236}">
                <a16:creationId xmlns:a16="http://schemas.microsoft.com/office/drawing/2014/main" id="{9B88A273-9217-4528-84BC-4239239EBB7F}"/>
              </a:ext>
            </a:extLst>
          </p:cNvPr>
          <p:cNvSpPr>
            <a:spLocks noGrp="1"/>
          </p:cNvSpPr>
          <p:nvPr>
            <p:ph type="sldNum" sz="quarter" idx="12"/>
          </p:nvPr>
        </p:nvSpPr>
        <p:spPr>
          <a:xfrm>
            <a:off x="6553200" y="6356350"/>
            <a:ext cx="2133600" cy="365125"/>
          </a:xfrm>
        </p:spPr>
        <p:txBody>
          <a:bodyPr/>
          <a:lstStyle/>
          <a:p>
            <a:fld id="{04C04D6A-2E29-441A-A244-9F1014899F6D}" type="slidenum">
              <a:rPr lang="zh-TW" altLang="en-US" sz="1600" smtClean="0"/>
              <a:pPr/>
              <a:t>11</a:t>
            </a:fld>
            <a:endParaRPr lang="zh-TW" altLang="en-US" sz="1600" dirty="0"/>
          </a:p>
        </p:txBody>
      </p:sp>
      <p:graphicFrame>
        <p:nvGraphicFramePr>
          <p:cNvPr id="13" name="表格 12">
            <a:extLst>
              <a:ext uri="{FF2B5EF4-FFF2-40B4-BE49-F238E27FC236}">
                <a16:creationId xmlns:a16="http://schemas.microsoft.com/office/drawing/2014/main" id="{B29A0E73-E3E1-48D2-8727-612EBDD37DAB}"/>
              </a:ext>
            </a:extLst>
          </p:cNvPr>
          <p:cNvGraphicFramePr>
            <a:graphicFrameLocks noGrp="1"/>
          </p:cNvGraphicFramePr>
          <p:nvPr>
            <p:extLst>
              <p:ext uri="{D42A27DB-BD31-4B8C-83A1-F6EECF244321}">
                <p14:modId xmlns:p14="http://schemas.microsoft.com/office/powerpoint/2010/main" val="2264773885"/>
              </p:ext>
            </p:extLst>
          </p:nvPr>
        </p:nvGraphicFramePr>
        <p:xfrm>
          <a:off x="2483768" y="1931908"/>
          <a:ext cx="4277273" cy="1781222"/>
        </p:xfrm>
        <a:graphic>
          <a:graphicData uri="http://schemas.openxmlformats.org/drawingml/2006/table">
            <a:tbl>
              <a:tblPr firstRow="1" bandRow="1">
                <a:tableStyleId>{5940675A-B579-460E-94D1-54222C63F5DA}</a:tableStyleId>
              </a:tblPr>
              <a:tblGrid>
                <a:gridCol w="731639">
                  <a:extLst>
                    <a:ext uri="{9D8B030D-6E8A-4147-A177-3AD203B41FA5}">
                      <a16:colId xmlns:a16="http://schemas.microsoft.com/office/drawing/2014/main" val="20000"/>
                    </a:ext>
                  </a:extLst>
                </a:gridCol>
                <a:gridCol w="619079">
                  <a:extLst>
                    <a:ext uri="{9D8B030D-6E8A-4147-A177-3AD203B41FA5}">
                      <a16:colId xmlns:a16="http://schemas.microsoft.com/office/drawing/2014/main" val="3554565227"/>
                    </a:ext>
                  </a:extLst>
                </a:gridCol>
                <a:gridCol w="2926555">
                  <a:extLst>
                    <a:ext uri="{9D8B030D-6E8A-4147-A177-3AD203B41FA5}">
                      <a16:colId xmlns:a16="http://schemas.microsoft.com/office/drawing/2014/main" val="20001"/>
                    </a:ext>
                  </a:extLst>
                </a:gridCol>
              </a:tblGrid>
              <a:tr h="866822">
                <a:tc gridSpan="2">
                  <a:txBody>
                    <a:bodyPr/>
                    <a:lstStyle/>
                    <a:p>
                      <a:pPr algn="ctr"/>
                      <a:r>
                        <a:rPr lang="en-US" altLang="zh-TW" sz="2400" dirty="0">
                          <a:latin typeface="Times New Roman" panose="02020603050405020304" pitchFamily="18" charset="0"/>
                          <a:cs typeface="Times New Roman" panose="02020603050405020304" pitchFamily="18" charset="0"/>
                        </a:rPr>
                        <a:t>Pair</a:t>
                      </a:r>
                      <a:endParaRPr lang="zh-TW" altLang="en-US" sz="2400" dirty="0">
                        <a:latin typeface="Times New Roman" panose="02020603050405020304" pitchFamily="18" charset="0"/>
                        <a:cs typeface="Times New Roman" panose="02020603050405020304" pitchFamily="18" charset="0"/>
                      </a:endParaRPr>
                    </a:p>
                  </a:txBody>
                  <a:tcPr anchor="ctr"/>
                </a:tc>
                <a:tc hMerge="1">
                  <a:txBody>
                    <a:bodyPr/>
                    <a:lstStyle/>
                    <a:p>
                      <a:endParaRPr lang="zh-TW" altLang="en-US"/>
                    </a:p>
                  </a:txBody>
                  <a:tcPr/>
                </a:tc>
                <a:tc>
                  <a:txBody>
                    <a:bodyPr/>
                    <a:lstStyle/>
                    <a:p>
                      <a:pPr algn="ctr"/>
                      <a:r>
                        <a:rPr lang="en-US" altLang="zh-TW" sz="2400" dirty="0">
                          <a:latin typeface="Times New Roman" panose="02020603050405020304" pitchFamily="18" charset="0"/>
                          <a:cs typeface="Times New Roman" panose="02020603050405020304" pitchFamily="18" charset="0"/>
                        </a:rPr>
                        <a:t>Frequency of occurrence</a:t>
                      </a:r>
                      <a:endParaRPr lang="zh-TW" altLang="en-US"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0"/>
                  </a:ext>
                </a:extLst>
              </a:tr>
              <a:tr h="430185">
                <a:tc gridSpan="2">
                  <a:txBody>
                    <a:bodyPr/>
                    <a:lstStyle/>
                    <a:p>
                      <a:pPr algn="ctr"/>
                      <a:r>
                        <a:rPr lang="en-US" altLang="zh-TW" sz="2400" dirty="0">
                          <a:latin typeface="Times New Roman" panose="02020603050405020304" pitchFamily="18" charset="0"/>
                          <a:cs typeface="Times New Roman" panose="02020603050405020304" pitchFamily="18" charset="0"/>
                        </a:rPr>
                        <a:t>AA</a:t>
                      </a:r>
                      <a:endParaRPr lang="zh-TW" altLang="en-US" sz="2400" dirty="0">
                        <a:latin typeface="Times New Roman" panose="02020603050405020304" pitchFamily="18" charset="0"/>
                        <a:cs typeface="Times New Roman" panose="02020603050405020304" pitchFamily="18" charset="0"/>
                      </a:endParaRPr>
                    </a:p>
                  </a:txBody>
                  <a:tcPr anchor="ctr"/>
                </a:tc>
                <a:tc hMerge="1">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36</a:t>
                      </a:r>
                      <a:endParaRPr lang="zh-TW" altLang="en-US" sz="2400" dirty="0">
                        <a:latin typeface="Times New Roman" panose="02020603050405020304" pitchFamily="18" charset="0"/>
                        <a:cs typeface="Times New Roman" panose="02020603050405020304" pitchFamily="18" charset="0"/>
                      </a:endParaRP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30185">
                <a:tc>
                  <a:txBody>
                    <a:bodyPr/>
                    <a:lstStyle/>
                    <a:p>
                      <a:pPr algn="ctr"/>
                      <a:r>
                        <a:rPr lang="en-US" altLang="zh-TW" sz="2400" dirty="0">
                          <a:latin typeface="Times New Roman" panose="02020603050405020304" pitchFamily="18" charset="0"/>
                          <a:cs typeface="Times New Roman" panose="02020603050405020304" pitchFamily="18" charset="0"/>
                        </a:rPr>
                        <a:t>AS</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SA</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473D2490-490E-40FD-B5B1-966E9DE413BB}"/>
                  </a:ext>
                </a:extLst>
              </p:cNvPr>
              <p:cNvSpPr txBox="1"/>
              <p:nvPr/>
            </p:nvSpPr>
            <p:spPr>
              <a:xfrm>
                <a:off x="3127655" y="4842645"/>
                <a:ext cx="2197012" cy="369332"/>
              </a:xfrm>
              <a:prstGeom prst="rect">
                <a:avLst/>
              </a:prstGeom>
              <a:noFill/>
            </p:spPr>
            <p:txBody>
              <a:bodyPr wrap="none" lIns="0" tIns="0" rIns="0" bIns="0" rtlCol="0">
                <a:spAutoFit/>
              </a:bodyPr>
              <a:lstStyle/>
              <a:p>
                <a14:m>
                  <m:oMath xmlns:m="http://schemas.openxmlformats.org/officeDocument/2006/math">
                    <m:sSub>
                      <m:sSubPr>
                        <m:ctrlPr>
                          <a:rPr lang="zh-TW" altLang="en-US" sz="2400" i="1" smtClean="0">
                            <a:latin typeface="Cambria Math" panose="02040503050406030204" pitchFamily="18" charset="0"/>
                          </a:rPr>
                        </m:ctrlPr>
                      </m:sSubPr>
                      <m:e>
                        <m:r>
                          <a:rPr lang="en-US" altLang="zh-TW" sz="2400" i="1">
                            <a:latin typeface="Cambria Math" panose="02040503050406030204" pitchFamily="18" charset="0"/>
                          </a:rPr>
                          <m:t>𝑞</m:t>
                        </m:r>
                      </m:e>
                      <m:sub>
                        <m:r>
                          <m:rPr>
                            <m:sty m:val="p"/>
                          </m:rPr>
                          <a:rPr lang="en-US" altLang="zh-TW" sz="2400" i="0">
                            <a:latin typeface="Cambria Math" panose="02040503050406030204" pitchFamily="18" charset="0"/>
                          </a:rPr>
                          <m:t>A</m:t>
                        </m:r>
                        <m:r>
                          <m:rPr>
                            <m:sty m:val="p"/>
                          </m:rPr>
                          <a:rPr lang="en-US" altLang="zh-TW" sz="2400" b="0" i="0" smtClean="0">
                            <a:latin typeface="Cambria Math" panose="02040503050406030204" pitchFamily="18" charset="0"/>
                          </a:rPr>
                          <m:t>S</m:t>
                        </m:r>
                      </m:sub>
                    </m:sSub>
                    <m:r>
                      <a:rPr lang="en-US" altLang="zh-TW" sz="2400">
                        <a:latin typeface="Cambria Math" panose="02040503050406030204" pitchFamily="18" charset="0"/>
                        <a:ea typeface="Cambria Math" panose="02040503050406030204" pitchFamily="18" charset="0"/>
                        <a:cs typeface="Times New Roman" panose="02020603050405020304" pitchFamily="18" charset="0"/>
                      </a:rPr>
                      <m:t>=</m:t>
                    </m:r>
                    <m:r>
                      <a:rPr lang="en-US" altLang="zh-TW" sz="2400" b="0" i="0" smtClean="0">
                        <a:latin typeface="Cambria Math" panose="02040503050406030204" pitchFamily="18" charset="0"/>
                        <a:ea typeface="Cambria Math" panose="02040503050406030204" pitchFamily="18" charset="0"/>
                        <a:cs typeface="Times New Roman" panose="02020603050405020304" pitchFamily="18" charset="0"/>
                      </a:rPr>
                      <m:t>9</m:t>
                    </m:r>
                  </m:oMath>
                </a14:m>
                <a:r>
                  <a:rPr lang="en-US" altLang="zh-TW" sz="2400" dirty="0">
                    <a:latin typeface="Times New Roman" panose="02020603050405020304" pitchFamily="18" charset="0"/>
                    <a:cs typeface="Times New Roman" panose="02020603050405020304" pitchFamily="18" charset="0"/>
                  </a:rPr>
                  <a:t>/45 </a:t>
                </a:r>
                <a14:m>
                  <m:oMath xmlns:m="http://schemas.openxmlformats.org/officeDocument/2006/math">
                    <m:r>
                      <a:rPr lang="en-US" altLang="zh-TW" sz="2400">
                        <a:latin typeface="Cambria Math" panose="02040503050406030204" pitchFamily="18" charset="0"/>
                        <a:ea typeface="Cambria Math" panose="02040503050406030204" pitchFamily="18" charset="0"/>
                        <a:cs typeface="Times New Roman" panose="02020603050405020304" pitchFamily="18" charset="0"/>
                      </a:rPr>
                      <m:t>=</m:t>
                    </m:r>
                  </m:oMath>
                </a14:m>
                <a:r>
                  <a:rPr lang="zh-TW" altLang="en-US" sz="2400" dirty="0">
                    <a:latin typeface="Times New Roman" panose="02020603050405020304" pitchFamily="18" charset="0"/>
                    <a:cs typeface="Times New Roman" panose="02020603050405020304" pitchFamily="18" charset="0"/>
                  </a:rPr>
                  <a:t> </a:t>
                </a:r>
                <a14:m>
                  <m:oMath xmlns:m="http://schemas.openxmlformats.org/officeDocument/2006/math">
                    <m:r>
                      <a:rPr lang="en-US" altLang="zh-TW" sz="2400">
                        <a:latin typeface="Cambria Math" panose="02040503050406030204" pitchFamily="18" charset="0"/>
                        <a:ea typeface="Cambria Math" panose="02040503050406030204" pitchFamily="18" charset="0"/>
                        <a:cs typeface="Times New Roman" panose="02020603050405020304" pitchFamily="18" charset="0"/>
                      </a:rPr>
                      <m:t>0.</m:t>
                    </m:r>
                    <m:r>
                      <a:rPr lang="en-US" altLang="zh-TW" sz="2400" b="0" i="0" smtClean="0">
                        <a:latin typeface="Cambria Math" panose="02040503050406030204" pitchFamily="18" charset="0"/>
                        <a:ea typeface="Cambria Math" panose="02040503050406030204" pitchFamily="18" charset="0"/>
                        <a:cs typeface="Times New Roman" panose="02020603050405020304" pitchFamily="18" charset="0"/>
                      </a:rPr>
                      <m:t>2</m:t>
                    </m:r>
                  </m:oMath>
                </a14:m>
                <a:endParaRPr lang="zh-TW" altLang="en-US" sz="2400" dirty="0">
                  <a:latin typeface="Times New Roman" panose="02020603050405020304" pitchFamily="18" charset="0"/>
                  <a:cs typeface="Times New Roman" panose="02020603050405020304" pitchFamily="18" charset="0"/>
                </a:endParaRPr>
              </a:p>
            </p:txBody>
          </p:sp>
        </mc:Choice>
        <mc:Fallback xmlns="">
          <p:sp>
            <p:nvSpPr>
              <p:cNvPr id="14" name="文字方塊 13">
                <a:extLst>
                  <a:ext uri="{FF2B5EF4-FFF2-40B4-BE49-F238E27FC236}">
                    <a16:creationId xmlns:a16="http://schemas.microsoft.com/office/drawing/2014/main" id="{473D2490-490E-40FD-B5B1-966E9DE413BB}"/>
                  </a:ext>
                </a:extLst>
              </p:cNvPr>
              <p:cNvSpPr txBox="1">
                <a:spLocks noRot="1" noChangeAspect="1" noMove="1" noResize="1" noEditPoints="1" noAdjustHandles="1" noChangeArrowheads="1" noChangeShapeType="1" noTextEdit="1"/>
              </p:cNvSpPr>
              <p:nvPr/>
            </p:nvSpPr>
            <p:spPr>
              <a:xfrm>
                <a:off x="3127655" y="4842645"/>
                <a:ext cx="2197012" cy="369332"/>
              </a:xfrm>
              <a:prstGeom prst="rect">
                <a:avLst/>
              </a:prstGeom>
              <a:blipFill>
                <a:blip r:embed="rId4"/>
                <a:stretch>
                  <a:fillRect l="-5000" t="-24590" r="-4722" b="-4918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9795550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字方塊 10">
            <a:extLst>
              <a:ext uri="{FF2B5EF4-FFF2-40B4-BE49-F238E27FC236}">
                <a16:creationId xmlns:a16="http://schemas.microsoft.com/office/drawing/2014/main" id="{F7024DF5-78FF-4A3F-B7F4-E9879D39926E}"/>
              </a:ext>
            </a:extLst>
          </p:cNvPr>
          <p:cNvSpPr txBox="1"/>
          <p:nvPr/>
        </p:nvSpPr>
        <p:spPr>
          <a:xfrm>
            <a:off x="188616" y="91827"/>
            <a:ext cx="8755811" cy="707886"/>
          </a:xfrm>
          <a:prstGeom prst="rect">
            <a:avLst/>
          </a:prstGeom>
          <a:noFill/>
        </p:spPr>
        <p:txBody>
          <a:bodyPr wrap="square" rtlCol="0">
            <a:spAutoFit/>
          </a:bodyPr>
          <a:lstStyle/>
          <a:p>
            <a:r>
              <a:rPr lang="en-US" altLang="zh-TW" sz="4000" b="1" dirty="0">
                <a:latin typeface="Times New Roman" panose="02020603050405020304" pitchFamily="18" charset="0"/>
                <a:cs typeface="Times New Roman" panose="02020603050405020304" pitchFamily="18" charset="0"/>
              </a:rPr>
              <a:t>Example of BLOSUM Calculation</a:t>
            </a:r>
            <a:endParaRPr lang="zh-TW" altLang="en-US" sz="4000" dirty="0">
              <a:latin typeface="Times New Roman" panose="02020603050405020304" pitchFamily="18" charset="0"/>
              <a:cs typeface="Times New Roman" panose="02020603050405020304" pitchFamily="18" charset="0"/>
            </a:endParaRPr>
          </a:p>
        </p:txBody>
      </p:sp>
      <p:sp>
        <p:nvSpPr>
          <p:cNvPr id="2" name="文字方塊 1">
            <a:extLst>
              <a:ext uri="{FF2B5EF4-FFF2-40B4-BE49-F238E27FC236}">
                <a16:creationId xmlns:a16="http://schemas.microsoft.com/office/drawing/2014/main" id="{A2235B76-8D79-4FF4-8556-2DB02C3CBF07}"/>
              </a:ext>
            </a:extLst>
          </p:cNvPr>
          <p:cNvSpPr txBox="1"/>
          <p:nvPr/>
        </p:nvSpPr>
        <p:spPr>
          <a:xfrm>
            <a:off x="333899" y="851552"/>
            <a:ext cx="4752528" cy="707886"/>
          </a:xfrm>
          <a:prstGeom prst="rect">
            <a:avLst/>
          </a:prstGeom>
          <a:noFill/>
        </p:spPr>
        <p:txBody>
          <a:bodyPr wrap="square" rtlCol="0">
            <a:spAutoFit/>
          </a:bodyPr>
          <a:lstStyle/>
          <a:p>
            <a:r>
              <a:rPr lang="en-US" altLang="zh-TW" sz="2000" dirty="0" smtClean="0">
                <a:latin typeface="Times New Roman" panose="02020603050405020304" pitchFamily="18" charset="0"/>
                <a:cs typeface="Times New Roman" panose="02020603050405020304" pitchFamily="18" charset="0"/>
              </a:rPr>
              <a:t>Step 3</a:t>
            </a:r>
            <a:r>
              <a:rPr lang="en-US" altLang="zh-TW" sz="2000" dirty="0">
                <a:latin typeface="Times New Roman" panose="02020603050405020304" pitchFamily="18" charset="0"/>
                <a:cs typeface="Times New Roman" panose="02020603050405020304" pitchFamily="18" charset="0"/>
              </a:rPr>
              <a:t>: count the observed and expected frequency of amino acid pairs.</a:t>
            </a:r>
            <a:endParaRPr lang="zh-TW" altLang="en-US" sz="20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8" name="文字方塊 17">
                <a:extLst>
                  <a:ext uri="{FF2B5EF4-FFF2-40B4-BE49-F238E27FC236}">
                    <a16:creationId xmlns:a16="http://schemas.microsoft.com/office/drawing/2014/main" id="{2074BB20-1132-4364-A50F-83C6324B55C7}"/>
                  </a:ext>
                </a:extLst>
              </p:cNvPr>
              <p:cNvSpPr txBox="1"/>
              <p:nvPr/>
            </p:nvSpPr>
            <p:spPr>
              <a:xfrm>
                <a:off x="4305243" y="2663317"/>
                <a:ext cx="421166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zh-TW" altLang="en-US" sz="2400" i="1">
                              <a:latin typeface="Cambria Math" panose="02040503050406030204" pitchFamily="18" charset="0"/>
                            </a:rPr>
                          </m:ctrlPr>
                        </m:sSubPr>
                        <m:e>
                          <m:r>
                            <a:rPr lang="en-US" altLang="zh-TW" sz="2400" b="0" i="1" smtClean="0">
                              <a:latin typeface="Cambria Math" panose="02040503050406030204" pitchFamily="18" charset="0"/>
                            </a:rPr>
                            <m:t>𝑒</m:t>
                          </m:r>
                        </m:e>
                        <m:sub>
                          <m:r>
                            <m:rPr>
                              <m:sty m:val="p"/>
                            </m:rPr>
                            <a:rPr lang="en-US" altLang="zh-TW" sz="2400" b="0" i="0" smtClean="0">
                              <a:latin typeface="Cambria Math" panose="02040503050406030204" pitchFamily="18" charset="0"/>
                            </a:rPr>
                            <m:t>AA</m:t>
                          </m:r>
                        </m:sub>
                      </m:sSub>
                      <m:r>
                        <a:rPr lang="en-US" altLang="zh-TW" sz="240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sz="24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400" b="0" i="1" smtClean="0">
                              <a:latin typeface="Cambria Math" panose="02040503050406030204" pitchFamily="18" charset="0"/>
                              <a:ea typeface="Cambria Math" panose="02040503050406030204" pitchFamily="18" charset="0"/>
                              <a:cs typeface="Times New Roman" panose="02020603050405020304" pitchFamily="18" charset="0"/>
                            </a:rPr>
                            <m:t>𝑝</m:t>
                          </m:r>
                        </m:e>
                        <m:sub>
                          <m:r>
                            <m:rPr>
                              <m:sty m:val="p"/>
                            </m:rPr>
                            <a:rPr lang="en-US" altLang="zh-TW" sz="2400" b="0" i="0" smtClean="0">
                              <a:latin typeface="Cambria Math" panose="02040503050406030204" pitchFamily="18" charset="0"/>
                              <a:ea typeface="Cambria Math" panose="02040503050406030204" pitchFamily="18" charset="0"/>
                              <a:cs typeface="Times New Roman" panose="02020603050405020304" pitchFamily="18" charset="0"/>
                            </a:rPr>
                            <m:t>A</m:t>
                          </m:r>
                        </m:sub>
                      </m:sSub>
                      <m:sSub>
                        <m:sSubPr>
                          <m:ctrlPr>
                            <a:rPr lang="en-US" altLang="zh-TW" sz="24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400" i="1">
                              <a:latin typeface="Cambria Math" panose="02040503050406030204" pitchFamily="18" charset="0"/>
                              <a:ea typeface="Cambria Math" panose="02040503050406030204" pitchFamily="18" charset="0"/>
                              <a:cs typeface="Times New Roman" panose="02020603050405020304" pitchFamily="18" charset="0"/>
                            </a:rPr>
                            <m:t>𝑝</m:t>
                          </m:r>
                        </m:e>
                        <m:sub>
                          <m:r>
                            <m:rPr>
                              <m:sty m:val="p"/>
                            </m:rPr>
                            <a:rPr lang="en-US" altLang="zh-TW" sz="2400" i="0">
                              <a:latin typeface="Cambria Math" panose="02040503050406030204" pitchFamily="18" charset="0"/>
                              <a:ea typeface="Cambria Math" panose="02040503050406030204" pitchFamily="18" charset="0"/>
                              <a:cs typeface="Times New Roman" panose="02020603050405020304" pitchFamily="18" charset="0"/>
                            </a:rPr>
                            <m:t>A</m:t>
                          </m:r>
                        </m:sub>
                      </m:sSub>
                      <m:r>
                        <a:rPr lang="en-US" altLang="zh-TW" sz="2400" b="0" i="0" smtClean="0">
                          <a:latin typeface="Cambria Math" panose="02040503050406030204" pitchFamily="18" charset="0"/>
                          <a:ea typeface="Cambria Math" panose="02040503050406030204" pitchFamily="18" charset="0"/>
                          <a:cs typeface="Times New Roman" panose="02020603050405020304" pitchFamily="18" charset="0"/>
                        </a:rPr>
                        <m:t>=0.9</m:t>
                      </m:r>
                      <m:r>
                        <a:rPr lang="en-US" altLang="zh-TW" sz="2400" b="0" i="1" smtClean="0">
                          <a:latin typeface="Cambria Math" panose="02040503050406030204" pitchFamily="18" charset="0"/>
                          <a:ea typeface="Cambria Math" panose="02040503050406030204" pitchFamily="18" charset="0"/>
                          <a:cs typeface="Times New Roman" panose="02020603050405020304" pitchFamily="18" charset="0"/>
                        </a:rPr>
                        <m:t>×0.9</m:t>
                      </m:r>
                      <m:r>
                        <a:rPr lang="en-US" altLang="zh-TW" sz="2400">
                          <a:latin typeface="Cambria Math" panose="02040503050406030204" pitchFamily="18" charset="0"/>
                          <a:ea typeface="Cambria Math" panose="02040503050406030204" pitchFamily="18" charset="0"/>
                          <a:cs typeface="Times New Roman" panose="02020603050405020304" pitchFamily="18" charset="0"/>
                        </a:rPr>
                        <m:t>=</m:t>
                      </m:r>
                      <m:r>
                        <a:rPr lang="en-US" altLang="zh-TW" sz="2400" b="0" i="0" smtClean="0">
                          <a:latin typeface="Cambria Math" panose="02040503050406030204" pitchFamily="18" charset="0"/>
                          <a:ea typeface="Cambria Math" panose="02040503050406030204" pitchFamily="18" charset="0"/>
                          <a:cs typeface="Times New Roman" panose="02020603050405020304" pitchFamily="18" charset="0"/>
                        </a:rPr>
                        <m:t> </m:t>
                      </m:r>
                      <m:r>
                        <a:rPr lang="en-US" altLang="zh-TW" sz="2400" i="1">
                          <a:latin typeface="Cambria Math" panose="02040503050406030204" pitchFamily="18" charset="0"/>
                          <a:ea typeface="Cambria Math" panose="02040503050406030204" pitchFamily="18" charset="0"/>
                          <a:cs typeface="Times New Roman" panose="02020603050405020304" pitchFamily="18" charset="0"/>
                        </a:rPr>
                        <m:t>0.</m:t>
                      </m:r>
                      <m:r>
                        <a:rPr lang="en-US" altLang="zh-TW" sz="2400" b="0" i="1" smtClean="0">
                          <a:latin typeface="Cambria Math" panose="02040503050406030204" pitchFamily="18" charset="0"/>
                          <a:ea typeface="Cambria Math" panose="02040503050406030204" pitchFamily="18" charset="0"/>
                          <a:cs typeface="Times New Roman" panose="02020603050405020304" pitchFamily="18" charset="0"/>
                        </a:rPr>
                        <m:t>81</m:t>
                      </m:r>
                    </m:oMath>
                  </m:oMathPara>
                </a14:m>
                <a:endParaRPr lang="zh-TW" altLang="en-US" sz="2400" dirty="0">
                  <a:latin typeface="Times New Roman" panose="02020603050405020304" pitchFamily="18" charset="0"/>
                  <a:cs typeface="Times New Roman" panose="02020603050405020304" pitchFamily="18" charset="0"/>
                </a:endParaRPr>
              </a:p>
            </p:txBody>
          </p:sp>
        </mc:Choice>
        <mc:Fallback xmlns="">
          <p:sp>
            <p:nvSpPr>
              <p:cNvPr id="18" name="文字方塊 17">
                <a:extLst>
                  <a:ext uri="{FF2B5EF4-FFF2-40B4-BE49-F238E27FC236}">
                    <a16:creationId xmlns:a16="http://schemas.microsoft.com/office/drawing/2014/main" id="{2074BB20-1132-4364-A50F-83C6324B55C7}"/>
                  </a:ext>
                </a:extLst>
              </p:cNvPr>
              <p:cNvSpPr txBox="1">
                <a:spLocks noRot="1" noChangeAspect="1" noMove="1" noResize="1" noEditPoints="1" noAdjustHandles="1" noChangeArrowheads="1" noChangeShapeType="1" noTextEdit="1"/>
              </p:cNvSpPr>
              <p:nvPr/>
            </p:nvSpPr>
            <p:spPr>
              <a:xfrm>
                <a:off x="4305243" y="2663317"/>
                <a:ext cx="4211666" cy="369332"/>
              </a:xfrm>
              <a:prstGeom prst="rect">
                <a:avLst/>
              </a:prstGeom>
              <a:blipFill>
                <a:blip r:embed="rId3"/>
                <a:stretch>
                  <a:fillRect l="-289" r="-1302" b="-283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0" name="文字方塊 19">
                <a:extLst>
                  <a:ext uri="{FF2B5EF4-FFF2-40B4-BE49-F238E27FC236}">
                    <a16:creationId xmlns:a16="http://schemas.microsoft.com/office/drawing/2014/main" id="{1107BC66-C2BA-41B8-A797-CC1616A75806}"/>
                  </a:ext>
                </a:extLst>
              </p:cNvPr>
              <p:cNvSpPr txBox="1"/>
              <p:nvPr/>
            </p:nvSpPr>
            <p:spPr>
              <a:xfrm>
                <a:off x="4305243" y="3401981"/>
                <a:ext cx="3841436" cy="830997"/>
              </a:xfrm>
              <a:prstGeom prst="rect">
                <a:avLst/>
              </a:prstGeom>
              <a:noFill/>
            </p:spPr>
            <p:txBody>
              <a:bodyPr wrap="none" rtlCol="0">
                <a:spAutoFit/>
              </a:bodyPr>
              <a:lstStyle/>
              <a:p>
                <a14:m>
                  <m:oMath xmlns:m="http://schemas.openxmlformats.org/officeDocument/2006/math">
                    <m:sSub>
                      <m:sSubPr>
                        <m:ctrlPr>
                          <a:rPr lang="zh-TW" altLang="en-US" sz="2400" i="1" smtClean="0">
                            <a:latin typeface="Cambria Math" panose="02040503050406030204" pitchFamily="18" charset="0"/>
                          </a:rPr>
                        </m:ctrlPr>
                      </m:sSubPr>
                      <m:e>
                        <m:r>
                          <a:rPr lang="en-US" altLang="zh-TW" sz="2400" i="1">
                            <a:latin typeface="Cambria Math" panose="02040503050406030204" pitchFamily="18" charset="0"/>
                          </a:rPr>
                          <m:t>𝑒</m:t>
                        </m:r>
                      </m:e>
                      <m:sub>
                        <m:r>
                          <m:rPr>
                            <m:sty m:val="p"/>
                          </m:rPr>
                          <a:rPr lang="en-US" altLang="zh-TW" sz="2400" i="0">
                            <a:latin typeface="Cambria Math" panose="02040503050406030204" pitchFamily="18" charset="0"/>
                          </a:rPr>
                          <m:t>A</m:t>
                        </m:r>
                        <m:r>
                          <m:rPr>
                            <m:sty m:val="p"/>
                          </m:rPr>
                          <a:rPr lang="en-US" altLang="zh-TW" sz="2400" b="0" i="0" smtClean="0">
                            <a:latin typeface="Cambria Math" panose="02040503050406030204" pitchFamily="18" charset="0"/>
                          </a:rPr>
                          <m:t>S</m:t>
                        </m:r>
                      </m:sub>
                    </m:sSub>
                    <m:r>
                      <a:rPr lang="en-US" altLang="zh-TW" sz="2400">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TW" sz="24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TW" sz="24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400" i="1">
                            <a:latin typeface="Cambria Math" panose="02040503050406030204" pitchFamily="18" charset="0"/>
                            <a:ea typeface="Cambria Math" panose="02040503050406030204" pitchFamily="18" charset="0"/>
                            <a:cs typeface="Times New Roman" panose="02020603050405020304" pitchFamily="18" charset="0"/>
                          </a:rPr>
                          <m:t>𝑝</m:t>
                        </m:r>
                      </m:e>
                      <m:sub>
                        <m:r>
                          <m:rPr>
                            <m:sty m:val="p"/>
                          </m:rPr>
                          <a:rPr lang="en-US" altLang="zh-TW" sz="2400" i="0">
                            <a:latin typeface="Cambria Math" panose="02040503050406030204" pitchFamily="18" charset="0"/>
                            <a:ea typeface="Cambria Math" panose="02040503050406030204" pitchFamily="18" charset="0"/>
                            <a:cs typeface="Times New Roman" panose="02020603050405020304" pitchFamily="18" charset="0"/>
                          </a:rPr>
                          <m:t>A</m:t>
                        </m:r>
                      </m:sub>
                    </m:sSub>
                    <m:sSub>
                      <m:sSubPr>
                        <m:ctrlPr>
                          <a:rPr lang="en-US" altLang="zh-TW" sz="24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400" i="1">
                            <a:latin typeface="Cambria Math" panose="02040503050406030204" pitchFamily="18" charset="0"/>
                            <a:ea typeface="Cambria Math" panose="02040503050406030204" pitchFamily="18" charset="0"/>
                            <a:cs typeface="Times New Roman" panose="02020603050405020304" pitchFamily="18" charset="0"/>
                          </a:rPr>
                          <m:t>𝑝</m:t>
                        </m:r>
                      </m:e>
                      <m:sub>
                        <m:r>
                          <m:rPr>
                            <m:sty m:val="p"/>
                          </m:rPr>
                          <a:rPr lang="en-US" altLang="zh-TW" sz="2400" b="0" i="0" smtClean="0">
                            <a:latin typeface="Cambria Math" panose="02040503050406030204" pitchFamily="18" charset="0"/>
                            <a:ea typeface="Cambria Math" panose="02040503050406030204" pitchFamily="18" charset="0"/>
                            <a:cs typeface="Times New Roman" panose="02020603050405020304" pitchFamily="18" charset="0"/>
                          </a:rPr>
                          <m:t>S</m:t>
                        </m:r>
                      </m:sub>
                    </m:sSub>
                    <m:r>
                      <a:rPr lang="en-US" altLang="zh-TW" sz="2400" b="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zh-TW" altLang="en-US" sz="24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TW" sz="24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400" i="1">
                            <a:latin typeface="Cambria Math" panose="02040503050406030204" pitchFamily="18" charset="0"/>
                            <a:ea typeface="Cambria Math" panose="02040503050406030204" pitchFamily="18" charset="0"/>
                            <a:cs typeface="Times New Roman" panose="02020603050405020304" pitchFamily="18" charset="0"/>
                          </a:rPr>
                          <m:t>𝑝</m:t>
                        </m:r>
                      </m:e>
                      <m:sub>
                        <m:r>
                          <m:rPr>
                            <m:sty m:val="p"/>
                          </m:rPr>
                          <a:rPr lang="en-US" altLang="zh-TW" sz="2400" b="0" i="0" smtClean="0">
                            <a:latin typeface="Cambria Math" panose="02040503050406030204" pitchFamily="18" charset="0"/>
                            <a:ea typeface="Cambria Math" panose="02040503050406030204" pitchFamily="18" charset="0"/>
                            <a:cs typeface="Times New Roman" panose="02020603050405020304" pitchFamily="18" charset="0"/>
                          </a:rPr>
                          <m:t>S</m:t>
                        </m:r>
                      </m:sub>
                    </m:sSub>
                    <m:sSub>
                      <m:sSubPr>
                        <m:ctrlPr>
                          <a:rPr lang="en-US" altLang="zh-TW" sz="24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400" i="1">
                            <a:latin typeface="Cambria Math" panose="02040503050406030204" pitchFamily="18" charset="0"/>
                            <a:ea typeface="Cambria Math" panose="02040503050406030204" pitchFamily="18" charset="0"/>
                            <a:cs typeface="Times New Roman" panose="02020603050405020304" pitchFamily="18" charset="0"/>
                          </a:rPr>
                          <m:t>𝑝</m:t>
                        </m:r>
                      </m:e>
                      <m:sub>
                        <m:r>
                          <m:rPr>
                            <m:sty m:val="p"/>
                          </m:rPr>
                          <a:rPr lang="en-US" altLang="zh-TW" sz="2400" i="0">
                            <a:latin typeface="Cambria Math" panose="02040503050406030204" pitchFamily="18" charset="0"/>
                            <a:ea typeface="Cambria Math" panose="02040503050406030204" pitchFamily="18" charset="0"/>
                            <a:cs typeface="Times New Roman" panose="02020603050405020304" pitchFamily="18" charset="0"/>
                          </a:rPr>
                          <m:t>A</m:t>
                        </m:r>
                      </m:sub>
                    </m:sSub>
                  </m:oMath>
                </a14:m>
                <a:r>
                  <a:rPr lang="zh-TW" altLang="en-US" sz="2400" dirty="0">
                    <a:latin typeface="Times New Roman" panose="02020603050405020304" pitchFamily="18" charset="0"/>
                    <a:cs typeface="Times New Roman" panose="02020603050405020304" pitchFamily="18" charset="0"/>
                  </a:rPr>
                  <a:t> </a:t>
                </a:r>
                <a14:m>
                  <m:oMath xmlns:m="http://schemas.openxmlformats.org/officeDocument/2006/math">
                    <m:r>
                      <a:rPr lang="en-US" altLang="zh-TW" sz="2400">
                        <a:latin typeface="Cambria Math" panose="02040503050406030204" pitchFamily="18" charset="0"/>
                        <a:ea typeface="Cambria Math" panose="02040503050406030204" pitchFamily="18" charset="0"/>
                        <a:cs typeface="Times New Roman" panose="02020603050405020304" pitchFamily="18" charset="0"/>
                      </a:rPr>
                      <m:t>=</m:t>
                    </m:r>
                    <m:r>
                      <a:rPr lang="en-US" altLang="zh-TW" sz="2400" b="0" i="0" smtClean="0">
                        <a:latin typeface="Cambria Math" panose="02040503050406030204" pitchFamily="18" charset="0"/>
                        <a:ea typeface="Cambria Math" panose="02040503050406030204" pitchFamily="18" charset="0"/>
                        <a:cs typeface="Times New Roman" panose="02020603050405020304" pitchFamily="18" charset="0"/>
                      </a:rPr>
                      <m:t>2</m:t>
                    </m:r>
                    <m:sSub>
                      <m:sSubPr>
                        <m:ctrlPr>
                          <a:rPr lang="en-US" altLang="zh-TW" sz="24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400" i="1">
                            <a:latin typeface="Cambria Math" panose="02040503050406030204" pitchFamily="18" charset="0"/>
                            <a:ea typeface="Cambria Math" panose="02040503050406030204" pitchFamily="18" charset="0"/>
                            <a:cs typeface="Times New Roman" panose="02020603050405020304" pitchFamily="18" charset="0"/>
                          </a:rPr>
                          <m:t>𝑝</m:t>
                        </m:r>
                      </m:e>
                      <m:sub>
                        <m:r>
                          <m:rPr>
                            <m:sty m:val="p"/>
                          </m:rPr>
                          <a:rPr lang="en-US" altLang="zh-TW" sz="2400" i="0">
                            <a:latin typeface="Cambria Math" panose="02040503050406030204" pitchFamily="18" charset="0"/>
                            <a:ea typeface="Cambria Math" panose="02040503050406030204" pitchFamily="18" charset="0"/>
                            <a:cs typeface="Times New Roman" panose="02020603050405020304" pitchFamily="18" charset="0"/>
                          </a:rPr>
                          <m:t>S</m:t>
                        </m:r>
                      </m:sub>
                    </m:sSub>
                    <m:sSub>
                      <m:sSubPr>
                        <m:ctrlPr>
                          <a:rPr lang="en-US" altLang="zh-TW" sz="24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400" i="1">
                            <a:latin typeface="Cambria Math" panose="02040503050406030204" pitchFamily="18" charset="0"/>
                            <a:ea typeface="Cambria Math" panose="02040503050406030204" pitchFamily="18" charset="0"/>
                            <a:cs typeface="Times New Roman" panose="02020603050405020304" pitchFamily="18" charset="0"/>
                          </a:rPr>
                          <m:t>𝑝</m:t>
                        </m:r>
                      </m:e>
                      <m:sub>
                        <m:r>
                          <m:rPr>
                            <m:sty m:val="p"/>
                          </m:rPr>
                          <a:rPr lang="en-US" altLang="zh-TW" sz="2400" i="0">
                            <a:latin typeface="Cambria Math" panose="02040503050406030204" pitchFamily="18" charset="0"/>
                            <a:ea typeface="Cambria Math" panose="02040503050406030204" pitchFamily="18" charset="0"/>
                            <a:cs typeface="Times New Roman" panose="02020603050405020304" pitchFamily="18" charset="0"/>
                          </a:rPr>
                          <m:t>A</m:t>
                        </m:r>
                      </m:sub>
                    </m:sSub>
                  </m:oMath>
                </a14:m>
                <a:endParaRPr lang="en-US" altLang="zh-TW" sz="2400" i="1" dirty="0">
                  <a:latin typeface="Cambria Math" panose="02040503050406030204" pitchFamily="18" charset="0"/>
                  <a:ea typeface="Cambria Math" panose="02040503050406030204" pitchFamily="18" charset="0"/>
                  <a:cs typeface="Times New Roman" panose="02020603050405020304" pitchFamily="18" charset="0"/>
                </a:endParaRPr>
              </a:p>
              <a:p>
                <a14:m>
                  <m:oMath xmlns:m="http://schemas.openxmlformats.org/officeDocument/2006/math">
                    <m:r>
                      <a:rPr lang="en-US" altLang="zh-TW" sz="2400">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TW" sz="2400" dirty="0">
                    <a:ea typeface="Cambria Math" panose="02040503050406030204" pitchFamily="18" charset="0"/>
                    <a:cs typeface="Times New Roman" panose="02020603050405020304" pitchFamily="18" charset="0"/>
                  </a:rPr>
                  <a:t> </a:t>
                </a:r>
                <a14:m>
                  <m:oMath xmlns:m="http://schemas.openxmlformats.org/officeDocument/2006/math">
                    <m:r>
                      <a:rPr lang="en-US" altLang="zh-TW" sz="2400" b="0" i="0" smtClean="0">
                        <a:latin typeface="Cambria Math" panose="02040503050406030204" pitchFamily="18" charset="0"/>
                        <a:ea typeface="Cambria Math" panose="02040503050406030204" pitchFamily="18" charset="0"/>
                        <a:cs typeface="Times New Roman" panose="02020603050405020304" pitchFamily="18" charset="0"/>
                      </a:rPr>
                      <m:t>2</m:t>
                    </m:r>
                    <m:d>
                      <m:dPr>
                        <m:ctrlPr>
                          <a:rPr lang="en-US" altLang="zh-TW" sz="24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sz="2400">
                            <a:latin typeface="Cambria Math" panose="02040503050406030204" pitchFamily="18" charset="0"/>
                            <a:ea typeface="Cambria Math" panose="02040503050406030204" pitchFamily="18" charset="0"/>
                            <a:cs typeface="Times New Roman" panose="02020603050405020304" pitchFamily="18" charset="0"/>
                          </a:rPr>
                          <m:t>0.9</m:t>
                        </m:r>
                        <m:r>
                          <a:rPr lang="en-US" altLang="zh-TW" sz="2400" i="1">
                            <a:latin typeface="Cambria Math" panose="02040503050406030204" pitchFamily="18" charset="0"/>
                            <a:ea typeface="Cambria Math" panose="02040503050406030204" pitchFamily="18" charset="0"/>
                            <a:cs typeface="Times New Roman" panose="02020603050405020304" pitchFamily="18" charset="0"/>
                          </a:rPr>
                          <m:t>×0.</m:t>
                        </m:r>
                        <m:r>
                          <a:rPr lang="en-US" altLang="zh-TW" sz="2400" b="0" i="1" smtClean="0">
                            <a:latin typeface="Cambria Math" panose="02040503050406030204" pitchFamily="18" charset="0"/>
                            <a:ea typeface="Cambria Math" panose="02040503050406030204" pitchFamily="18" charset="0"/>
                            <a:cs typeface="Times New Roman" panose="02020603050405020304" pitchFamily="18" charset="0"/>
                          </a:rPr>
                          <m:t>1</m:t>
                        </m:r>
                      </m:e>
                    </m:d>
                    <m:r>
                      <a:rPr lang="en-US" altLang="zh-TW" sz="2400" b="0" i="1" smtClean="0">
                        <a:latin typeface="Cambria Math" panose="02040503050406030204" pitchFamily="18" charset="0"/>
                        <a:ea typeface="Cambria Math" panose="02040503050406030204" pitchFamily="18" charset="0"/>
                        <a:cs typeface="Times New Roman" panose="02020603050405020304" pitchFamily="18" charset="0"/>
                      </a:rPr>
                      <m:t>=0.18</m:t>
                    </m:r>
                  </m:oMath>
                </a14:m>
                <a:endParaRPr lang="zh-TW" altLang="en-US" sz="2400" dirty="0">
                  <a:latin typeface="Times New Roman" panose="02020603050405020304" pitchFamily="18" charset="0"/>
                  <a:cs typeface="Times New Roman" panose="02020603050405020304" pitchFamily="18" charset="0"/>
                </a:endParaRPr>
              </a:p>
            </p:txBody>
          </p:sp>
        </mc:Choice>
        <mc:Fallback xmlns="">
          <p:sp>
            <p:nvSpPr>
              <p:cNvPr id="20" name="文字方塊 19">
                <a:extLst>
                  <a:ext uri="{FF2B5EF4-FFF2-40B4-BE49-F238E27FC236}">
                    <a16:creationId xmlns:a16="http://schemas.microsoft.com/office/drawing/2014/main" id="{1107BC66-C2BA-41B8-A797-CC1616A75806}"/>
                  </a:ext>
                </a:extLst>
              </p:cNvPr>
              <p:cNvSpPr txBox="1">
                <a:spLocks noRot="1" noChangeAspect="1" noMove="1" noResize="1" noEditPoints="1" noAdjustHandles="1" noChangeArrowheads="1" noChangeShapeType="1" noTextEdit="1"/>
              </p:cNvSpPr>
              <p:nvPr/>
            </p:nvSpPr>
            <p:spPr>
              <a:xfrm>
                <a:off x="4305243" y="3401981"/>
                <a:ext cx="3841436" cy="830997"/>
              </a:xfrm>
              <a:prstGeom prst="rect">
                <a:avLst/>
              </a:prstGeom>
              <a:blipFill>
                <a:blip r:embed="rId4"/>
                <a:stretch>
                  <a:fillRect/>
                </a:stretch>
              </a:blipFill>
            </p:spPr>
            <p:txBody>
              <a:bodyPr/>
              <a:lstStyle/>
              <a:p>
                <a:r>
                  <a:rPr lang="zh-TW" altLang="en-US">
                    <a:noFill/>
                  </a:rPr>
                  <a:t> </a:t>
                </a:r>
              </a:p>
            </p:txBody>
          </p:sp>
        </mc:Fallback>
      </mc:AlternateContent>
      <p:sp>
        <p:nvSpPr>
          <p:cNvPr id="22" name="投影片編號版面配置區 3">
            <a:extLst>
              <a:ext uri="{FF2B5EF4-FFF2-40B4-BE49-F238E27FC236}">
                <a16:creationId xmlns:a16="http://schemas.microsoft.com/office/drawing/2014/main" id="{9B88A273-9217-4528-84BC-4239239EBB7F}"/>
              </a:ext>
            </a:extLst>
          </p:cNvPr>
          <p:cNvSpPr>
            <a:spLocks noGrp="1"/>
          </p:cNvSpPr>
          <p:nvPr>
            <p:ph type="sldNum" sz="quarter" idx="12"/>
          </p:nvPr>
        </p:nvSpPr>
        <p:spPr>
          <a:xfrm>
            <a:off x="6553200" y="6356350"/>
            <a:ext cx="2133600" cy="365125"/>
          </a:xfrm>
        </p:spPr>
        <p:txBody>
          <a:bodyPr/>
          <a:lstStyle/>
          <a:p>
            <a:fld id="{04C04D6A-2E29-441A-A244-9F1014899F6D}" type="slidenum">
              <a:rPr lang="zh-TW" altLang="en-US" sz="1600" smtClean="0"/>
              <a:pPr/>
              <a:t>12</a:t>
            </a:fld>
            <a:endParaRPr lang="zh-TW" altLang="en-US" dirty="0"/>
          </a:p>
        </p:txBody>
      </p:sp>
      <mc:AlternateContent xmlns:mc="http://schemas.openxmlformats.org/markup-compatibility/2006" xmlns:a14="http://schemas.microsoft.com/office/drawing/2010/main">
        <mc:Choice Requires="a14">
          <p:sp>
            <p:nvSpPr>
              <p:cNvPr id="3" name="矩形 2"/>
              <p:cNvSpPr/>
              <p:nvPr/>
            </p:nvSpPr>
            <p:spPr>
              <a:xfrm>
                <a:off x="2555776" y="5156021"/>
                <a:ext cx="428219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TW" altLang="en-US" sz="2400" i="1" smtClean="0">
                              <a:latin typeface="Cambria Math" panose="02040503050406030204" pitchFamily="18" charset="0"/>
                            </a:rPr>
                          </m:ctrlPr>
                        </m:sSubPr>
                        <m:e>
                          <m:r>
                            <a:rPr lang="en-US" altLang="zh-TW" sz="2400" i="1">
                              <a:latin typeface="Cambria Math" panose="02040503050406030204" pitchFamily="18" charset="0"/>
                            </a:rPr>
                            <m:t>𝑒</m:t>
                          </m:r>
                        </m:e>
                        <m:sub>
                          <m:r>
                            <m:rPr>
                              <m:sty m:val="p"/>
                            </m:rPr>
                            <a:rPr lang="en-US" altLang="zh-TW" sz="2400" b="0" i="0" smtClean="0">
                              <a:latin typeface="Cambria Math" panose="02040503050406030204" pitchFamily="18" charset="0"/>
                            </a:rPr>
                            <m:t>S</m:t>
                          </m:r>
                          <m:r>
                            <m:rPr>
                              <m:sty m:val="p"/>
                            </m:rPr>
                            <a:rPr lang="en-US" altLang="zh-TW" sz="2400" i="0">
                              <a:latin typeface="Cambria Math" panose="02040503050406030204" pitchFamily="18" charset="0"/>
                            </a:rPr>
                            <m:t>S</m:t>
                          </m:r>
                        </m:sub>
                      </m:sSub>
                      <m:r>
                        <a:rPr lang="en-US" altLang="zh-TW" sz="2400">
                          <a:latin typeface="Cambria Math" panose="02040503050406030204" pitchFamily="18" charset="0"/>
                          <a:ea typeface="Cambria Math" panose="02040503050406030204" pitchFamily="18" charset="0"/>
                          <a:cs typeface="Times New Roman" panose="02020603050405020304" pitchFamily="18" charset="0"/>
                        </a:rPr>
                        <m:t>=</m:t>
                      </m:r>
                      <m:r>
                        <m:rPr>
                          <m:nor/>
                        </m:rPr>
                        <a:rPr lang="en-US" altLang="zh-TW" sz="2400" dirty="0">
                          <a:latin typeface="Times New Roman" panose="02020603050405020304" pitchFamily="18" charset="0"/>
                          <a:cs typeface="Times New Roman" panose="02020603050405020304" pitchFamily="18" charset="0"/>
                        </a:rPr>
                        <m:t> </m:t>
                      </m:r>
                      <m:sSub>
                        <m:sSubPr>
                          <m:ctrlPr>
                            <a:rPr lang="en-US" altLang="zh-TW" sz="24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400" i="1">
                              <a:latin typeface="Cambria Math" panose="02040503050406030204" pitchFamily="18" charset="0"/>
                              <a:ea typeface="Cambria Math" panose="02040503050406030204" pitchFamily="18" charset="0"/>
                              <a:cs typeface="Times New Roman" panose="02020603050405020304" pitchFamily="18" charset="0"/>
                            </a:rPr>
                            <m:t>𝑝</m:t>
                          </m:r>
                        </m:e>
                        <m:sub>
                          <m:r>
                            <m:rPr>
                              <m:sty m:val="p"/>
                            </m:rPr>
                            <a:rPr lang="en-US" altLang="zh-TW" sz="2400" b="0" i="0" smtClean="0">
                              <a:latin typeface="Cambria Math" panose="02040503050406030204" pitchFamily="18" charset="0"/>
                              <a:ea typeface="Cambria Math" panose="02040503050406030204" pitchFamily="18" charset="0"/>
                              <a:cs typeface="Times New Roman" panose="02020603050405020304" pitchFamily="18" charset="0"/>
                            </a:rPr>
                            <m:t>S</m:t>
                          </m:r>
                        </m:sub>
                      </m:sSub>
                      <m:sSub>
                        <m:sSubPr>
                          <m:ctrlPr>
                            <a:rPr lang="en-US" altLang="zh-TW" sz="24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400" i="1">
                              <a:latin typeface="Cambria Math" panose="02040503050406030204" pitchFamily="18" charset="0"/>
                              <a:ea typeface="Cambria Math" panose="02040503050406030204" pitchFamily="18" charset="0"/>
                              <a:cs typeface="Times New Roman" panose="02020603050405020304" pitchFamily="18" charset="0"/>
                            </a:rPr>
                            <m:t>𝑝</m:t>
                          </m:r>
                        </m:e>
                        <m:sub>
                          <m:r>
                            <m:rPr>
                              <m:sty m:val="p"/>
                            </m:rPr>
                            <a:rPr lang="en-US" altLang="zh-TW" sz="2400" i="0">
                              <a:latin typeface="Cambria Math" panose="02040503050406030204" pitchFamily="18" charset="0"/>
                              <a:ea typeface="Cambria Math" panose="02040503050406030204" pitchFamily="18" charset="0"/>
                              <a:cs typeface="Times New Roman" panose="02020603050405020304" pitchFamily="18" charset="0"/>
                            </a:rPr>
                            <m:t>S</m:t>
                          </m:r>
                        </m:sub>
                      </m:sSub>
                      <m:r>
                        <a:rPr lang="en-US" altLang="zh-TW" sz="2400" b="0" i="0" smtClean="0">
                          <a:latin typeface="Cambria Math" panose="02040503050406030204" pitchFamily="18" charset="0"/>
                          <a:ea typeface="Cambria Math" panose="02040503050406030204" pitchFamily="18" charset="0"/>
                          <a:cs typeface="Times New Roman" panose="02020603050405020304" pitchFamily="18" charset="0"/>
                        </a:rPr>
                        <m:t>=0.1</m:t>
                      </m:r>
                      <m:r>
                        <a:rPr lang="en-US" altLang="zh-TW" sz="2400" b="0" i="1" smtClean="0">
                          <a:latin typeface="Cambria Math" panose="02040503050406030204" pitchFamily="18" charset="0"/>
                          <a:ea typeface="Cambria Math" panose="02040503050406030204" pitchFamily="18" charset="0"/>
                          <a:cs typeface="Times New Roman" panose="02020603050405020304" pitchFamily="18" charset="0"/>
                        </a:rPr>
                        <m:t>×0.1=0.01</m:t>
                      </m:r>
                    </m:oMath>
                  </m:oMathPara>
                </a14:m>
                <a:endParaRPr lang="zh-TW" altLang="en-US" sz="2400" dirty="0"/>
              </a:p>
            </p:txBody>
          </p:sp>
        </mc:Choice>
        <mc:Fallback xmlns="">
          <p:sp>
            <p:nvSpPr>
              <p:cNvPr id="3" name="矩形 2"/>
              <p:cNvSpPr>
                <a:spLocks noRot="1" noChangeAspect="1" noMove="1" noResize="1" noEditPoints="1" noAdjustHandles="1" noChangeArrowheads="1" noChangeShapeType="1" noTextEdit="1"/>
              </p:cNvSpPr>
              <p:nvPr/>
            </p:nvSpPr>
            <p:spPr>
              <a:xfrm>
                <a:off x="2555776" y="5156021"/>
                <a:ext cx="4282198" cy="461665"/>
              </a:xfrm>
              <a:prstGeom prst="rect">
                <a:avLst/>
              </a:prstGeom>
              <a:blipFill>
                <a:blip r:embed="rId5"/>
                <a:stretch>
                  <a:fillRect b="-9211"/>
                </a:stretch>
              </a:blipFill>
            </p:spPr>
            <p:txBody>
              <a:bodyPr/>
              <a:lstStyle/>
              <a:p>
                <a:r>
                  <a:rPr lang="zh-TW" altLang="en-US">
                    <a:noFill/>
                  </a:rPr>
                  <a:t> </a:t>
                </a:r>
              </a:p>
            </p:txBody>
          </p:sp>
        </mc:Fallback>
      </mc:AlternateContent>
      <p:pic>
        <p:nvPicPr>
          <p:cNvPr id="4" name="圖片 3">
            <a:extLst>
              <a:ext uri="{FF2B5EF4-FFF2-40B4-BE49-F238E27FC236}">
                <a16:creationId xmlns:a16="http://schemas.microsoft.com/office/drawing/2014/main" id="{D44A120A-FAAA-4CC4-97A5-0797BE97305E}"/>
              </a:ext>
            </a:extLst>
          </p:cNvPr>
          <p:cNvPicPr>
            <a:picLocks noChangeAspect="1"/>
          </p:cNvPicPr>
          <p:nvPr/>
        </p:nvPicPr>
        <p:blipFill>
          <a:blip r:embed="rId6"/>
          <a:stretch>
            <a:fillRect/>
          </a:stretch>
        </p:blipFill>
        <p:spPr>
          <a:xfrm>
            <a:off x="354670" y="2847983"/>
            <a:ext cx="3341629" cy="1243964"/>
          </a:xfrm>
          <a:prstGeom prst="rect">
            <a:avLst/>
          </a:prstGeom>
        </p:spPr>
      </p:pic>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12088882-E6BD-4F3E-BCF5-BF8EEC35B821}"/>
                  </a:ext>
                </a:extLst>
              </p:cNvPr>
              <p:cNvSpPr txBox="1"/>
              <p:nvPr/>
            </p:nvSpPr>
            <p:spPr>
              <a:xfrm>
                <a:off x="467544" y="1590291"/>
                <a:ext cx="1808508" cy="276999"/>
              </a:xfrm>
              <a:prstGeom prst="rect">
                <a:avLst/>
              </a:prstGeom>
              <a:noFill/>
            </p:spPr>
            <p:txBody>
              <a:bodyPr wrap="none" lIns="0" tIns="0" rIns="0" bIns="0" rtlCol="0">
                <a:spAutoFit/>
              </a:bodyPr>
              <a:lstStyle/>
              <a:p>
                <a14:m>
                  <m:oMath xmlns:m="http://schemas.openxmlformats.org/officeDocument/2006/math">
                    <m:sSub>
                      <m:sSubPr>
                        <m:ctrlPr>
                          <a:rPr lang="zh-TW" altLang="en-US" i="1" smtClean="0">
                            <a:latin typeface="Cambria Math" panose="02040503050406030204" pitchFamily="18" charset="0"/>
                          </a:rPr>
                        </m:ctrlPr>
                      </m:sSubPr>
                      <m:e>
                        <m:r>
                          <a:rPr lang="en-US" altLang="zh-TW" b="0" i="1" smtClean="0">
                            <a:latin typeface="Cambria Math" panose="02040503050406030204" pitchFamily="18" charset="0"/>
                          </a:rPr>
                          <m:t>𝑞</m:t>
                        </m:r>
                      </m:e>
                      <m:sub>
                        <m:r>
                          <m:rPr>
                            <m:sty m:val="p"/>
                          </m:rPr>
                          <a:rPr lang="en-US" altLang="zh-TW" b="0" i="0" smtClean="0">
                            <a:latin typeface="Cambria Math" panose="02040503050406030204" pitchFamily="18" charset="0"/>
                          </a:rPr>
                          <m:t>AA</m:t>
                        </m:r>
                      </m:sub>
                    </m:sSub>
                    <m:r>
                      <a:rPr lang="en-US" altLang="zh-TW">
                        <a:latin typeface="Cambria Math" panose="02040503050406030204" pitchFamily="18" charset="0"/>
                        <a:ea typeface="Cambria Math" panose="02040503050406030204" pitchFamily="18" charset="0"/>
                        <a:cs typeface="Times New Roman" panose="02020603050405020304" pitchFamily="18" charset="0"/>
                      </a:rPr>
                      <m:t>=</m:t>
                    </m:r>
                    <m:r>
                      <a:rPr lang="en-US" altLang="zh-TW" b="0" i="0" smtClean="0">
                        <a:latin typeface="Cambria Math" panose="02040503050406030204" pitchFamily="18" charset="0"/>
                        <a:ea typeface="Cambria Math" panose="02040503050406030204" pitchFamily="18" charset="0"/>
                        <a:cs typeface="Times New Roman" panose="02020603050405020304" pitchFamily="18" charset="0"/>
                      </a:rPr>
                      <m:t>36</m:t>
                    </m:r>
                  </m:oMath>
                </a14:m>
                <a:r>
                  <a:rPr lang="en-US" altLang="zh-TW" dirty="0">
                    <a:latin typeface="Times New Roman" panose="02020603050405020304" pitchFamily="18" charset="0"/>
                    <a:cs typeface="Times New Roman" panose="02020603050405020304" pitchFamily="18" charset="0"/>
                  </a:rPr>
                  <a:t>/45 </a:t>
                </a:r>
                <a14:m>
                  <m:oMath xmlns:m="http://schemas.openxmlformats.org/officeDocument/2006/math">
                    <m:r>
                      <a:rPr lang="en-US" altLang="zh-TW">
                        <a:latin typeface="Cambria Math" panose="02040503050406030204" pitchFamily="18" charset="0"/>
                        <a:ea typeface="Cambria Math" panose="02040503050406030204" pitchFamily="18" charset="0"/>
                        <a:cs typeface="Times New Roman" panose="02020603050405020304" pitchFamily="18" charset="0"/>
                      </a:rPr>
                      <m:t>=</m:t>
                    </m:r>
                    <m:r>
                      <a:rPr lang="en-US" altLang="zh-TW" b="0" i="0" smtClean="0">
                        <a:latin typeface="Cambria Math" panose="02040503050406030204" pitchFamily="18" charset="0"/>
                        <a:ea typeface="Cambria Math" panose="02040503050406030204" pitchFamily="18" charset="0"/>
                        <a:cs typeface="Times New Roman" panose="02020603050405020304" pitchFamily="18" charset="0"/>
                      </a:rPr>
                      <m:t>0.8</m:t>
                    </m:r>
                  </m:oMath>
                </a14:m>
                <a:endParaRPr lang="zh-TW" altLang="en-US" dirty="0">
                  <a:latin typeface="Times New Roman" panose="02020603050405020304" pitchFamily="18" charset="0"/>
                  <a:cs typeface="Times New Roman" panose="02020603050405020304" pitchFamily="18" charset="0"/>
                </a:endParaRPr>
              </a:p>
            </p:txBody>
          </p:sp>
        </mc:Choice>
        <mc:Fallback xmlns="">
          <p:sp>
            <p:nvSpPr>
              <p:cNvPr id="6" name="文字方塊 5">
                <a:extLst>
                  <a:ext uri="{FF2B5EF4-FFF2-40B4-BE49-F238E27FC236}">
                    <a16:creationId xmlns:a16="http://schemas.microsoft.com/office/drawing/2014/main" id="{12088882-E6BD-4F3E-BCF5-BF8EEC35B821}"/>
                  </a:ext>
                </a:extLst>
              </p:cNvPr>
              <p:cNvSpPr txBox="1">
                <a:spLocks noRot="1" noChangeAspect="1" noMove="1" noResize="1" noEditPoints="1" noAdjustHandles="1" noChangeArrowheads="1" noChangeShapeType="1" noTextEdit="1"/>
              </p:cNvSpPr>
              <p:nvPr/>
            </p:nvSpPr>
            <p:spPr>
              <a:xfrm>
                <a:off x="467544" y="1590291"/>
                <a:ext cx="1808508" cy="276999"/>
              </a:xfrm>
              <a:prstGeom prst="rect">
                <a:avLst/>
              </a:prstGeom>
              <a:blipFill>
                <a:blip r:embed="rId7"/>
                <a:stretch>
                  <a:fillRect l="-4730" t="-28889" r="-4392" b="-5111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AC02C86F-ED86-417F-A962-89E78EC81171}"/>
                  </a:ext>
                </a:extLst>
              </p:cNvPr>
              <p:cNvSpPr txBox="1"/>
              <p:nvPr/>
            </p:nvSpPr>
            <p:spPr>
              <a:xfrm>
                <a:off x="467544" y="1928921"/>
                <a:ext cx="1656223" cy="276999"/>
              </a:xfrm>
              <a:prstGeom prst="rect">
                <a:avLst/>
              </a:prstGeom>
              <a:noFill/>
            </p:spPr>
            <p:txBody>
              <a:bodyPr wrap="none" lIns="0" tIns="0" rIns="0" bIns="0" rtlCol="0">
                <a:spAutoFit/>
              </a:bodyPr>
              <a:lstStyle/>
              <a:p>
                <a14:m>
                  <m:oMath xmlns:m="http://schemas.openxmlformats.org/officeDocument/2006/math">
                    <m:sSub>
                      <m:sSubPr>
                        <m:ctrlPr>
                          <a:rPr lang="zh-TW" altLang="en-US" i="1" smtClean="0">
                            <a:latin typeface="Cambria Math" panose="02040503050406030204" pitchFamily="18" charset="0"/>
                          </a:rPr>
                        </m:ctrlPr>
                      </m:sSubPr>
                      <m:e>
                        <m:r>
                          <a:rPr lang="en-US" altLang="zh-TW" i="1">
                            <a:latin typeface="Cambria Math" panose="02040503050406030204" pitchFamily="18" charset="0"/>
                          </a:rPr>
                          <m:t>𝑞</m:t>
                        </m:r>
                      </m:e>
                      <m:sub>
                        <m:r>
                          <m:rPr>
                            <m:sty m:val="p"/>
                          </m:rPr>
                          <a:rPr lang="en-US" altLang="zh-TW" i="0">
                            <a:latin typeface="Cambria Math" panose="02040503050406030204" pitchFamily="18" charset="0"/>
                          </a:rPr>
                          <m:t>A</m:t>
                        </m:r>
                        <m:r>
                          <m:rPr>
                            <m:sty m:val="p"/>
                          </m:rPr>
                          <a:rPr lang="en-US" altLang="zh-TW" b="0" i="0" smtClean="0">
                            <a:latin typeface="Cambria Math" panose="02040503050406030204" pitchFamily="18" charset="0"/>
                          </a:rPr>
                          <m:t>S</m:t>
                        </m:r>
                      </m:sub>
                    </m:sSub>
                    <m:r>
                      <a:rPr lang="en-US" altLang="zh-TW">
                        <a:latin typeface="Cambria Math" panose="02040503050406030204" pitchFamily="18" charset="0"/>
                        <a:ea typeface="Cambria Math" panose="02040503050406030204" pitchFamily="18" charset="0"/>
                        <a:cs typeface="Times New Roman" panose="02020603050405020304" pitchFamily="18" charset="0"/>
                      </a:rPr>
                      <m:t>=</m:t>
                    </m:r>
                    <m:r>
                      <a:rPr lang="en-US" altLang="zh-TW" b="0" i="0" smtClean="0">
                        <a:latin typeface="Cambria Math" panose="02040503050406030204" pitchFamily="18" charset="0"/>
                        <a:ea typeface="Cambria Math" panose="02040503050406030204" pitchFamily="18" charset="0"/>
                        <a:cs typeface="Times New Roman" panose="02020603050405020304" pitchFamily="18" charset="0"/>
                      </a:rPr>
                      <m:t>9</m:t>
                    </m:r>
                  </m:oMath>
                </a14:m>
                <a:r>
                  <a:rPr lang="en-US" altLang="zh-TW" dirty="0">
                    <a:latin typeface="Times New Roman" panose="02020603050405020304" pitchFamily="18" charset="0"/>
                    <a:cs typeface="Times New Roman" panose="02020603050405020304" pitchFamily="18" charset="0"/>
                  </a:rPr>
                  <a:t>/45 </a:t>
                </a:r>
                <a14:m>
                  <m:oMath xmlns:m="http://schemas.openxmlformats.org/officeDocument/2006/math">
                    <m:r>
                      <a:rPr lang="en-US" altLang="zh-TW">
                        <a:latin typeface="Cambria Math" panose="02040503050406030204" pitchFamily="18" charset="0"/>
                        <a:ea typeface="Cambria Math" panose="02040503050406030204" pitchFamily="18" charset="0"/>
                        <a:cs typeface="Times New Roman" panose="02020603050405020304" pitchFamily="18" charset="0"/>
                      </a:rPr>
                      <m:t>=</m:t>
                    </m:r>
                  </m:oMath>
                </a14:m>
                <a:r>
                  <a:rPr lang="zh-TW" altLang="en-US" dirty="0">
                    <a:latin typeface="Times New Roman" panose="02020603050405020304" pitchFamily="18" charset="0"/>
                    <a:cs typeface="Times New Roman" panose="02020603050405020304" pitchFamily="18" charset="0"/>
                  </a:rPr>
                  <a:t> </a:t>
                </a:r>
                <a14:m>
                  <m:oMath xmlns:m="http://schemas.openxmlformats.org/officeDocument/2006/math">
                    <m:r>
                      <a:rPr lang="en-US" altLang="zh-TW">
                        <a:latin typeface="Cambria Math" panose="02040503050406030204" pitchFamily="18" charset="0"/>
                        <a:ea typeface="Cambria Math" panose="02040503050406030204" pitchFamily="18" charset="0"/>
                        <a:cs typeface="Times New Roman" panose="02020603050405020304" pitchFamily="18" charset="0"/>
                      </a:rPr>
                      <m:t>0.</m:t>
                    </m:r>
                    <m:r>
                      <a:rPr lang="en-US" altLang="zh-TW" b="0" i="0" smtClean="0">
                        <a:latin typeface="Cambria Math" panose="02040503050406030204" pitchFamily="18" charset="0"/>
                        <a:ea typeface="Cambria Math" panose="02040503050406030204" pitchFamily="18" charset="0"/>
                        <a:cs typeface="Times New Roman" panose="02020603050405020304" pitchFamily="18" charset="0"/>
                      </a:rPr>
                      <m:t>2</m:t>
                    </m:r>
                  </m:oMath>
                </a14:m>
                <a:endParaRPr lang="zh-TW" altLang="en-US" dirty="0">
                  <a:latin typeface="Times New Roman" panose="02020603050405020304" pitchFamily="18" charset="0"/>
                  <a:cs typeface="Times New Roman" panose="02020603050405020304" pitchFamily="18" charset="0"/>
                </a:endParaRPr>
              </a:p>
            </p:txBody>
          </p:sp>
        </mc:Choice>
        <mc:Fallback xmlns="">
          <p:sp>
            <p:nvSpPr>
              <p:cNvPr id="7" name="文字方塊 6">
                <a:extLst>
                  <a:ext uri="{FF2B5EF4-FFF2-40B4-BE49-F238E27FC236}">
                    <a16:creationId xmlns:a16="http://schemas.microsoft.com/office/drawing/2014/main" id="{AC02C86F-ED86-417F-A962-89E78EC81171}"/>
                  </a:ext>
                </a:extLst>
              </p:cNvPr>
              <p:cNvSpPr txBox="1">
                <a:spLocks noRot="1" noChangeAspect="1" noMove="1" noResize="1" noEditPoints="1" noAdjustHandles="1" noChangeArrowheads="1" noChangeShapeType="1" noTextEdit="1"/>
              </p:cNvSpPr>
              <p:nvPr/>
            </p:nvSpPr>
            <p:spPr>
              <a:xfrm>
                <a:off x="467544" y="1928921"/>
                <a:ext cx="1656223" cy="276999"/>
              </a:xfrm>
              <a:prstGeom prst="rect">
                <a:avLst/>
              </a:prstGeom>
              <a:blipFill>
                <a:blip r:embed="rId8"/>
                <a:stretch>
                  <a:fillRect l="-5166" t="-28261" r="-4428" b="-5000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05640943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字方塊 10">
            <a:extLst>
              <a:ext uri="{FF2B5EF4-FFF2-40B4-BE49-F238E27FC236}">
                <a16:creationId xmlns:a16="http://schemas.microsoft.com/office/drawing/2014/main" id="{F7024DF5-78FF-4A3F-B7F4-E9879D39926E}"/>
              </a:ext>
            </a:extLst>
          </p:cNvPr>
          <p:cNvSpPr txBox="1"/>
          <p:nvPr/>
        </p:nvSpPr>
        <p:spPr>
          <a:xfrm>
            <a:off x="188616" y="91827"/>
            <a:ext cx="8755811" cy="707886"/>
          </a:xfrm>
          <a:prstGeom prst="rect">
            <a:avLst/>
          </a:prstGeom>
          <a:noFill/>
        </p:spPr>
        <p:txBody>
          <a:bodyPr wrap="square" rtlCol="0">
            <a:spAutoFit/>
          </a:bodyPr>
          <a:lstStyle/>
          <a:p>
            <a:r>
              <a:rPr lang="en-US" altLang="zh-TW" sz="4000" b="1" dirty="0">
                <a:latin typeface="Times New Roman" panose="02020603050405020304" pitchFamily="18" charset="0"/>
                <a:cs typeface="Times New Roman" panose="02020603050405020304" pitchFamily="18" charset="0"/>
              </a:rPr>
              <a:t>Example of BLOSUM Calculation</a:t>
            </a:r>
            <a:endParaRPr lang="zh-TW" altLang="en-US" sz="4000" dirty="0">
              <a:latin typeface="Times New Roman" panose="02020603050405020304" pitchFamily="18" charset="0"/>
              <a:cs typeface="Times New Roman" panose="02020603050405020304" pitchFamily="18" charset="0"/>
            </a:endParaRPr>
          </a:p>
        </p:txBody>
      </p:sp>
      <p:sp>
        <p:nvSpPr>
          <p:cNvPr id="2" name="文字方塊 1">
            <a:extLst>
              <a:ext uri="{FF2B5EF4-FFF2-40B4-BE49-F238E27FC236}">
                <a16:creationId xmlns:a16="http://schemas.microsoft.com/office/drawing/2014/main" id="{A2235B76-8D79-4FF4-8556-2DB02C3CBF07}"/>
              </a:ext>
            </a:extLst>
          </p:cNvPr>
          <p:cNvSpPr txBox="1"/>
          <p:nvPr/>
        </p:nvSpPr>
        <p:spPr>
          <a:xfrm>
            <a:off x="899592" y="981218"/>
            <a:ext cx="4305222" cy="400110"/>
          </a:xfrm>
          <a:prstGeom prst="rect">
            <a:avLst/>
          </a:prstGeom>
          <a:noFill/>
        </p:spPr>
        <p:txBody>
          <a:bodyPr wrap="square" rtlCol="0">
            <a:spAutoFit/>
          </a:bodyPr>
          <a:lstStyle/>
          <a:p>
            <a:r>
              <a:rPr lang="en-US" altLang="zh-TW" sz="2000" dirty="0" smtClean="0">
                <a:latin typeface="Times New Roman" panose="02020603050405020304" pitchFamily="18" charset="0"/>
                <a:cs typeface="Times New Roman" panose="02020603050405020304" pitchFamily="18" charset="0"/>
              </a:rPr>
              <a:t>Step 4</a:t>
            </a:r>
            <a:r>
              <a:rPr lang="en-US" altLang="zh-TW" sz="2000" dirty="0">
                <a:latin typeface="Times New Roman" panose="02020603050405020304" pitchFamily="18" charset="0"/>
                <a:cs typeface="Times New Roman" panose="02020603050405020304" pitchFamily="18" charset="0"/>
              </a:rPr>
              <a:t>: calculate the log-odd ratio.</a:t>
            </a:r>
            <a:endParaRPr lang="zh-TW" altLang="en-US" sz="20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9" name="表格 8">
                <a:extLst>
                  <a:ext uri="{FF2B5EF4-FFF2-40B4-BE49-F238E27FC236}">
                    <a16:creationId xmlns:a16="http://schemas.microsoft.com/office/drawing/2014/main" id="{D7C68C84-9BFB-4C83-BEC0-DB80E3CF6D44}"/>
                  </a:ext>
                </a:extLst>
              </p:cNvPr>
              <p:cNvGraphicFramePr>
                <a:graphicFrameLocks noGrp="1"/>
              </p:cNvGraphicFramePr>
              <p:nvPr>
                <p:extLst>
                  <p:ext uri="{D42A27DB-BD31-4B8C-83A1-F6EECF244321}">
                    <p14:modId xmlns:p14="http://schemas.microsoft.com/office/powerpoint/2010/main" val="1199255931"/>
                  </p:ext>
                </p:extLst>
              </p:nvPr>
            </p:nvGraphicFramePr>
            <p:xfrm>
              <a:off x="539552" y="1776996"/>
              <a:ext cx="8244409" cy="2292857"/>
            </p:xfrm>
            <a:graphic>
              <a:graphicData uri="http://schemas.openxmlformats.org/drawingml/2006/table">
                <a:tbl>
                  <a:tblPr firstRow="1" bandRow="1">
                    <a:tableStyleId>{5940675A-B579-460E-94D1-54222C63F5DA}</a:tableStyleId>
                  </a:tblPr>
                  <a:tblGrid>
                    <a:gridCol w="608963">
                      <a:extLst>
                        <a:ext uri="{9D8B030D-6E8A-4147-A177-3AD203B41FA5}">
                          <a16:colId xmlns:a16="http://schemas.microsoft.com/office/drawing/2014/main" val="20000"/>
                        </a:ext>
                      </a:extLst>
                    </a:gridCol>
                    <a:gridCol w="608963">
                      <a:extLst>
                        <a:ext uri="{9D8B030D-6E8A-4147-A177-3AD203B41FA5}">
                          <a16:colId xmlns:a16="http://schemas.microsoft.com/office/drawing/2014/main" val="1152667966"/>
                        </a:ext>
                      </a:extLst>
                    </a:gridCol>
                    <a:gridCol w="2342161">
                      <a:extLst>
                        <a:ext uri="{9D8B030D-6E8A-4147-A177-3AD203B41FA5}">
                          <a16:colId xmlns:a16="http://schemas.microsoft.com/office/drawing/2014/main" val="20001"/>
                        </a:ext>
                      </a:extLst>
                    </a:gridCol>
                    <a:gridCol w="2342161">
                      <a:extLst>
                        <a:ext uri="{9D8B030D-6E8A-4147-A177-3AD203B41FA5}">
                          <a16:colId xmlns:a16="http://schemas.microsoft.com/office/drawing/2014/main" val="4064124062"/>
                        </a:ext>
                      </a:extLst>
                    </a:gridCol>
                    <a:gridCol w="2342161">
                      <a:extLst>
                        <a:ext uri="{9D8B030D-6E8A-4147-A177-3AD203B41FA5}">
                          <a16:colId xmlns:a16="http://schemas.microsoft.com/office/drawing/2014/main" val="1436065497"/>
                        </a:ext>
                      </a:extLst>
                    </a:gridCol>
                  </a:tblGrid>
                  <a:tr h="921257">
                    <a:tc gridSpan="2">
                      <a:txBody>
                        <a:bodyPr/>
                        <a:lstStyle/>
                        <a:p>
                          <a:pPr algn="ctr"/>
                          <a:r>
                            <a:rPr lang="en-US" altLang="zh-TW" sz="2400" dirty="0">
                              <a:latin typeface="Times New Roman" panose="02020603050405020304" pitchFamily="18" charset="0"/>
                              <a:cs typeface="Times New Roman" panose="02020603050405020304" pitchFamily="18" charset="0"/>
                            </a:rPr>
                            <a:t>Pair</a:t>
                          </a:r>
                          <a:endParaRPr lang="zh-TW" altLang="en-US" sz="2400" dirty="0">
                            <a:latin typeface="Times New Roman" panose="02020603050405020304" pitchFamily="18" charset="0"/>
                            <a:cs typeface="Times New Roman" panose="02020603050405020304" pitchFamily="18" charset="0"/>
                          </a:endParaRPr>
                        </a:p>
                      </a:txBody>
                      <a:tcPr anchor="ctr"/>
                    </a:tc>
                    <a:tc hMerge="1">
                      <a:txBody>
                        <a:bodyPr/>
                        <a:lstStyle/>
                        <a:p>
                          <a:endParaRPr lang="zh-TW" altLang="en-US"/>
                        </a:p>
                      </a:txBody>
                      <a:tcPr/>
                    </a:tc>
                    <a:tc>
                      <a:txBody>
                        <a:bodyPr/>
                        <a:lstStyle/>
                        <a:p>
                          <a:pPr algn="ctr"/>
                          <a:r>
                            <a:rPr lang="en-US" altLang="zh-TW" sz="2400" baseline="0" dirty="0">
                              <a:latin typeface="Times New Roman" panose="02020603050405020304" pitchFamily="18" charset="0"/>
                              <a:cs typeface="Times New Roman" panose="02020603050405020304" pitchFamily="18" charset="0"/>
                            </a:rPr>
                            <a:t>Observed</a:t>
                          </a:r>
                          <a:r>
                            <a:rPr lang="zh-TW" altLang="en-US" sz="2400" baseline="0" dirty="0">
                              <a:latin typeface="Times New Roman" panose="02020603050405020304" pitchFamily="18" charset="0"/>
                              <a:cs typeface="Times New Roman" panose="02020603050405020304" pitchFamily="18" charset="0"/>
                            </a:rPr>
                            <a:t> </a:t>
                          </a:r>
                          <a:r>
                            <a:rPr lang="en-US" altLang="zh-TW" sz="2400" baseline="0" dirty="0">
                              <a:latin typeface="Times New Roman" panose="02020603050405020304" pitchFamily="18" charset="0"/>
                              <a:cs typeface="Times New Roman" panose="02020603050405020304" pitchFamily="18" charset="0"/>
                            </a:rPr>
                            <a:t>(</a:t>
                          </a:r>
                          <a:r>
                            <a:rPr lang="en-US" altLang="zh-TW" sz="2400" i="1" baseline="0" dirty="0">
                              <a:latin typeface="Times New Roman" panose="02020603050405020304" pitchFamily="18" charset="0"/>
                              <a:cs typeface="Times New Roman" panose="02020603050405020304" pitchFamily="18" charset="0"/>
                            </a:rPr>
                            <a:t>O</a:t>
                          </a:r>
                          <a:r>
                            <a:rPr lang="en-US" altLang="zh-TW" sz="2400" baseline="0" dirty="0">
                              <a:latin typeface="Times New Roman" panose="02020603050405020304" pitchFamily="18" charset="0"/>
                              <a:cs typeface="Times New Roman" panose="02020603050405020304" pitchFamily="18" charset="0"/>
                            </a:rPr>
                            <a:t>)</a:t>
                          </a:r>
                          <a:endParaRPr lang="zh-TW" altLang="en-US" sz="2400" baseline="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baseline="0" dirty="0">
                              <a:latin typeface="Times New Roman" panose="02020603050405020304" pitchFamily="18" charset="0"/>
                              <a:cs typeface="Times New Roman" panose="02020603050405020304" pitchFamily="18" charset="0"/>
                            </a:rPr>
                            <a:t>Expected</a:t>
                          </a:r>
                          <a:r>
                            <a:rPr lang="zh-TW" altLang="en-US" sz="2400" baseline="0" dirty="0">
                              <a:latin typeface="Times New Roman" panose="02020603050405020304" pitchFamily="18" charset="0"/>
                              <a:cs typeface="Times New Roman" panose="02020603050405020304" pitchFamily="18" charset="0"/>
                            </a:rPr>
                            <a:t> </a:t>
                          </a:r>
                          <a:r>
                            <a:rPr lang="en-US" altLang="zh-TW" sz="2400" baseline="0" dirty="0">
                              <a:latin typeface="Times New Roman" panose="02020603050405020304" pitchFamily="18" charset="0"/>
                              <a:cs typeface="Times New Roman" panose="02020603050405020304" pitchFamily="18" charset="0"/>
                            </a:rPr>
                            <a:t>(</a:t>
                          </a:r>
                          <a:r>
                            <a:rPr lang="en-US" altLang="zh-TW" sz="2400" i="1" baseline="0" dirty="0">
                              <a:latin typeface="Times New Roman" panose="02020603050405020304" pitchFamily="18" charset="0"/>
                              <a:cs typeface="Times New Roman" panose="02020603050405020304" pitchFamily="18" charset="0"/>
                            </a:rPr>
                            <a:t>E</a:t>
                          </a:r>
                          <a:r>
                            <a:rPr lang="en-US" altLang="zh-TW" sz="2400" baseline="0" dirty="0">
                              <a:latin typeface="Times New Roman" panose="02020603050405020304" pitchFamily="18" charset="0"/>
                              <a:cs typeface="Times New Roman" panose="02020603050405020304" pitchFamily="18" charset="0"/>
                            </a:rPr>
                            <a:t>)</a:t>
                          </a:r>
                          <a:endParaRPr lang="zh-TW" altLang="en-US" sz="2400" baseline="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baseline="0" dirty="0">
                              <a:latin typeface="Times New Roman" panose="02020603050405020304" pitchFamily="18" charset="0"/>
                              <a:cs typeface="Times New Roman" panose="02020603050405020304" pitchFamily="18" charset="0"/>
                            </a:rPr>
                            <a:t>2</a:t>
                          </a:r>
                          <a14:m>
                            <m:oMath xmlns:m="http://schemas.openxmlformats.org/officeDocument/2006/math">
                              <m:sSub>
                                <m:sSubPr>
                                  <m:ctrlPr>
                                    <a:rPr lang="en-US" altLang="zh-TW" sz="2400" i="1" baseline="0" dirty="0" smtClean="0">
                                      <a:latin typeface="Cambria Math" panose="02040503050406030204" pitchFamily="18" charset="0"/>
                                    </a:rPr>
                                  </m:ctrlPr>
                                </m:sSubPr>
                                <m:e>
                                  <m:r>
                                    <m:rPr>
                                      <m:sty m:val="p"/>
                                    </m:rPr>
                                    <a:rPr lang="zh-TW" altLang="en-US" sz="2400" baseline="0" dirty="0" smtClean="0">
                                      <a:latin typeface="Cambria Math" panose="02040503050406030204" pitchFamily="18" charset="0"/>
                                    </a:rPr>
                                    <m:t>log</m:t>
                                  </m:r>
                                </m:e>
                                <m:sub>
                                  <m:r>
                                    <a:rPr lang="zh-TW" altLang="en-US" sz="2400" i="0" baseline="0" dirty="0" smtClean="0">
                                      <a:latin typeface="Cambria Math" panose="02040503050406030204" pitchFamily="18" charset="0"/>
                                    </a:rPr>
                                    <m:t>2</m:t>
                                  </m:r>
                                </m:sub>
                              </m:sSub>
                            </m:oMath>
                          </a14:m>
                          <a:r>
                            <a:rPr lang="en-US" altLang="zh-TW" sz="2400" baseline="0" dirty="0">
                              <a:latin typeface="Times New Roman" panose="02020603050405020304" pitchFamily="18" charset="0"/>
                              <a:cs typeface="Times New Roman" panose="02020603050405020304" pitchFamily="18" charset="0"/>
                            </a:rPr>
                            <a:t>(</a:t>
                          </a:r>
                          <a14:m>
                            <m:oMath xmlns:m="http://schemas.openxmlformats.org/officeDocument/2006/math">
                              <m:f>
                                <m:fPr>
                                  <m:type m:val="lin"/>
                                  <m:ctrlPr>
                                    <a:rPr lang="en-US" altLang="zh-TW" sz="2400" i="1" baseline="0" dirty="0" smtClean="0">
                                      <a:latin typeface="Cambria Math" panose="02040503050406030204" pitchFamily="18" charset="0"/>
                                      <a:cs typeface="Times New Roman" panose="02020603050405020304" pitchFamily="18" charset="0"/>
                                    </a:rPr>
                                  </m:ctrlPr>
                                </m:fPr>
                                <m:num>
                                  <m:r>
                                    <a:rPr lang="en-US" altLang="zh-TW" sz="2400" b="0" i="1" baseline="0" dirty="0" smtClean="0">
                                      <a:latin typeface="Cambria Math" panose="02040503050406030204" pitchFamily="18" charset="0"/>
                                      <a:cs typeface="Times New Roman" panose="02020603050405020304" pitchFamily="18" charset="0"/>
                                    </a:rPr>
                                    <m:t>𝑂</m:t>
                                  </m:r>
                                </m:num>
                                <m:den>
                                  <m:r>
                                    <a:rPr lang="en-US" altLang="zh-TW" sz="2400" b="0" i="1" baseline="0" dirty="0" smtClean="0">
                                      <a:latin typeface="Cambria Math" panose="02040503050406030204" pitchFamily="18" charset="0"/>
                                      <a:cs typeface="Times New Roman" panose="02020603050405020304" pitchFamily="18" charset="0"/>
                                    </a:rPr>
                                    <m:t>𝐸</m:t>
                                  </m:r>
                                </m:den>
                              </m:f>
                            </m:oMath>
                          </a14:m>
                          <a:r>
                            <a:rPr lang="en-US" altLang="zh-TW" sz="2400" baseline="0" dirty="0">
                              <a:latin typeface="Times New Roman" panose="02020603050405020304" pitchFamily="18" charset="0"/>
                              <a:cs typeface="Times New Roman" panose="02020603050405020304" pitchFamily="18" charset="0"/>
                            </a:rPr>
                            <a:t>)</a:t>
                          </a:r>
                          <a:endParaRPr lang="zh-TW" altLang="en-US" sz="2400" baseline="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0"/>
                      </a:ext>
                    </a:extLst>
                  </a:tr>
                  <a:tr h="354330">
                    <a:tc gridSpan="2">
                      <a:txBody>
                        <a:bodyPr/>
                        <a:lstStyle/>
                        <a:p>
                          <a:pPr algn="ctr"/>
                          <a:r>
                            <a:rPr lang="en-US" altLang="zh-TW" sz="2400" dirty="0">
                              <a:latin typeface="Times New Roman" panose="02020603050405020304" pitchFamily="18" charset="0"/>
                              <a:cs typeface="Times New Roman" panose="02020603050405020304" pitchFamily="18" charset="0"/>
                            </a:rPr>
                            <a:t>AA</a:t>
                          </a:r>
                          <a:endParaRPr lang="zh-TW" altLang="en-US" sz="2400" dirty="0">
                            <a:latin typeface="Times New Roman" panose="02020603050405020304" pitchFamily="18" charset="0"/>
                            <a:cs typeface="Times New Roman" panose="02020603050405020304" pitchFamily="18" charset="0"/>
                          </a:endParaRPr>
                        </a:p>
                      </a:txBody>
                      <a:tcPr anchor="ctr"/>
                    </a:tc>
                    <a:tc hMerge="1">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2400" b="0" i="0" smtClean="0">
                                    <a:latin typeface="Cambria Math" panose="02040503050406030204" pitchFamily="18" charset="0"/>
                                    <a:ea typeface="Cambria Math" panose="02040503050406030204" pitchFamily="18" charset="0"/>
                                    <a:cs typeface="Times New Roman" panose="02020603050405020304" pitchFamily="18" charset="0"/>
                                  </a:rPr>
                                  <m:t>0.8</m:t>
                                </m:r>
                              </m:oMath>
                            </m:oMathPara>
                          </a14:m>
                          <a:endParaRPr lang="zh-TW" altLang="en-US" sz="2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altLang="zh-TW" sz="2400" i="1" baseline="0" dirty="0" smtClean="0">
                                    <a:latin typeface="Cambria Math" panose="02040503050406030204" pitchFamily="18" charset="0"/>
                                    <a:cs typeface="Times New Roman" panose="02020603050405020304" pitchFamily="18" charset="0"/>
                                  </a:rPr>
                                  <m:t>0</m:t>
                                </m:r>
                                <m:r>
                                  <a:rPr lang="en-US" altLang="zh-TW" sz="2400" b="0" i="1" baseline="0" dirty="0" smtClean="0">
                                    <a:latin typeface="Cambria Math" panose="02040503050406030204" pitchFamily="18" charset="0"/>
                                    <a:cs typeface="Times New Roman" panose="02020603050405020304" pitchFamily="18" charset="0"/>
                                  </a:rPr>
                                  <m:t>.81</m:t>
                                </m:r>
                              </m:oMath>
                            </m:oMathPara>
                          </a14:m>
                          <a:endParaRPr lang="zh-TW" altLang="en-US" sz="2400" baseline="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2400" baseline="0" dirty="0">
                              <a:latin typeface="Times New Roman" panose="02020603050405020304" pitchFamily="18" charset="0"/>
                              <a:cs typeface="Times New Roman" panose="02020603050405020304" pitchFamily="18" charset="0"/>
                            </a:rPr>
                            <a:t>0</a:t>
                          </a:r>
                          <a:endParaRPr lang="zh-TW" altLang="en-US" sz="2400" baseline="0" dirty="0">
                            <a:latin typeface="Times New Roman" panose="02020603050405020304" pitchFamily="18" charset="0"/>
                            <a:cs typeface="Times New Roman" panose="02020603050405020304" pitchFamily="18" charset="0"/>
                          </a:endParaRP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54330">
                    <a:tc>
                      <a:txBody>
                        <a:bodyPr/>
                        <a:lstStyle/>
                        <a:p>
                          <a:pPr algn="ctr"/>
                          <a:r>
                            <a:rPr lang="en-US" altLang="zh-TW" sz="2400" dirty="0">
                              <a:latin typeface="Times New Roman" panose="02020603050405020304" pitchFamily="18" charset="0"/>
                              <a:cs typeface="Times New Roman" panose="02020603050405020304" pitchFamily="18" charset="0"/>
                            </a:rPr>
                            <a:t>AS</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SA</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TW" sz="2400" i="1" baseline="0" dirty="0" smtClean="0">
                                    <a:latin typeface="Cambria Math" panose="02040503050406030204" pitchFamily="18" charset="0"/>
                                    <a:cs typeface="Times New Roman" panose="02020603050405020304" pitchFamily="18" charset="0"/>
                                  </a:rPr>
                                  <m:t>0</m:t>
                                </m:r>
                                <m:r>
                                  <a:rPr lang="en-US" altLang="zh-TW" sz="2400" b="0" i="1" baseline="0" dirty="0" smtClean="0">
                                    <a:latin typeface="Cambria Math" panose="02040503050406030204" pitchFamily="18" charset="0"/>
                                    <a:cs typeface="Times New Roman" panose="02020603050405020304" pitchFamily="18" charset="0"/>
                                  </a:rPr>
                                  <m:t>.2</m:t>
                                </m:r>
                              </m:oMath>
                            </m:oMathPara>
                          </a14:m>
                          <a:endParaRPr lang="zh-TW" altLang="en-US" sz="2400" baseline="0" dirty="0">
                            <a:latin typeface="Times New Roman" panose="02020603050405020304" pitchFamily="18" charset="0"/>
                            <a:cs typeface="Times New Roman" panose="020206030504050203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altLang="zh-TW" sz="2400" i="1" baseline="0" dirty="0" smtClean="0">
                                    <a:latin typeface="Cambria Math" panose="02040503050406030204" pitchFamily="18" charset="0"/>
                                    <a:cs typeface="Times New Roman" panose="02020603050405020304" pitchFamily="18" charset="0"/>
                                  </a:rPr>
                                  <m:t>0</m:t>
                                </m:r>
                                <m:r>
                                  <a:rPr lang="en-US" altLang="zh-TW" sz="2400" b="0" i="1" baseline="0" dirty="0" smtClean="0">
                                    <a:latin typeface="Cambria Math" panose="02040503050406030204" pitchFamily="18" charset="0"/>
                                    <a:cs typeface="Times New Roman" panose="02020603050405020304" pitchFamily="18" charset="0"/>
                                  </a:rPr>
                                  <m:t>.18</m:t>
                                </m:r>
                              </m:oMath>
                            </m:oMathPara>
                          </a14:m>
                          <a:endParaRPr lang="zh-TW" altLang="en-US" sz="2400" baseline="0" dirty="0">
                            <a:latin typeface="Times New Roman" panose="02020603050405020304" pitchFamily="18" charset="0"/>
                            <a:cs typeface="Times New Roman" panose="020206030504050203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baseline="0" dirty="0">
                              <a:latin typeface="Times New Roman" panose="02020603050405020304" pitchFamily="18" charset="0"/>
                              <a:cs typeface="Times New Roman" panose="02020603050405020304" pitchFamily="18" charset="0"/>
                            </a:rPr>
                            <a:t>1</a:t>
                          </a:r>
                          <a:endParaRPr lang="zh-TW" altLang="en-US" sz="2400" baseline="0" dirty="0">
                            <a:latin typeface="Times New Roman" panose="02020603050405020304" pitchFamily="18" charset="0"/>
                            <a:cs typeface="Times New Roman" panose="02020603050405020304" pitchFamily="18" charset="0"/>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54330">
                    <a:tc gridSpan="2">
                      <a:txBody>
                        <a:bodyPr/>
                        <a:lstStyle/>
                        <a:p>
                          <a:pPr algn="ctr"/>
                          <a:r>
                            <a:rPr lang="en-US" altLang="zh-TW" sz="2400" dirty="0">
                              <a:latin typeface="Times New Roman" panose="02020603050405020304" pitchFamily="18" charset="0"/>
                              <a:cs typeface="Times New Roman" panose="02020603050405020304" pitchFamily="18" charset="0"/>
                            </a:rPr>
                            <a:t>SS</a:t>
                          </a:r>
                          <a:endParaRPr lang="zh-TW" altLang="en-US" sz="2400" dirty="0">
                            <a:latin typeface="Times New Roman" panose="02020603050405020304" pitchFamily="18" charset="0"/>
                            <a:cs typeface="Times New Roman" panose="02020603050405020304" pitchFamily="18" charset="0"/>
                          </a:endParaRPr>
                        </a:p>
                      </a:txBody>
                      <a:tcPr anchor="ctr"/>
                    </a:tc>
                    <a:tc hMerge="1">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2400" b="0" i="0" smtClean="0">
                                    <a:latin typeface="Cambria Math" panose="02040503050406030204" pitchFamily="18" charset="0"/>
                                    <a:ea typeface="Cambria Math" panose="02040503050406030204" pitchFamily="18" charset="0"/>
                                    <a:cs typeface="Times New Roman" panose="02020603050405020304" pitchFamily="18" charset="0"/>
                                  </a:rPr>
                                  <m:t>0</m:t>
                                </m:r>
                              </m:oMath>
                            </m:oMathPara>
                          </a14:m>
                          <a:endParaRPr lang="zh-TW" altLang="en-US" sz="2400" dirty="0">
                            <a:latin typeface="Times New Roman" panose="02020603050405020304" pitchFamily="18" charset="0"/>
                            <a:cs typeface="Times New Roman" panose="020206030504050203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altLang="zh-TW" sz="2400" i="1" baseline="0" dirty="0" smtClean="0">
                                    <a:latin typeface="Cambria Math" panose="02040503050406030204" pitchFamily="18" charset="0"/>
                                    <a:cs typeface="Times New Roman" panose="02020603050405020304" pitchFamily="18" charset="0"/>
                                  </a:rPr>
                                  <m:t>0</m:t>
                                </m:r>
                                <m:r>
                                  <a:rPr lang="en-US" altLang="zh-TW" sz="2400" b="0" i="1" baseline="0" dirty="0" smtClean="0">
                                    <a:latin typeface="Cambria Math" panose="02040503050406030204" pitchFamily="18" charset="0"/>
                                    <a:cs typeface="Times New Roman" panose="02020603050405020304" pitchFamily="18" charset="0"/>
                                  </a:rPr>
                                  <m:t>.01</m:t>
                                </m:r>
                              </m:oMath>
                            </m:oMathPara>
                          </a14:m>
                          <a:endParaRPr lang="zh-TW" altLang="en-US" sz="2400" baseline="0" dirty="0">
                            <a:latin typeface="Times New Roman" panose="02020603050405020304" pitchFamily="18" charset="0"/>
                            <a:cs typeface="Times New Roman" panose="020206030504050203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baseline="0" dirty="0">
                              <a:latin typeface="Times New Roman" panose="02020603050405020304" pitchFamily="18" charset="0"/>
                              <a:cs typeface="Times New Roman" panose="02020603050405020304" pitchFamily="18" charset="0"/>
                            </a:rPr>
                            <a:t>0</a:t>
                          </a:r>
                          <a:endParaRPr lang="zh-TW" altLang="en-US" sz="2400" baseline="0" dirty="0">
                            <a:latin typeface="Times New Roman" panose="02020603050405020304" pitchFamily="18" charset="0"/>
                            <a:cs typeface="Times New Roman" panose="02020603050405020304" pitchFamily="18" charset="0"/>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46949563"/>
                      </a:ext>
                    </a:extLst>
                  </a:tr>
                </a:tbl>
              </a:graphicData>
            </a:graphic>
          </p:graphicFrame>
        </mc:Choice>
        <mc:Fallback xmlns="">
          <p:graphicFrame>
            <p:nvGraphicFramePr>
              <p:cNvPr id="9" name="表格 8">
                <a:extLst>
                  <a:ext uri="{FF2B5EF4-FFF2-40B4-BE49-F238E27FC236}">
                    <a16:creationId xmlns:a16="http://schemas.microsoft.com/office/drawing/2014/main" id="{D7C68C84-9BFB-4C83-BEC0-DB80E3CF6D44}"/>
                  </a:ext>
                </a:extLst>
              </p:cNvPr>
              <p:cNvGraphicFramePr>
                <a:graphicFrameLocks noGrp="1"/>
              </p:cNvGraphicFramePr>
              <p:nvPr>
                <p:extLst>
                  <p:ext uri="{D42A27DB-BD31-4B8C-83A1-F6EECF244321}">
                    <p14:modId xmlns:p14="http://schemas.microsoft.com/office/powerpoint/2010/main" val="1199255931"/>
                  </p:ext>
                </p:extLst>
              </p:nvPr>
            </p:nvGraphicFramePr>
            <p:xfrm>
              <a:off x="539552" y="1776996"/>
              <a:ext cx="8244409" cy="2292857"/>
            </p:xfrm>
            <a:graphic>
              <a:graphicData uri="http://schemas.openxmlformats.org/drawingml/2006/table">
                <a:tbl>
                  <a:tblPr firstRow="1" bandRow="1">
                    <a:tableStyleId>{5940675A-B579-460E-94D1-54222C63F5DA}</a:tableStyleId>
                  </a:tblPr>
                  <a:tblGrid>
                    <a:gridCol w="608963">
                      <a:extLst>
                        <a:ext uri="{9D8B030D-6E8A-4147-A177-3AD203B41FA5}">
                          <a16:colId xmlns:a16="http://schemas.microsoft.com/office/drawing/2014/main" val="20000"/>
                        </a:ext>
                      </a:extLst>
                    </a:gridCol>
                    <a:gridCol w="608963">
                      <a:extLst>
                        <a:ext uri="{9D8B030D-6E8A-4147-A177-3AD203B41FA5}">
                          <a16:colId xmlns:a16="http://schemas.microsoft.com/office/drawing/2014/main" val="1152667966"/>
                        </a:ext>
                      </a:extLst>
                    </a:gridCol>
                    <a:gridCol w="2342161">
                      <a:extLst>
                        <a:ext uri="{9D8B030D-6E8A-4147-A177-3AD203B41FA5}">
                          <a16:colId xmlns:a16="http://schemas.microsoft.com/office/drawing/2014/main" val="20001"/>
                        </a:ext>
                      </a:extLst>
                    </a:gridCol>
                    <a:gridCol w="2342161">
                      <a:extLst>
                        <a:ext uri="{9D8B030D-6E8A-4147-A177-3AD203B41FA5}">
                          <a16:colId xmlns:a16="http://schemas.microsoft.com/office/drawing/2014/main" val="4064124062"/>
                        </a:ext>
                      </a:extLst>
                    </a:gridCol>
                    <a:gridCol w="2342161">
                      <a:extLst>
                        <a:ext uri="{9D8B030D-6E8A-4147-A177-3AD203B41FA5}">
                          <a16:colId xmlns:a16="http://schemas.microsoft.com/office/drawing/2014/main" val="1436065497"/>
                        </a:ext>
                      </a:extLst>
                    </a:gridCol>
                  </a:tblGrid>
                  <a:tr h="921257">
                    <a:tc gridSpan="2">
                      <a:txBody>
                        <a:bodyPr/>
                        <a:lstStyle/>
                        <a:p>
                          <a:pPr algn="ctr"/>
                          <a:r>
                            <a:rPr lang="en-US" altLang="zh-TW" sz="2400" dirty="0">
                              <a:latin typeface="Times New Roman" panose="02020603050405020304" pitchFamily="18" charset="0"/>
                              <a:cs typeface="Times New Roman" panose="02020603050405020304" pitchFamily="18" charset="0"/>
                            </a:rPr>
                            <a:t>Pair</a:t>
                          </a:r>
                          <a:endParaRPr lang="zh-TW" altLang="en-US" sz="2400" dirty="0">
                            <a:latin typeface="Times New Roman" panose="02020603050405020304" pitchFamily="18" charset="0"/>
                            <a:cs typeface="Times New Roman" panose="02020603050405020304" pitchFamily="18" charset="0"/>
                          </a:endParaRPr>
                        </a:p>
                      </a:txBody>
                      <a:tcPr anchor="ctr"/>
                    </a:tc>
                    <a:tc hMerge="1">
                      <a:txBody>
                        <a:bodyPr/>
                        <a:lstStyle/>
                        <a:p>
                          <a:endParaRPr lang="zh-TW" altLang="en-US"/>
                        </a:p>
                      </a:txBody>
                      <a:tcPr/>
                    </a:tc>
                    <a:tc>
                      <a:txBody>
                        <a:bodyPr/>
                        <a:lstStyle/>
                        <a:p>
                          <a:pPr algn="ctr"/>
                          <a:r>
                            <a:rPr lang="en-US" altLang="zh-TW" sz="2400" baseline="0" dirty="0">
                              <a:latin typeface="Times New Roman" panose="02020603050405020304" pitchFamily="18" charset="0"/>
                              <a:cs typeface="Times New Roman" panose="02020603050405020304" pitchFamily="18" charset="0"/>
                            </a:rPr>
                            <a:t>Observed</a:t>
                          </a:r>
                          <a:r>
                            <a:rPr lang="zh-TW" altLang="en-US" sz="2400" baseline="0" dirty="0">
                              <a:latin typeface="Times New Roman" panose="02020603050405020304" pitchFamily="18" charset="0"/>
                              <a:cs typeface="Times New Roman" panose="02020603050405020304" pitchFamily="18" charset="0"/>
                            </a:rPr>
                            <a:t> </a:t>
                          </a:r>
                          <a:r>
                            <a:rPr lang="en-US" altLang="zh-TW" sz="2400" baseline="0" dirty="0">
                              <a:latin typeface="Times New Roman" panose="02020603050405020304" pitchFamily="18" charset="0"/>
                              <a:cs typeface="Times New Roman" panose="02020603050405020304" pitchFamily="18" charset="0"/>
                            </a:rPr>
                            <a:t>(</a:t>
                          </a:r>
                          <a:r>
                            <a:rPr lang="en-US" altLang="zh-TW" sz="2400" i="1" baseline="0" dirty="0">
                              <a:latin typeface="Times New Roman" panose="02020603050405020304" pitchFamily="18" charset="0"/>
                              <a:cs typeface="Times New Roman" panose="02020603050405020304" pitchFamily="18" charset="0"/>
                            </a:rPr>
                            <a:t>O</a:t>
                          </a:r>
                          <a:r>
                            <a:rPr lang="en-US" altLang="zh-TW" sz="2400" baseline="0" dirty="0">
                              <a:latin typeface="Times New Roman" panose="02020603050405020304" pitchFamily="18" charset="0"/>
                              <a:cs typeface="Times New Roman" panose="02020603050405020304" pitchFamily="18" charset="0"/>
                            </a:rPr>
                            <a:t>)</a:t>
                          </a:r>
                          <a:endParaRPr lang="zh-TW" altLang="en-US" sz="2400" baseline="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baseline="0" dirty="0">
                              <a:latin typeface="Times New Roman" panose="02020603050405020304" pitchFamily="18" charset="0"/>
                              <a:cs typeface="Times New Roman" panose="02020603050405020304" pitchFamily="18" charset="0"/>
                            </a:rPr>
                            <a:t>Expected</a:t>
                          </a:r>
                          <a:r>
                            <a:rPr lang="zh-TW" altLang="en-US" sz="2400" baseline="0" dirty="0">
                              <a:latin typeface="Times New Roman" panose="02020603050405020304" pitchFamily="18" charset="0"/>
                              <a:cs typeface="Times New Roman" panose="02020603050405020304" pitchFamily="18" charset="0"/>
                            </a:rPr>
                            <a:t> </a:t>
                          </a:r>
                          <a:r>
                            <a:rPr lang="en-US" altLang="zh-TW" sz="2400" baseline="0" dirty="0">
                              <a:latin typeface="Times New Roman" panose="02020603050405020304" pitchFamily="18" charset="0"/>
                              <a:cs typeface="Times New Roman" panose="02020603050405020304" pitchFamily="18" charset="0"/>
                            </a:rPr>
                            <a:t>(</a:t>
                          </a:r>
                          <a:r>
                            <a:rPr lang="en-US" altLang="zh-TW" sz="2400" i="1" baseline="0" dirty="0">
                              <a:latin typeface="Times New Roman" panose="02020603050405020304" pitchFamily="18" charset="0"/>
                              <a:cs typeface="Times New Roman" panose="02020603050405020304" pitchFamily="18" charset="0"/>
                            </a:rPr>
                            <a:t>E</a:t>
                          </a:r>
                          <a:r>
                            <a:rPr lang="en-US" altLang="zh-TW" sz="2400" baseline="0" dirty="0">
                              <a:latin typeface="Times New Roman" panose="02020603050405020304" pitchFamily="18" charset="0"/>
                              <a:cs typeface="Times New Roman" panose="02020603050405020304" pitchFamily="18" charset="0"/>
                            </a:rPr>
                            <a:t>)</a:t>
                          </a:r>
                          <a:endParaRPr lang="zh-TW" altLang="en-US" sz="2400" baseline="0" dirty="0">
                            <a:latin typeface="Times New Roman" panose="02020603050405020304" pitchFamily="18" charset="0"/>
                            <a:cs typeface="Times New Roman" panose="02020603050405020304" pitchFamily="18" charset="0"/>
                          </a:endParaRPr>
                        </a:p>
                      </a:txBody>
                      <a:tcPr anchor="ctr"/>
                    </a:tc>
                    <a:tc>
                      <a:txBody>
                        <a:bodyPr/>
                        <a:lstStyle/>
                        <a:p>
                          <a:endParaRPr lang="zh-TW"/>
                        </a:p>
                      </a:txBody>
                      <a:tcPr anchor="ctr">
                        <a:blipFill>
                          <a:blip r:embed="rId3"/>
                          <a:stretch>
                            <a:fillRect l="-252604" t="-36424" r="-781" b="-164901"/>
                          </a:stretch>
                        </a:blipFill>
                      </a:tcPr>
                    </a:tc>
                    <a:extLst>
                      <a:ext uri="{0D108BD9-81ED-4DB2-BD59-A6C34878D82A}">
                        <a16:rowId xmlns:a16="http://schemas.microsoft.com/office/drawing/2014/main" val="10000"/>
                      </a:ext>
                    </a:extLst>
                  </a:tr>
                  <a:tr h="457200">
                    <a:tc gridSpan="2">
                      <a:txBody>
                        <a:bodyPr/>
                        <a:lstStyle/>
                        <a:p>
                          <a:pPr algn="ctr"/>
                          <a:r>
                            <a:rPr lang="en-US" altLang="zh-TW" sz="2400" dirty="0">
                              <a:latin typeface="Times New Roman" panose="02020603050405020304" pitchFamily="18" charset="0"/>
                              <a:cs typeface="Times New Roman" panose="02020603050405020304" pitchFamily="18" charset="0"/>
                            </a:rPr>
                            <a:t>AA</a:t>
                          </a:r>
                          <a:endParaRPr lang="zh-TW" altLang="en-US" sz="2400" dirty="0">
                            <a:latin typeface="Times New Roman" panose="02020603050405020304" pitchFamily="18" charset="0"/>
                            <a:cs typeface="Times New Roman" panose="02020603050405020304" pitchFamily="18" charset="0"/>
                          </a:endParaRPr>
                        </a:p>
                      </a:txBody>
                      <a:tcPr anchor="ctr"/>
                    </a:tc>
                    <a:tc hMerge="1">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endParaRPr lang="zh-TW"/>
                        </a:p>
                      </a:txBody>
                      <a:tcPr anchor="ctr">
                        <a:lnB w="12700" cap="flat" cmpd="sng" algn="ctr">
                          <a:solidFill>
                            <a:schemeClr val="tx1"/>
                          </a:solidFill>
                          <a:prstDash val="solid"/>
                          <a:round/>
                          <a:headEnd type="none" w="med" len="med"/>
                          <a:tailEnd type="none" w="med" len="med"/>
                        </a:lnB>
                        <a:blipFill>
                          <a:blip r:embed="rId3"/>
                          <a:stretch>
                            <a:fillRect l="-52344" t="-271053" r="-201042" b="-227632"/>
                          </a:stretch>
                        </a:blipFill>
                      </a:tcPr>
                    </a:tc>
                    <a:tc>
                      <a:txBody>
                        <a:bodyPr/>
                        <a:lstStyle/>
                        <a:p>
                          <a:endParaRPr lang="zh-TW"/>
                        </a:p>
                      </a:txBody>
                      <a:tcPr anchor="ctr">
                        <a:lnB w="12700" cap="flat" cmpd="sng" algn="ctr">
                          <a:solidFill>
                            <a:schemeClr val="tx1"/>
                          </a:solidFill>
                          <a:prstDash val="solid"/>
                          <a:round/>
                          <a:headEnd type="none" w="med" len="med"/>
                          <a:tailEnd type="none" w="med" len="med"/>
                        </a:lnB>
                        <a:blipFill>
                          <a:blip r:embed="rId3"/>
                          <a:stretch>
                            <a:fillRect l="-151948" t="-271053" r="-100519" b="-227632"/>
                          </a:stretch>
                        </a:blipFill>
                      </a:tcPr>
                    </a:tc>
                    <a:tc>
                      <a:txBody>
                        <a:bodyPr/>
                        <a:lstStyle/>
                        <a:p>
                          <a:pPr algn="ctr"/>
                          <a:r>
                            <a:rPr lang="en-US" altLang="zh-TW" sz="2400" baseline="0" dirty="0" smtClean="0">
                              <a:latin typeface="Times New Roman" panose="02020603050405020304" pitchFamily="18" charset="0"/>
                              <a:cs typeface="Times New Roman" panose="02020603050405020304" pitchFamily="18" charset="0"/>
                            </a:rPr>
                            <a:t>0</a:t>
                          </a:r>
                          <a:endParaRPr lang="zh-TW" altLang="en-US" sz="2400" baseline="0" dirty="0">
                            <a:latin typeface="Times New Roman" panose="02020603050405020304" pitchFamily="18" charset="0"/>
                            <a:cs typeface="Times New Roman" panose="02020603050405020304" pitchFamily="18" charset="0"/>
                          </a:endParaRP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algn="ctr"/>
                          <a:r>
                            <a:rPr lang="en-US" altLang="zh-TW" sz="2400" dirty="0" smtClean="0">
                              <a:latin typeface="Times New Roman" panose="02020603050405020304" pitchFamily="18" charset="0"/>
                              <a:cs typeface="Times New Roman" panose="02020603050405020304" pitchFamily="18" charset="0"/>
                            </a:rPr>
                            <a:t>AS</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smtClean="0">
                              <a:latin typeface="Times New Roman" panose="02020603050405020304" pitchFamily="18" charset="0"/>
                              <a:cs typeface="Times New Roman" panose="02020603050405020304" pitchFamily="18" charset="0"/>
                            </a:rPr>
                            <a:t>SA</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endParaRPr lang="zh-TW"/>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2344" t="-376000" r="-201042" b="-130667"/>
                          </a:stretch>
                        </a:blipFill>
                      </a:tcPr>
                    </a:tc>
                    <a:tc>
                      <a:txBody>
                        <a:bodyPr/>
                        <a:lstStyle/>
                        <a:p>
                          <a:endParaRPr lang="zh-TW"/>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51948" t="-376000" r="-100519" b="-130667"/>
                          </a:stretch>
                        </a:blipFill>
                      </a:tcPr>
                    </a:tc>
                    <a:tc>
                      <a:txBody>
                        <a:bodyPr/>
                        <a:lstStyle/>
                        <a:p>
                          <a:pPr algn="ctr"/>
                          <a:r>
                            <a:rPr lang="en-US" altLang="zh-TW" sz="2400" baseline="0" dirty="0" smtClean="0">
                              <a:latin typeface="Times New Roman" panose="02020603050405020304" pitchFamily="18" charset="0"/>
                              <a:cs typeface="Times New Roman" panose="02020603050405020304" pitchFamily="18" charset="0"/>
                            </a:rPr>
                            <a:t>1</a:t>
                          </a:r>
                          <a:endParaRPr lang="zh-TW" altLang="en-US" sz="2400" baseline="0" dirty="0">
                            <a:latin typeface="Times New Roman" panose="02020603050405020304" pitchFamily="18" charset="0"/>
                            <a:cs typeface="Times New Roman" panose="02020603050405020304" pitchFamily="18" charset="0"/>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57200">
                    <a:tc gridSpan="2">
                      <a:txBody>
                        <a:bodyPr/>
                        <a:lstStyle/>
                        <a:p>
                          <a:pPr algn="ctr"/>
                          <a:r>
                            <a:rPr lang="en-US" altLang="zh-TW" sz="2400" dirty="0" smtClean="0">
                              <a:latin typeface="Times New Roman" panose="02020603050405020304" pitchFamily="18" charset="0"/>
                              <a:cs typeface="Times New Roman" panose="02020603050405020304" pitchFamily="18" charset="0"/>
                            </a:rPr>
                            <a:t>SS</a:t>
                          </a:r>
                          <a:endParaRPr lang="zh-TW" altLang="en-US" sz="2400" dirty="0">
                            <a:latin typeface="Times New Roman" panose="02020603050405020304" pitchFamily="18" charset="0"/>
                            <a:cs typeface="Times New Roman" panose="02020603050405020304" pitchFamily="18" charset="0"/>
                          </a:endParaRPr>
                        </a:p>
                      </a:txBody>
                      <a:tcPr anchor="ctr"/>
                    </a:tc>
                    <a:tc hMerge="1">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endParaRPr lang="zh-TW"/>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2344" t="-476000" r="-201042" b="-30667"/>
                          </a:stretch>
                        </a:blipFill>
                      </a:tcPr>
                    </a:tc>
                    <a:tc>
                      <a:txBody>
                        <a:bodyPr/>
                        <a:lstStyle/>
                        <a:p>
                          <a:endParaRPr lang="zh-TW"/>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51948" t="-476000" r="-100519" b="-30667"/>
                          </a:stretch>
                        </a:blipFill>
                      </a:tcPr>
                    </a:tc>
                    <a:tc>
                      <a:txBody>
                        <a:bodyPr/>
                        <a:lstStyle/>
                        <a:p>
                          <a:pPr algn="ctr"/>
                          <a:r>
                            <a:rPr lang="en-US" altLang="zh-TW" sz="2400" baseline="0" dirty="0" smtClean="0">
                              <a:latin typeface="Times New Roman" panose="02020603050405020304" pitchFamily="18" charset="0"/>
                              <a:cs typeface="Times New Roman" panose="02020603050405020304" pitchFamily="18" charset="0"/>
                            </a:rPr>
                            <a:t>0</a:t>
                          </a:r>
                          <a:endParaRPr lang="zh-TW" altLang="en-US" sz="2400" baseline="0" dirty="0">
                            <a:latin typeface="Times New Roman" panose="02020603050405020304" pitchFamily="18" charset="0"/>
                            <a:cs typeface="Times New Roman" panose="02020603050405020304" pitchFamily="18" charset="0"/>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46949563"/>
                      </a:ext>
                    </a:extLst>
                  </a:tr>
                </a:tbl>
              </a:graphicData>
            </a:graphic>
          </p:graphicFrame>
        </mc:Fallback>
      </mc:AlternateContent>
      <p:sp>
        <p:nvSpPr>
          <p:cNvPr id="10" name="投影片編號版面配置區 3">
            <a:extLst>
              <a:ext uri="{FF2B5EF4-FFF2-40B4-BE49-F238E27FC236}">
                <a16:creationId xmlns:a16="http://schemas.microsoft.com/office/drawing/2014/main" id="{4583E005-BA83-4648-94B4-4DB7DF9C20B8}"/>
              </a:ext>
            </a:extLst>
          </p:cNvPr>
          <p:cNvSpPr>
            <a:spLocks noGrp="1"/>
          </p:cNvSpPr>
          <p:nvPr>
            <p:ph type="sldNum" sz="quarter" idx="12"/>
          </p:nvPr>
        </p:nvSpPr>
        <p:spPr>
          <a:xfrm>
            <a:off x="6553200" y="6356350"/>
            <a:ext cx="2133600" cy="365125"/>
          </a:xfrm>
        </p:spPr>
        <p:txBody>
          <a:bodyPr/>
          <a:lstStyle/>
          <a:p>
            <a:fld id="{04C04D6A-2E29-441A-A244-9F1014899F6D}" type="slidenum">
              <a:rPr lang="zh-TW" altLang="en-US" sz="1600" smtClean="0"/>
              <a:pPr/>
              <a:t>13</a:t>
            </a:fld>
            <a:endParaRPr lang="zh-TW" altLang="en-US" dirty="0"/>
          </a:p>
        </p:txBody>
      </p:sp>
    </p:spTree>
    <p:extLst>
      <p:ext uri="{BB962C8B-B14F-4D97-AF65-F5344CB8AC3E}">
        <p14:creationId xmlns:p14="http://schemas.microsoft.com/office/powerpoint/2010/main" val="182465502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3"/>
          <a:stretch>
            <a:fillRect/>
          </a:stretch>
        </p:blipFill>
        <p:spPr>
          <a:xfrm>
            <a:off x="217503" y="1444172"/>
            <a:ext cx="8928992" cy="3280729"/>
          </a:xfrm>
          <a:prstGeom prst="rect">
            <a:avLst/>
          </a:prstGeom>
        </p:spPr>
      </p:pic>
      <p:sp>
        <p:nvSpPr>
          <p:cNvPr id="11" name="文字方塊 10">
            <a:extLst>
              <a:ext uri="{FF2B5EF4-FFF2-40B4-BE49-F238E27FC236}">
                <a16:creationId xmlns:a16="http://schemas.microsoft.com/office/drawing/2014/main" id="{F7024DF5-78FF-4A3F-B7F4-E9879D39926E}"/>
              </a:ext>
            </a:extLst>
          </p:cNvPr>
          <p:cNvSpPr txBox="1"/>
          <p:nvPr/>
        </p:nvSpPr>
        <p:spPr>
          <a:xfrm>
            <a:off x="188616" y="91827"/>
            <a:ext cx="8755811" cy="707886"/>
          </a:xfrm>
          <a:prstGeom prst="rect">
            <a:avLst/>
          </a:prstGeom>
          <a:noFill/>
        </p:spPr>
        <p:txBody>
          <a:bodyPr wrap="square" rtlCol="0">
            <a:spAutoFit/>
          </a:bodyPr>
          <a:lstStyle/>
          <a:p>
            <a:r>
              <a:rPr lang="en-US" altLang="zh-TW" sz="4000" b="1" dirty="0">
                <a:latin typeface="Times New Roman" panose="02020603050405020304" pitchFamily="18" charset="0"/>
                <a:cs typeface="Times New Roman" panose="02020603050405020304" pitchFamily="18" charset="0"/>
              </a:rPr>
              <a:t>Motivation</a:t>
            </a:r>
            <a:endParaRPr lang="zh-TW" altLang="en-US" sz="4000" dirty="0">
              <a:latin typeface="Times New Roman" panose="02020603050405020304" pitchFamily="18" charset="0"/>
              <a:cs typeface="Times New Roman" panose="02020603050405020304" pitchFamily="18" charset="0"/>
            </a:endParaRPr>
          </a:p>
        </p:txBody>
      </p:sp>
      <p:sp>
        <p:nvSpPr>
          <p:cNvPr id="9" name="矩形 8">
            <a:extLst>
              <a:ext uri="{FF2B5EF4-FFF2-40B4-BE49-F238E27FC236}">
                <a16:creationId xmlns:a16="http://schemas.microsoft.com/office/drawing/2014/main" id="{FEA0FFB9-217D-4A99-B793-4C02518DD04A}"/>
              </a:ext>
            </a:extLst>
          </p:cNvPr>
          <p:cNvSpPr/>
          <p:nvPr/>
        </p:nvSpPr>
        <p:spPr>
          <a:xfrm>
            <a:off x="396200" y="6077247"/>
            <a:ext cx="6696080" cy="461665"/>
          </a:xfrm>
          <a:prstGeom prst="rect">
            <a:avLst/>
          </a:prstGeom>
        </p:spPr>
        <p:txBody>
          <a:bodyPr wrap="square">
            <a:spAutoFit/>
          </a:bodyPr>
          <a:lstStyle/>
          <a:p>
            <a:r>
              <a:rPr lang="zh-TW" altLang="en-US" sz="1200" dirty="0">
                <a:latin typeface="Times New Roman" panose="02020603050405020304" pitchFamily="18" charset="0"/>
                <a:cs typeface="Times New Roman" panose="02020603050405020304" pitchFamily="18" charset="0"/>
              </a:rPr>
              <a:t>R. Trivedi and H. A. Nagarajaram, </a:t>
            </a:r>
            <a:r>
              <a:rPr lang="zh-TW" altLang="en-US" sz="1200" b="1" dirty="0">
                <a:latin typeface="Times New Roman" panose="02020603050405020304" pitchFamily="18" charset="0"/>
                <a:cs typeface="Times New Roman" panose="02020603050405020304" pitchFamily="18" charset="0"/>
              </a:rPr>
              <a:t>Amino acid substitution scoring matrices speciﬁc to intrinsically disordered regions in proteins</a:t>
            </a:r>
            <a:r>
              <a:rPr lang="zh-TW" altLang="en-US" sz="1200" dirty="0">
                <a:latin typeface="Times New Roman" panose="02020603050405020304" pitchFamily="18" charset="0"/>
                <a:cs typeface="Times New Roman" panose="02020603050405020304" pitchFamily="18" charset="0"/>
              </a:rPr>
              <a:t>, Scientiﬁc reports, Vol. 9, No. 1, pp. 1–12, 2019.</a:t>
            </a:r>
          </a:p>
        </p:txBody>
      </p:sp>
      <p:sp>
        <p:nvSpPr>
          <p:cNvPr id="10" name="矩形 9">
            <a:extLst>
              <a:ext uri="{FF2B5EF4-FFF2-40B4-BE49-F238E27FC236}">
                <a16:creationId xmlns:a16="http://schemas.microsoft.com/office/drawing/2014/main" id="{4A6508FC-7D7B-4983-822F-2A05DA239C79}"/>
              </a:ext>
            </a:extLst>
          </p:cNvPr>
          <p:cNvSpPr/>
          <p:nvPr/>
        </p:nvSpPr>
        <p:spPr>
          <a:xfrm>
            <a:off x="396200" y="799713"/>
            <a:ext cx="8704978" cy="707886"/>
          </a:xfrm>
          <a:prstGeom prst="rect">
            <a:avLst/>
          </a:prstGeom>
        </p:spPr>
        <p:txBody>
          <a:bodyPr wrap="square">
            <a:spAutoFit/>
          </a:bodyPr>
          <a:lstStyle/>
          <a:p>
            <a:r>
              <a:rPr lang="en-US" altLang="zh-TW" sz="2000" dirty="0">
                <a:solidFill>
                  <a:srgbClr val="222222"/>
                </a:solidFill>
                <a:latin typeface="Times New Roman" panose="02020603050405020304" pitchFamily="18" charset="0"/>
                <a:cs typeface="Times New Roman" panose="02020603050405020304" pitchFamily="18" charset="0"/>
              </a:rPr>
              <a:t>Rakesh’s scoring matrices were computed using </a:t>
            </a:r>
            <a:r>
              <a:rPr lang="en-US" altLang="zh-TW" sz="2000" dirty="0">
                <a:latin typeface="Times New Roman" panose="02020603050405020304" pitchFamily="18" charset="0"/>
                <a:cs typeface="Times New Roman" panose="02020603050405020304" pitchFamily="18" charset="0"/>
              </a:rPr>
              <a:t>the </a:t>
            </a:r>
            <a:r>
              <a:rPr lang="en-US" altLang="zh-TW" sz="2000" dirty="0" err="1">
                <a:latin typeface="Times New Roman" panose="02020603050405020304" pitchFamily="18" charset="0"/>
                <a:cs typeface="Times New Roman" panose="02020603050405020304" pitchFamily="18" charset="0"/>
              </a:rPr>
              <a:t>Henikoff’s</a:t>
            </a:r>
            <a:r>
              <a:rPr lang="en-US" altLang="zh-TW" sz="2000" dirty="0">
                <a:latin typeface="Times New Roman" panose="02020603050405020304" pitchFamily="18" charset="0"/>
                <a:cs typeface="Times New Roman" panose="02020603050405020304" pitchFamily="18" charset="0"/>
              </a:rPr>
              <a:t> method</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(BLOSUM).</a:t>
            </a:r>
            <a:endParaRPr lang="zh-TW" altLang="en-US" sz="2000" dirty="0">
              <a:latin typeface="Times New Roman" panose="02020603050405020304" pitchFamily="18" charset="0"/>
              <a:cs typeface="Times New Roman" panose="02020603050405020304" pitchFamily="18" charset="0"/>
            </a:endParaRPr>
          </a:p>
        </p:txBody>
      </p:sp>
      <p:sp>
        <p:nvSpPr>
          <p:cNvPr id="13" name="投影片編號版面配置區 3">
            <a:extLst>
              <a:ext uri="{FF2B5EF4-FFF2-40B4-BE49-F238E27FC236}">
                <a16:creationId xmlns:a16="http://schemas.microsoft.com/office/drawing/2014/main" id="{AACCEF9C-C514-44C3-930F-30568A6371CF}"/>
              </a:ext>
            </a:extLst>
          </p:cNvPr>
          <p:cNvSpPr>
            <a:spLocks noGrp="1"/>
          </p:cNvSpPr>
          <p:nvPr>
            <p:ph type="sldNum" sz="quarter" idx="12"/>
          </p:nvPr>
        </p:nvSpPr>
        <p:spPr>
          <a:xfrm>
            <a:off x="6553200" y="6356350"/>
            <a:ext cx="2133600" cy="365125"/>
          </a:xfrm>
        </p:spPr>
        <p:txBody>
          <a:bodyPr/>
          <a:lstStyle/>
          <a:p>
            <a:fld id="{04C04D6A-2E29-441A-A244-9F1014899F6D}" type="slidenum">
              <a:rPr lang="zh-TW" altLang="en-US" sz="1600" smtClean="0"/>
              <a:pPr/>
              <a:t>14</a:t>
            </a:fld>
            <a:endParaRPr lang="zh-TW" altLang="en-US" dirty="0"/>
          </a:p>
        </p:txBody>
      </p:sp>
      <p:sp>
        <p:nvSpPr>
          <p:cNvPr id="3" name="矩形 2"/>
          <p:cNvSpPr/>
          <p:nvPr/>
        </p:nvSpPr>
        <p:spPr>
          <a:xfrm>
            <a:off x="581472" y="4892696"/>
            <a:ext cx="7878960" cy="830997"/>
          </a:xfrm>
          <a:prstGeom prst="rect">
            <a:avLst/>
          </a:prstGeom>
        </p:spPr>
        <p:txBody>
          <a:bodyPr wrap="square">
            <a:spAutoFit/>
          </a:bodyPr>
          <a:lstStyle/>
          <a:p>
            <a:r>
              <a:rPr lang="zh-TW" altLang="en-US" sz="2400" dirty="0">
                <a:latin typeface="Times New Roman" panose="02020603050405020304" pitchFamily="18" charset="0"/>
                <a:cs typeface="Times New Roman" panose="02020603050405020304" pitchFamily="18" charset="0"/>
              </a:rPr>
              <a:t>Disorder percentage is mean fraction of residues that was predicted to be disordered by the disordered protein predictors</a:t>
            </a: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42093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字方塊 10">
            <a:extLst>
              <a:ext uri="{FF2B5EF4-FFF2-40B4-BE49-F238E27FC236}">
                <a16:creationId xmlns:a16="http://schemas.microsoft.com/office/drawing/2014/main" id="{F7024DF5-78FF-4A3F-B7F4-E9879D39926E}"/>
              </a:ext>
            </a:extLst>
          </p:cNvPr>
          <p:cNvSpPr txBox="1"/>
          <p:nvPr/>
        </p:nvSpPr>
        <p:spPr>
          <a:xfrm>
            <a:off x="188616" y="91827"/>
            <a:ext cx="8755811" cy="707886"/>
          </a:xfrm>
          <a:prstGeom prst="rect">
            <a:avLst/>
          </a:prstGeom>
          <a:noFill/>
        </p:spPr>
        <p:txBody>
          <a:bodyPr wrap="square" rtlCol="0">
            <a:spAutoFit/>
          </a:bodyPr>
          <a:lstStyle/>
          <a:p>
            <a:r>
              <a:rPr lang="en-US" altLang="zh-TW" sz="4000" b="1" dirty="0">
                <a:latin typeface="Times New Roman" panose="02020603050405020304" pitchFamily="18" charset="0"/>
                <a:cs typeface="Times New Roman" panose="02020603050405020304" pitchFamily="18" charset="0"/>
              </a:rPr>
              <a:t>Motivation</a:t>
            </a:r>
            <a:endParaRPr lang="zh-TW" altLang="en-US" sz="4000" dirty="0">
              <a:latin typeface="Times New Roman" panose="02020603050405020304" pitchFamily="18" charset="0"/>
              <a:cs typeface="Times New Roman" panose="02020603050405020304" pitchFamily="18" charset="0"/>
            </a:endParaRPr>
          </a:p>
        </p:txBody>
      </p:sp>
      <p:sp>
        <p:nvSpPr>
          <p:cNvPr id="9" name="矩形 8">
            <a:extLst>
              <a:ext uri="{FF2B5EF4-FFF2-40B4-BE49-F238E27FC236}">
                <a16:creationId xmlns:a16="http://schemas.microsoft.com/office/drawing/2014/main" id="{FEA0FFB9-217D-4A99-B793-4C02518DD04A}"/>
              </a:ext>
            </a:extLst>
          </p:cNvPr>
          <p:cNvSpPr/>
          <p:nvPr/>
        </p:nvSpPr>
        <p:spPr>
          <a:xfrm>
            <a:off x="396200" y="6077247"/>
            <a:ext cx="6696080" cy="461665"/>
          </a:xfrm>
          <a:prstGeom prst="rect">
            <a:avLst/>
          </a:prstGeom>
        </p:spPr>
        <p:txBody>
          <a:bodyPr wrap="square">
            <a:spAutoFit/>
          </a:bodyPr>
          <a:lstStyle/>
          <a:p>
            <a:r>
              <a:rPr lang="zh-TW" altLang="en-US" sz="1200" dirty="0">
                <a:latin typeface="Times New Roman" panose="02020603050405020304" pitchFamily="18" charset="0"/>
                <a:cs typeface="Times New Roman" panose="02020603050405020304" pitchFamily="18" charset="0"/>
              </a:rPr>
              <a:t>R. Trivedi and H. A. Nagarajaram, </a:t>
            </a:r>
            <a:r>
              <a:rPr lang="zh-TW" altLang="en-US" sz="1200" b="1" dirty="0">
                <a:latin typeface="Times New Roman" panose="02020603050405020304" pitchFamily="18" charset="0"/>
                <a:cs typeface="Times New Roman" panose="02020603050405020304" pitchFamily="18" charset="0"/>
              </a:rPr>
              <a:t>Amino acid substitution scoring matrices speciﬁc to intrinsically disordered regions in proteins</a:t>
            </a:r>
            <a:r>
              <a:rPr lang="zh-TW" altLang="en-US" sz="1200" dirty="0">
                <a:latin typeface="Times New Roman" panose="02020603050405020304" pitchFamily="18" charset="0"/>
                <a:cs typeface="Times New Roman" panose="02020603050405020304" pitchFamily="18" charset="0"/>
              </a:rPr>
              <a:t>, Scientiﬁc reports, Vol. 9, No. 1, pp. 1–12, 2019.</a:t>
            </a:r>
          </a:p>
        </p:txBody>
      </p:sp>
      <p:sp>
        <p:nvSpPr>
          <p:cNvPr id="13" name="投影片編號版面配置區 3">
            <a:extLst>
              <a:ext uri="{FF2B5EF4-FFF2-40B4-BE49-F238E27FC236}">
                <a16:creationId xmlns:a16="http://schemas.microsoft.com/office/drawing/2014/main" id="{AACCEF9C-C514-44C3-930F-30568A6371CF}"/>
              </a:ext>
            </a:extLst>
          </p:cNvPr>
          <p:cNvSpPr>
            <a:spLocks noGrp="1"/>
          </p:cNvSpPr>
          <p:nvPr>
            <p:ph type="sldNum" sz="quarter" idx="12"/>
          </p:nvPr>
        </p:nvSpPr>
        <p:spPr>
          <a:xfrm>
            <a:off x="6553200" y="6356350"/>
            <a:ext cx="2133600" cy="365125"/>
          </a:xfrm>
        </p:spPr>
        <p:txBody>
          <a:bodyPr/>
          <a:lstStyle/>
          <a:p>
            <a:fld id="{04C04D6A-2E29-441A-A244-9F1014899F6D}" type="slidenum">
              <a:rPr lang="zh-TW" altLang="en-US" sz="1600" smtClean="0"/>
              <a:pPr/>
              <a:t>15</a:t>
            </a:fld>
            <a:endParaRPr lang="zh-TW" altLang="en-US" dirty="0"/>
          </a:p>
        </p:txBody>
      </p:sp>
      <p:sp>
        <p:nvSpPr>
          <p:cNvPr id="12" name="文字方塊 11">
            <a:extLst>
              <a:ext uri="{FF2B5EF4-FFF2-40B4-BE49-F238E27FC236}">
                <a16:creationId xmlns:a16="http://schemas.microsoft.com/office/drawing/2014/main" id="{02EEF2B7-244C-4387-93BE-9D5FB88F4F4B}"/>
              </a:ext>
            </a:extLst>
          </p:cNvPr>
          <p:cNvSpPr txBox="1"/>
          <p:nvPr/>
        </p:nvSpPr>
        <p:spPr>
          <a:xfrm>
            <a:off x="467544" y="1194041"/>
            <a:ext cx="5256584" cy="461665"/>
          </a:xfrm>
          <a:prstGeom prst="rect">
            <a:avLst/>
          </a:prstGeom>
          <a:noFill/>
        </p:spPr>
        <p:txBody>
          <a:bodyPr wrap="square">
            <a:spAutoFit/>
          </a:bodyPr>
          <a:lstStyle/>
          <a:p>
            <a:r>
              <a:rPr lang="en-US" altLang="zh-TW" sz="2400" dirty="0">
                <a:latin typeface="Times New Roman" panose="02020603050405020304" pitchFamily="18" charset="0"/>
                <a:cs typeface="Times New Roman" panose="02020603050405020304" pitchFamily="18" charset="0"/>
              </a:rPr>
              <a:t>S</a:t>
            </a:r>
            <a:r>
              <a:rPr lang="zh-TW" altLang="en-US" sz="2400" dirty="0">
                <a:latin typeface="Times New Roman" panose="02020603050405020304" pitchFamily="18" charset="0"/>
                <a:cs typeface="Times New Roman" panose="02020603050405020304" pitchFamily="18" charset="0"/>
              </a:rPr>
              <a:t>ymmetric scoring matrix with 23 × 23</a:t>
            </a:r>
            <a:r>
              <a:rPr lang="en-US" altLang="zh-TW" sz="2400" dirty="0">
                <a:latin typeface="Times New Roman" panose="02020603050405020304" pitchFamily="18" charset="0"/>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2030BA66-CE6E-4020-8E08-08FE6E91D17F}"/>
                  </a:ext>
                </a:extLst>
              </p:cNvPr>
              <p:cNvSpPr/>
              <p:nvPr/>
            </p:nvSpPr>
            <p:spPr>
              <a:xfrm>
                <a:off x="1115616" y="1919556"/>
                <a:ext cx="6383863" cy="705771"/>
              </a:xfrm>
              <a:prstGeom prst="rect">
                <a:avLst/>
              </a:prstGeom>
            </p:spPr>
            <p:txBody>
              <a:bodyPr wrap="none">
                <a:spAutoFit/>
              </a:bodyPr>
              <a:lstStyle/>
              <a:p>
                <a:r>
                  <a:rPr lang="en-US" altLang="zh-TW" sz="1400" dirty="0">
                    <a:solidFill>
                      <a:srgbClr val="222222"/>
                    </a:solidFill>
                    <a:latin typeface="Times New Roman" panose="02020603050405020304" pitchFamily="18" charset="0"/>
                    <a:cs typeface="Times New Roman" panose="02020603050405020304" pitchFamily="18" charset="0"/>
                  </a:rPr>
                  <a:t>●</a:t>
                </a:r>
                <a:r>
                  <a:rPr lang="en-US" altLang="zh-TW" dirty="0">
                    <a:solidFill>
                      <a:srgbClr val="222222"/>
                    </a:solidFill>
                    <a:latin typeface="Times New Roman" panose="02020603050405020304" pitchFamily="18" charset="0"/>
                    <a:cs typeface="Times New Roman" panose="02020603050405020304" pitchFamily="18" charset="0"/>
                  </a:rPr>
                  <a:t> </a:t>
                </a:r>
                <a:r>
                  <a:rPr lang="en-US" altLang="zh-TW" sz="2400" dirty="0">
                    <a:solidFill>
                      <a:srgbClr val="222222"/>
                    </a:solidFill>
                    <a:latin typeface="Times New Roman" panose="02020603050405020304" pitchFamily="18" charset="0"/>
                    <a:cs typeface="Times New Roman" panose="02020603050405020304" pitchFamily="18" charset="0"/>
                  </a:rPr>
                  <a:t>The total number of entries is </a:t>
                </a:r>
                <a14:m>
                  <m:oMath xmlns:m="http://schemas.openxmlformats.org/officeDocument/2006/math">
                    <m:d>
                      <m:dPr>
                        <m:ctrlPr>
                          <a:rPr lang="en-US" altLang="zh-TW" sz="2400" i="1" dirty="0" smtClean="0">
                            <a:solidFill>
                              <a:srgbClr val="222222"/>
                            </a:solidFill>
                            <a:latin typeface="Cambria Math" panose="02040503050406030204" pitchFamily="18" charset="0"/>
                          </a:rPr>
                        </m:ctrlPr>
                      </m:dPr>
                      <m:e>
                        <m:m>
                          <m:mPr>
                            <m:plcHide m:val="on"/>
                            <m:mcs>
                              <m:mc>
                                <m:mcPr>
                                  <m:count m:val="1"/>
                                  <m:mcJc m:val="center"/>
                                </m:mcPr>
                              </m:mc>
                            </m:mcs>
                            <m:ctrlPr>
                              <a:rPr lang="en-US" altLang="zh-TW" sz="2400" i="1" dirty="0">
                                <a:solidFill>
                                  <a:srgbClr val="222222"/>
                                </a:solidFill>
                                <a:latin typeface="Cambria Math" panose="02040503050406030204" pitchFamily="18" charset="0"/>
                              </a:rPr>
                            </m:ctrlPr>
                          </m:mPr>
                          <m:mr>
                            <m:e>
                              <m:r>
                                <a:rPr lang="en-US" altLang="zh-TW" sz="2400" dirty="0">
                                  <a:solidFill>
                                    <a:srgbClr val="222222"/>
                                  </a:solidFill>
                                  <a:latin typeface="Cambria Math" panose="02040503050406030204" pitchFamily="18" charset="0"/>
                                </a:rPr>
                                <m:t>23</m:t>
                              </m:r>
                            </m:e>
                          </m:mr>
                          <m:mr>
                            <m:e>
                              <m:r>
                                <a:rPr lang="en-US" altLang="zh-TW" sz="2400" i="0" dirty="0">
                                  <a:solidFill>
                                    <a:srgbClr val="222222"/>
                                  </a:solidFill>
                                  <a:latin typeface="Cambria Math" panose="02040503050406030204" pitchFamily="18" charset="0"/>
                                </a:rPr>
                                <m:t>2</m:t>
                              </m:r>
                            </m:e>
                          </m:mr>
                        </m:m>
                      </m:e>
                    </m:d>
                    <m:r>
                      <a:rPr lang="en-US" altLang="zh-TW" sz="2400" b="0" i="1" dirty="0" smtClean="0">
                        <a:solidFill>
                          <a:srgbClr val="222222"/>
                        </a:solidFill>
                        <a:latin typeface="Cambria Math" panose="02040503050406030204" pitchFamily="18" charset="0"/>
                      </a:rPr>
                      <m:t>+23=276</m:t>
                    </m:r>
                  </m:oMath>
                </a14:m>
                <a:endParaRPr lang="en-US" altLang="zh-TW" sz="2400" dirty="0">
                  <a:solidFill>
                    <a:srgbClr val="222222"/>
                  </a:solidFill>
                  <a:latin typeface="Times New Roman" panose="02020603050405020304" pitchFamily="18" charset="0"/>
                  <a:cs typeface="Times New Roman" panose="02020603050405020304" pitchFamily="18" charset="0"/>
                </a:endParaRPr>
              </a:p>
            </p:txBody>
          </p:sp>
        </mc:Choice>
        <mc:Fallback xmlns="">
          <p:sp>
            <p:nvSpPr>
              <p:cNvPr id="5" name="矩形 4">
                <a:extLst>
                  <a:ext uri="{FF2B5EF4-FFF2-40B4-BE49-F238E27FC236}">
                    <a16:creationId xmlns:a16="http://schemas.microsoft.com/office/drawing/2014/main" id="{2030BA66-CE6E-4020-8E08-08FE6E91D17F}"/>
                  </a:ext>
                </a:extLst>
              </p:cNvPr>
              <p:cNvSpPr>
                <a:spLocks noRot="1" noChangeAspect="1" noMove="1" noResize="1" noEditPoints="1" noAdjustHandles="1" noChangeArrowheads="1" noChangeShapeType="1" noTextEdit="1"/>
              </p:cNvSpPr>
              <p:nvPr/>
            </p:nvSpPr>
            <p:spPr>
              <a:xfrm>
                <a:off x="1115616" y="1919556"/>
                <a:ext cx="6383863" cy="705771"/>
              </a:xfrm>
              <a:prstGeom prst="rect">
                <a:avLst/>
              </a:prstGeom>
              <a:blipFill>
                <a:blip r:embed="rId3"/>
                <a:stretch>
                  <a:fillRect l="-287" b="-172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05CAA44C-47FB-4869-B40A-89816D709C98}"/>
                  </a:ext>
                </a:extLst>
              </p:cNvPr>
              <p:cNvSpPr/>
              <p:nvPr/>
            </p:nvSpPr>
            <p:spPr>
              <a:xfrm>
                <a:off x="1132776" y="2842124"/>
                <a:ext cx="5905719" cy="830997"/>
              </a:xfrm>
              <a:prstGeom prst="rect">
                <a:avLst/>
              </a:prstGeom>
            </p:spPr>
            <p:txBody>
              <a:bodyPr wrap="none">
                <a:spAutoFit/>
              </a:bodyPr>
              <a:lstStyle/>
              <a:p>
                <a:r>
                  <a:rPr lang="en-US" altLang="zh-TW" sz="1400" dirty="0">
                    <a:solidFill>
                      <a:srgbClr val="222222"/>
                    </a:solidFill>
                    <a:latin typeface="Times New Roman" panose="02020603050405020304" pitchFamily="18" charset="0"/>
                    <a:cs typeface="Times New Roman" panose="02020603050405020304" pitchFamily="18" charset="0"/>
                  </a:rPr>
                  <a:t>●</a:t>
                </a:r>
                <a:r>
                  <a:rPr lang="en-US" altLang="zh-TW" dirty="0">
                    <a:solidFill>
                      <a:srgbClr val="222222"/>
                    </a:solidFill>
                    <a:latin typeface="Times New Roman" panose="02020603050405020304" pitchFamily="18" charset="0"/>
                    <a:cs typeface="Times New Roman" panose="02020603050405020304" pitchFamily="18" charset="0"/>
                  </a:rPr>
                  <a:t> </a:t>
                </a:r>
                <a:r>
                  <a:rPr lang="en-US" altLang="zh-TW" sz="2400" dirty="0">
                    <a:solidFill>
                      <a:srgbClr val="222222"/>
                    </a:solidFill>
                    <a:latin typeface="Times New Roman" panose="02020603050405020304" pitchFamily="18" charset="0"/>
                    <a:cs typeface="Times New Roman" panose="02020603050405020304" pitchFamily="18" charset="0"/>
                  </a:rPr>
                  <a:t>Each entry ranges from −10 to 20, then</a:t>
                </a:r>
              </a:p>
              <a:p>
                <a:r>
                  <a:rPr lang="en-US" altLang="zh-TW" sz="2400" dirty="0">
                    <a:solidFill>
                      <a:srgbClr val="222222"/>
                    </a:solidFill>
                    <a:latin typeface="Times New Roman" panose="02020603050405020304" pitchFamily="18" charset="0"/>
                    <a:cs typeface="Times New Roman" panose="02020603050405020304" pitchFamily="18" charset="0"/>
                  </a:rPr>
                  <a:t>the number of possible combinations is </a:t>
                </a:r>
                <a14:m>
                  <m:oMath xmlns:m="http://schemas.openxmlformats.org/officeDocument/2006/math">
                    <m:sSup>
                      <m:sSupPr>
                        <m:ctrlPr>
                          <a:rPr lang="en-US" altLang="zh-TW" sz="2400" i="1" smtClean="0">
                            <a:solidFill>
                              <a:srgbClr val="222222"/>
                            </a:solidFill>
                            <a:latin typeface="Cambria Math" panose="02040503050406030204" pitchFamily="18" charset="0"/>
                            <a:cs typeface="Times New Roman" panose="02020603050405020304" pitchFamily="18" charset="0"/>
                          </a:rPr>
                        </m:ctrlPr>
                      </m:sSupPr>
                      <m:e>
                        <m:r>
                          <a:rPr lang="en-US" altLang="zh-TW" sz="2400" b="0" i="1" smtClean="0">
                            <a:solidFill>
                              <a:srgbClr val="222222"/>
                            </a:solidFill>
                            <a:latin typeface="Cambria Math" panose="02040503050406030204" pitchFamily="18" charset="0"/>
                            <a:cs typeface="Times New Roman" panose="02020603050405020304" pitchFamily="18" charset="0"/>
                          </a:rPr>
                          <m:t>31</m:t>
                        </m:r>
                      </m:e>
                      <m:sup>
                        <m:r>
                          <a:rPr lang="en-US" altLang="zh-TW" sz="2400" b="0" i="1" smtClean="0">
                            <a:solidFill>
                              <a:srgbClr val="222222"/>
                            </a:solidFill>
                            <a:latin typeface="Cambria Math" panose="02040503050406030204" pitchFamily="18" charset="0"/>
                            <a:cs typeface="Times New Roman" panose="02020603050405020304" pitchFamily="18" charset="0"/>
                          </a:rPr>
                          <m:t>276</m:t>
                        </m:r>
                      </m:sup>
                    </m:sSup>
                  </m:oMath>
                </a14:m>
                <a:r>
                  <a:rPr lang="en-US" altLang="zh-TW" sz="2400" dirty="0">
                    <a:solidFill>
                      <a:srgbClr val="222222"/>
                    </a:solidFill>
                    <a:latin typeface="Times New Roman" panose="02020603050405020304" pitchFamily="18" charset="0"/>
                    <a:cs typeface="Times New Roman" panose="02020603050405020304" pitchFamily="18" charset="0"/>
                  </a:rPr>
                  <a:t>.</a:t>
                </a:r>
              </a:p>
            </p:txBody>
          </p:sp>
        </mc:Choice>
        <mc:Fallback xmlns="">
          <p:sp>
            <p:nvSpPr>
              <p:cNvPr id="6" name="矩形 5">
                <a:extLst>
                  <a:ext uri="{FF2B5EF4-FFF2-40B4-BE49-F238E27FC236}">
                    <a16:creationId xmlns:a16="http://schemas.microsoft.com/office/drawing/2014/main" id="{05CAA44C-47FB-4869-B40A-89816D709C98}"/>
                  </a:ext>
                </a:extLst>
              </p:cNvPr>
              <p:cNvSpPr>
                <a:spLocks noRot="1" noChangeAspect="1" noMove="1" noResize="1" noEditPoints="1" noAdjustHandles="1" noChangeArrowheads="1" noChangeShapeType="1" noTextEdit="1"/>
              </p:cNvSpPr>
              <p:nvPr/>
            </p:nvSpPr>
            <p:spPr>
              <a:xfrm>
                <a:off x="1132776" y="2842124"/>
                <a:ext cx="5905719" cy="830997"/>
              </a:xfrm>
              <a:prstGeom prst="rect">
                <a:avLst/>
              </a:prstGeom>
              <a:blipFill>
                <a:blip r:embed="rId4"/>
                <a:stretch>
                  <a:fillRect l="-1651" t="-5839" r="-619" b="-15328"/>
                </a:stretch>
              </a:blipFill>
            </p:spPr>
            <p:txBody>
              <a:bodyPr/>
              <a:lstStyle/>
              <a:p>
                <a:r>
                  <a:rPr lang="zh-TW" altLang="en-US">
                    <a:noFill/>
                  </a:rPr>
                  <a:t> </a:t>
                </a:r>
              </a:p>
            </p:txBody>
          </p:sp>
        </mc:Fallback>
      </mc:AlternateContent>
      <p:sp>
        <p:nvSpPr>
          <p:cNvPr id="7" name="矩形 6">
            <a:extLst>
              <a:ext uri="{FF2B5EF4-FFF2-40B4-BE49-F238E27FC236}">
                <a16:creationId xmlns:a16="http://schemas.microsoft.com/office/drawing/2014/main" id="{692FB457-1D2D-4CC2-AA86-A7E3BF573742}"/>
              </a:ext>
            </a:extLst>
          </p:cNvPr>
          <p:cNvSpPr/>
          <p:nvPr/>
        </p:nvSpPr>
        <p:spPr>
          <a:xfrm>
            <a:off x="1132776" y="3889919"/>
            <a:ext cx="7657289" cy="830997"/>
          </a:xfrm>
          <a:prstGeom prst="rect">
            <a:avLst/>
          </a:prstGeom>
        </p:spPr>
        <p:txBody>
          <a:bodyPr wrap="none">
            <a:spAutoFit/>
          </a:bodyPr>
          <a:lstStyle/>
          <a:p>
            <a:r>
              <a:rPr lang="en-US" altLang="zh-TW" sz="1400" dirty="0">
                <a:solidFill>
                  <a:srgbClr val="222222"/>
                </a:solidFill>
                <a:latin typeface="Times New Roman" panose="02020603050405020304" pitchFamily="18" charset="0"/>
                <a:cs typeface="Times New Roman" panose="02020603050405020304" pitchFamily="18" charset="0"/>
              </a:rPr>
              <a:t>●</a:t>
            </a:r>
            <a:r>
              <a:rPr lang="en-US" altLang="zh-TW" dirty="0">
                <a:solidFill>
                  <a:srgbClr val="222222"/>
                </a:solidFill>
                <a:latin typeface="Times New Roman" panose="02020603050405020304" pitchFamily="18" charset="0"/>
                <a:cs typeface="Times New Roman" panose="02020603050405020304" pitchFamily="18" charset="0"/>
              </a:rPr>
              <a:t> </a:t>
            </a:r>
            <a:r>
              <a:rPr lang="en-US" altLang="zh-TW" sz="2400" dirty="0">
                <a:solidFill>
                  <a:srgbClr val="222222"/>
                </a:solidFill>
                <a:latin typeface="Times New Roman" panose="02020603050405020304" pitchFamily="18" charset="0"/>
                <a:cs typeface="Times New Roman" panose="02020603050405020304" pitchFamily="18" charset="0"/>
              </a:rPr>
              <a:t>We add the two scores for gap opening and gap extension. </a:t>
            </a:r>
          </a:p>
          <a:p>
            <a:r>
              <a:rPr lang="en-US" altLang="zh-TW" sz="2400" dirty="0">
                <a:solidFill>
                  <a:srgbClr val="222222"/>
                </a:solidFill>
                <a:latin typeface="Times New Roman" panose="02020603050405020304" pitchFamily="18" charset="0"/>
                <a:cs typeface="Times New Roman" panose="02020603050405020304" pitchFamily="18" charset="0"/>
              </a:rPr>
              <a:t>Thus, the total number of entries is 278.</a:t>
            </a:r>
          </a:p>
        </p:txBody>
      </p:sp>
    </p:spTree>
    <p:extLst>
      <p:ext uri="{BB962C8B-B14F-4D97-AF65-F5344CB8AC3E}">
        <p14:creationId xmlns:p14="http://schemas.microsoft.com/office/powerpoint/2010/main" val="423430226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字方塊 10">
            <a:extLst>
              <a:ext uri="{FF2B5EF4-FFF2-40B4-BE49-F238E27FC236}">
                <a16:creationId xmlns:a16="http://schemas.microsoft.com/office/drawing/2014/main" id="{F7024DF5-78FF-4A3F-B7F4-E9879D39926E}"/>
              </a:ext>
            </a:extLst>
          </p:cNvPr>
          <p:cNvSpPr txBox="1"/>
          <p:nvPr/>
        </p:nvSpPr>
        <p:spPr>
          <a:xfrm>
            <a:off x="388189" y="188640"/>
            <a:ext cx="8755811" cy="707886"/>
          </a:xfrm>
          <a:prstGeom prst="rect">
            <a:avLst/>
          </a:prstGeom>
          <a:noFill/>
        </p:spPr>
        <p:txBody>
          <a:bodyPr wrap="square" rtlCol="0">
            <a:spAutoFit/>
          </a:bodyPr>
          <a:lstStyle/>
          <a:p>
            <a:r>
              <a:rPr lang="en-US" altLang="zh-TW" sz="4000" b="1" dirty="0">
                <a:latin typeface="Times New Roman" panose="02020603050405020304" pitchFamily="18" charset="0"/>
                <a:cs typeface="Times New Roman" panose="02020603050405020304" pitchFamily="18" charset="0"/>
              </a:rPr>
              <a:t>Our Method</a:t>
            </a:r>
            <a:endParaRPr lang="zh-TW" altLang="en-US" sz="4000" b="1" dirty="0">
              <a:latin typeface="Times New Roman" panose="02020603050405020304" pitchFamily="18" charset="0"/>
              <a:cs typeface="Times New Roman" panose="02020603050405020304" pitchFamily="18" charset="0"/>
            </a:endParaRPr>
          </a:p>
        </p:txBody>
      </p:sp>
      <p:sp>
        <p:nvSpPr>
          <p:cNvPr id="27" name="投影片編號版面配置區 3">
            <a:extLst>
              <a:ext uri="{FF2B5EF4-FFF2-40B4-BE49-F238E27FC236}">
                <a16:creationId xmlns:a16="http://schemas.microsoft.com/office/drawing/2014/main" id="{6804B62D-78E2-45DC-9202-43F9D4C9E045}"/>
              </a:ext>
            </a:extLst>
          </p:cNvPr>
          <p:cNvSpPr>
            <a:spLocks noGrp="1"/>
          </p:cNvSpPr>
          <p:nvPr>
            <p:ph type="sldNum" sz="quarter" idx="12"/>
          </p:nvPr>
        </p:nvSpPr>
        <p:spPr>
          <a:xfrm>
            <a:off x="6553200" y="6356350"/>
            <a:ext cx="2133600" cy="365125"/>
          </a:xfrm>
        </p:spPr>
        <p:txBody>
          <a:bodyPr/>
          <a:lstStyle/>
          <a:p>
            <a:fld id="{04C04D6A-2E29-441A-A244-9F1014899F6D}" type="slidenum">
              <a:rPr lang="zh-TW" altLang="en-US" sz="1600" smtClean="0"/>
              <a:pPr/>
              <a:t>16</a:t>
            </a:fld>
            <a:endParaRPr lang="zh-TW" altLang="en-US" dirty="0"/>
          </a:p>
        </p:txBody>
      </p:sp>
      <p:sp>
        <p:nvSpPr>
          <p:cNvPr id="2" name="矩形 1"/>
          <p:cNvSpPr/>
          <p:nvPr/>
        </p:nvSpPr>
        <p:spPr>
          <a:xfrm>
            <a:off x="1187624" y="1340768"/>
            <a:ext cx="4775666" cy="461665"/>
          </a:xfrm>
          <a:prstGeom prst="rect">
            <a:avLst/>
          </a:prstGeom>
        </p:spPr>
        <p:txBody>
          <a:bodyPr wrap="none">
            <a:spAutoFit/>
          </a:bodyPr>
          <a:lstStyle/>
          <a:p>
            <a:r>
              <a:rPr lang="en-US" altLang="zh-TW" sz="1400" dirty="0">
                <a:solidFill>
                  <a:srgbClr val="222222"/>
                </a:solidFill>
                <a:latin typeface="Times New Roman" panose="02020603050405020304" pitchFamily="18" charset="0"/>
                <a:cs typeface="Times New Roman" panose="02020603050405020304" pitchFamily="18" charset="0"/>
              </a:rPr>
              <a:t>●</a:t>
            </a:r>
            <a:r>
              <a:rPr lang="en-US" altLang="zh-TW" dirty="0">
                <a:solidFill>
                  <a:srgbClr val="222222"/>
                </a:solidFill>
                <a:latin typeface="Times New Roman" panose="02020603050405020304" pitchFamily="18" charset="0"/>
                <a:cs typeface="Times New Roman" panose="02020603050405020304" pitchFamily="18" charset="0"/>
              </a:rPr>
              <a:t> </a:t>
            </a:r>
            <a:r>
              <a:rPr lang="en-US" altLang="zh-TW" sz="2400" dirty="0">
                <a:solidFill>
                  <a:srgbClr val="222222"/>
                </a:solidFill>
                <a:latin typeface="Times New Roman" panose="02020603050405020304" pitchFamily="18" charset="0"/>
                <a:cs typeface="Times New Roman" panose="02020603050405020304" pitchFamily="18" charset="0"/>
              </a:rPr>
              <a:t>The genetic algorithm — crossover</a:t>
            </a:r>
          </a:p>
        </p:txBody>
      </p:sp>
      <p:sp>
        <p:nvSpPr>
          <p:cNvPr id="31" name="矩形 30"/>
          <p:cNvSpPr/>
          <p:nvPr/>
        </p:nvSpPr>
        <p:spPr>
          <a:xfrm>
            <a:off x="1181344" y="2426108"/>
            <a:ext cx="4687502" cy="1200329"/>
          </a:xfrm>
          <a:prstGeom prst="rect">
            <a:avLst/>
          </a:prstGeom>
        </p:spPr>
        <p:txBody>
          <a:bodyPr wrap="none">
            <a:spAutoFit/>
          </a:bodyPr>
          <a:lstStyle/>
          <a:p>
            <a:r>
              <a:rPr lang="en-US" altLang="zh-TW" sz="1400" dirty="0">
                <a:solidFill>
                  <a:srgbClr val="222222"/>
                </a:solidFill>
                <a:latin typeface="Times New Roman" panose="02020603050405020304" pitchFamily="18" charset="0"/>
                <a:cs typeface="Times New Roman" panose="02020603050405020304" pitchFamily="18" charset="0"/>
              </a:rPr>
              <a:t>●</a:t>
            </a:r>
            <a:r>
              <a:rPr lang="en-US" altLang="zh-TW" dirty="0">
                <a:solidFill>
                  <a:srgbClr val="222222"/>
                </a:solidFill>
                <a:latin typeface="Times New Roman" panose="02020603050405020304" pitchFamily="18" charset="0"/>
                <a:cs typeface="Times New Roman" panose="02020603050405020304" pitchFamily="18" charset="0"/>
              </a:rPr>
              <a:t> </a:t>
            </a:r>
            <a:r>
              <a:rPr lang="en-US" altLang="zh-TW" sz="2400" dirty="0">
                <a:solidFill>
                  <a:srgbClr val="222222"/>
                </a:solidFill>
                <a:latin typeface="Times New Roman" panose="02020603050405020304" pitchFamily="18" charset="0"/>
                <a:cs typeface="Times New Roman" panose="02020603050405020304" pitchFamily="18" charset="0"/>
              </a:rPr>
              <a:t>The genetic algorithm — mutation</a:t>
            </a:r>
          </a:p>
          <a:p>
            <a:r>
              <a:rPr lang="en-US" altLang="zh-TW" sz="2400" dirty="0">
                <a:solidFill>
                  <a:srgbClr val="222222"/>
                </a:solidFill>
                <a:latin typeface="Times New Roman" panose="02020603050405020304" pitchFamily="18" charset="0"/>
                <a:cs typeface="Times New Roman" panose="02020603050405020304" pitchFamily="18" charset="0"/>
              </a:rPr>
              <a:t>adopting harmony search method.</a:t>
            </a:r>
          </a:p>
          <a:p>
            <a:r>
              <a:rPr lang="en-US" altLang="zh-TW" sz="2400" dirty="0">
                <a:solidFill>
                  <a:srgbClr val="222222"/>
                </a:solidFill>
                <a:latin typeface="Times New Roman" panose="02020603050405020304" pitchFamily="18" charset="0"/>
                <a:cs typeface="Times New Roman" panose="02020603050405020304" pitchFamily="18" charset="0"/>
              </a:rPr>
              <a:t>    </a:t>
            </a:r>
          </a:p>
        </p:txBody>
      </p:sp>
      <p:sp>
        <p:nvSpPr>
          <p:cNvPr id="3" name="矩形 2"/>
          <p:cNvSpPr/>
          <p:nvPr/>
        </p:nvSpPr>
        <p:spPr>
          <a:xfrm>
            <a:off x="1181344" y="3717032"/>
            <a:ext cx="7207080" cy="830997"/>
          </a:xfrm>
          <a:prstGeom prst="rect">
            <a:avLst/>
          </a:prstGeom>
        </p:spPr>
        <p:txBody>
          <a:bodyPr wrap="square">
            <a:spAutoFit/>
          </a:bodyPr>
          <a:lstStyle/>
          <a:p>
            <a:r>
              <a:rPr lang="en-US" altLang="zh-TW" sz="1400" dirty="0">
                <a:solidFill>
                  <a:srgbClr val="222222"/>
                </a:solidFill>
                <a:latin typeface="Times New Roman" panose="02020603050405020304" pitchFamily="18" charset="0"/>
                <a:cs typeface="Times New Roman" panose="02020603050405020304" pitchFamily="18" charset="0"/>
              </a:rPr>
              <a:t>●  </a:t>
            </a:r>
            <a:r>
              <a:rPr lang="en-US" altLang="zh-TW" sz="2400" dirty="0">
                <a:solidFill>
                  <a:srgbClr val="222222"/>
                </a:solidFill>
                <a:latin typeface="Times New Roman" panose="02020603050405020304" pitchFamily="18" charset="0"/>
                <a:cs typeface="Times New Roman" panose="02020603050405020304" pitchFamily="18" charset="0"/>
              </a:rPr>
              <a:t>In each generation, we generate 10 new chromosomes  and weed out the poor chromosomes with bad fitness.  </a:t>
            </a:r>
            <a:endParaRPr lang="zh-TW" altLang="en-US" sz="2400" dirty="0"/>
          </a:p>
        </p:txBody>
      </p:sp>
    </p:spTree>
    <p:extLst>
      <p:ext uri="{BB962C8B-B14F-4D97-AF65-F5344CB8AC3E}">
        <p14:creationId xmlns:p14="http://schemas.microsoft.com/office/powerpoint/2010/main" val="295693819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字方塊 10">
            <a:extLst>
              <a:ext uri="{FF2B5EF4-FFF2-40B4-BE49-F238E27FC236}">
                <a16:creationId xmlns:a16="http://schemas.microsoft.com/office/drawing/2014/main" id="{F7024DF5-78FF-4A3F-B7F4-E9879D39926E}"/>
              </a:ext>
            </a:extLst>
          </p:cNvPr>
          <p:cNvSpPr txBox="1"/>
          <p:nvPr/>
        </p:nvSpPr>
        <p:spPr>
          <a:xfrm>
            <a:off x="105856" y="-41921"/>
            <a:ext cx="8755811" cy="707886"/>
          </a:xfrm>
          <a:prstGeom prst="rect">
            <a:avLst/>
          </a:prstGeom>
          <a:noFill/>
        </p:spPr>
        <p:txBody>
          <a:bodyPr wrap="square" rtlCol="0">
            <a:spAutoFit/>
          </a:bodyPr>
          <a:lstStyle/>
          <a:p>
            <a:r>
              <a:rPr lang="en-US" altLang="zh-TW" sz="4000" b="1" dirty="0">
                <a:latin typeface="Times New Roman" panose="02020603050405020304" pitchFamily="18" charset="0"/>
                <a:cs typeface="Times New Roman" panose="02020603050405020304" pitchFamily="18" charset="0"/>
              </a:rPr>
              <a:t>Our Method</a:t>
            </a:r>
            <a:endParaRPr lang="zh-TW" altLang="en-US" sz="4000" b="1" dirty="0">
              <a:latin typeface="Times New Roman" panose="02020603050405020304" pitchFamily="18" charset="0"/>
              <a:cs typeface="Times New Roman" panose="02020603050405020304" pitchFamily="18" charset="0"/>
            </a:endParaRPr>
          </a:p>
        </p:txBody>
      </p:sp>
      <p:grpSp>
        <p:nvGrpSpPr>
          <p:cNvPr id="28" name="群組 27">
            <a:extLst>
              <a:ext uri="{FF2B5EF4-FFF2-40B4-BE49-F238E27FC236}">
                <a16:creationId xmlns:a16="http://schemas.microsoft.com/office/drawing/2014/main" id="{BC1FCE0D-59C8-4FEF-A012-225EFD5EA818}"/>
              </a:ext>
            </a:extLst>
          </p:cNvPr>
          <p:cNvGrpSpPr/>
          <p:nvPr/>
        </p:nvGrpSpPr>
        <p:grpSpPr>
          <a:xfrm>
            <a:off x="2832954" y="1351036"/>
            <a:ext cx="3273604" cy="3176595"/>
            <a:chOff x="4591664" y="1040149"/>
            <a:chExt cx="3273604" cy="2979002"/>
          </a:xfrm>
        </p:grpSpPr>
        <p:sp>
          <p:nvSpPr>
            <p:cNvPr id="29" name="矩形 28">
              <a:extLst>
                <a:ext uri="{FF2B5EF4-FFF2-40B4-BE49-F238E27FC236}">
                  <a16:creationId xmlns:a16="http://schemas.microsoft.com/office/drawing/2014/main" id="{E2F3E584-786D-4C2D-A31B-91E83AD67933}"/>
                </a:ext>
              </a:extLst>
            </p:cNvPr>
            <p:cNvSpPr/>
            <p:nvPr/>
          </p:nvSpPr>
          <p:spPr>
            <a:xfrm>
              <a:off x="5453213" y="1040149"/>
              <a:ext cx="2092569" cy="536331"/>
            </a:xfrm>
            <a:prstGeom prst="rect">
              <a:avLst/>
            </a:prstGeom>
            <a:solidFill>
              <a:schemeClr val="bg1"/>
            </a:solidFill>
            <a:ln w="19050">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TW" sz="1600" dirty="0">
                  <a:ln w="0"/>
                  <a:solidFill>
                    <a:schemeClr val="tx1"/>
                  </a:solidFill>
                  <a:latin typeface="Times New Roman" panose="02020603050405020304" pitchFamily="18" charset="0"/>
                  <a:ea typeface="標楷體" panose="03000509000000000000" pitchFamily="65" charset="-120"/>
                </a:rPr>
                <a:t>27 scoring matrices</a:t>
              </a:r>
            </a:p>
            <a:p>
              <a:pPr algn="ctr"/>
              <a:r>
                <a:rPr lang="en-US" altLang="zh-TW" sz="1600" dirty="0">
                  <a:ln w="0"/>
                  <a:solidFill>
                    <a:schemeClr val="tx1"/>
                  </a:solidFill>
                  <a:latin typeface="Times New Roman" panose="02020603050405020304" pitchFamily="18" charset="0"/>
                  <a:ea typeface="標楷體" panose="03000509000000000000" pitchFamily="65" charset="-120"/>
                </a:rPr>
                <a:t>(23 x 23 matrix)</a:t>
              </a:r>
              <a:endParaRPr lang="zh-TW" altLang="en-US" sz="1600" dirty="0">
                <a:ln w="0"/>
                <a:solidFill>
                  <a:schemeClr val="tx1"/>
                </a:solidFill>
                <a:latin typeface="Times New Roman" panose="02020603050405020304" pitchFamily="18" charset="0"/>
                <a:ea typeface="標楷體" panose="03000509000000000000" pitchFamily="65" charset="-120"/>
              </a:endParaRPr>
            </a:p>
          </p:txBody>
        </p:sp>
        <p:sp>
          <p:nvSpPr>
            <p:cNvPr id="30" name="矩形 29">
              <a:extLst>
                <a:ext uri="{FF2B5EF4-FFF2-40B4-BE49-F238E27FC236}">
                  <a16:creationId xmlns:a16="http://schemas.microsoft.com/office/drawing/2014/main" id="{819B1614-707E-4479-86D1-1D5B6887AD39}"/>
                </a:ext>
              </a:extLst>
            </p:cNvPr>
            <p:cNvSpPr/>
            <p:nvPr/>
          </p:nvSpPr>
          <p:spPr>
            <a:xfrm>
              <a:off x="5466615" y="2064303"/>
              <a:ext cx="2092569" cy="531932"/>
            </a:xfrm>
            <a:prstGeom prst="rect">
              <a:avLst/>
            </a:prstGeom>
            <a:solidFill>
              <a:schemeClr val="bg1"/>
            </a:solidFill>
            <a:ln w="19050">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TW" sz="1600" dirty="0">
                  <a:ln w="0"/>
                  <a:solidFill>
                    <a:schemeClr val="tx1"/>
                  </a:solidFill>
                  <a:latin typeface="Times New Roman" panose="02020603050405020304" pitchFamily="18" charset="0"/>
                  <a:ea typeface="標楷體" panose="03000509000000000000" pitchFamily="65" charset="-120"/>
                </a:rPr>
                <a:t>Calculating fitness and</a:t>
              </a:r>
            </a:p>
            <a:p>
              <a:pPr algn="ctr"/>
              <a:r>
                <a:rPr lang="en-US" altLang="zh-TW" sz="1600" dirty="0">
                  <a:ln w="0"/>
                  <a:solidFill>
                    <a:schemeClr val="tx1"/>
                  </a:solidFill>
                  <a:latin typeface="Times New Roman" panose="02020603050405020304" pitchFamily="18" charset="0"/>
                  <a:ea typeface="標楷體" panose="03000509000000000000" pitchFamily="65" charset="-120"/>
                </a:rPr>
                <a:t>evaluation</a:t>
              </a:r>
              <a:endParaRPr lang="zh-TW" altLang="en-US" sz="1600" dirty="0">
                <a:ln w="0"/>
                <a:solidFill>
                  <a:schemeClr val="tx1"/>
                </a:solidFill>
                <a:latin typeface="Times New Roman" panose="02020603050405020304" pitchFamily="18" charset="0"/>
                <a:ea typeface="標楷體" panose="03000509000000000000" pitchFamily="65" charset="-120"/>
              </a:endParaRPr>
            </a:p>
          </p:txBody>
        </p:sp>
        <p:sp>
          <p:nvSpPr>
            <p:cNvPr id="32" name="流程圖: 決策 31">
              <a:extLst>
                <a:ext uri="{FF2B5EF4-FFF2-40B4-BE49-F238E27FC236}">
                  <a16:creationId xmlns:a16="http://schemas.microsoft.com/office/drawing/2014/main" id="{8A473485-93C9-4191-820F-33DF42CD5094}"/>
                </a:ext>
              </a:extLst>
            </p:cNvPr>
            <p:cNvSpPr/>
            <p:nvPr/>
          </p:nvSpPr>
          <p:spPr>
            <a:xfrm>
              <a:off x="5156684" y="2917579"/>
              <a:ext cx="2708584" cy="861172"/>
            </a:xfrm>
            <a:prstGeom prst="flowChartDecision">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600" dirty="0">
                  <a:ln w="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Termination condition?</a:t>
              </a:r>
              <a:endParaRPr lang="zh-TW" altLang="en-US" sz="1600" dirty="0">
                <a:ln w="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3" name="文字方塊 32">
              <a:extLst>
                <a:ext uri="{FF2B5EF4-FFF2-40B4-BE49-F238E27FC236}">
                  <a16:creationId xmlns:a16="http://schemas.microsoft.com/office/drawing/2014/main" id="{D9DF1D88-7B5F-4CB7-8853-8870F90DE093}"/>
                </a:ext>
              </a:extLst>
            </p:cNvPr>
            <p:cNvSpPr txBox="1"/>
            <p:nvPr/>
          </p:nvSpPr>
          <p:spPr>
            <a:xfrm>
              <a:off x="4591664" y="2949317"/>
              <a:ext cx="615679" cy="317495"/>
            </a:xfrm>
            <a:prstGeom prst="rect">
              <a:avLst/>
            </a:prstGeom>
            <a:noFill/>
          </p:spPr>
          <p:txBody>
            <a:bodyPr wrap="square" rtlCol="0">
              <a:spAutoFit/>
            </a:bodyPr>
            <a:lstStyle/>
            <a:p>
              <a:r>
                <a:rPr lang="en-US" altLang="zh-TW" sz="1600" b="1" dirty="0">
                  <a:latin typeface="Times New Roman" panose="02020603050405020304" pitchFamily="18" charset="0"/>
                  <a:ea typeface="標楷體" panose="03000509000000000000" pitchFamily="65" charset="-120"/>
                </a:rPr>
                <a:t>Yes</a:t>
              </a:r>
              <a:endParaRPr lang="zh-TW" altLang="en-US" sz="1600" b="1" dirty="0">
                <a:latin typeface="Times New Roman" panose="02020603050405020304" pitchFamily="18" charset="0"/>
                <a:ea typeface="標楷體" panose="03000509000000000000" pitchFamily="65" charset="-120"/>
              </a:endParaRPr>
            </a:p>
          </p:txBody>
        </p:sp>
        <p:sp>
          <p:nvSpPr>
            <p:cNvPr id="34" name="文字方塊 33">
              <a:extLst>
                <a:ext uri="{FF2B5EF4-FFF2-40B4-BE49-F238E27FC236}">
                  <a16:creationId xmlns:a16="http://schemas.microsoft.com/office/drawing/2014/main" id="{B9F726CC-BC90-4F40-A451-0ED17B2BF125}"/>
                </a:ext>
              </a:extLst>
            </p:cNvPr>
            <p:cNvSpPr txBox="1"/>
            <p:nvPr/>
          </p:nvSpPr>
          <p:spPr>
            <a:xfrm>
              <a:off x="6518424" y="3701656"/>
              <a:ext cx="509953" cy="317495"/>
            </a:xfrm>
            <a:prstGeom prst="rect">
              <a:avLst/>
            </a:prstGeom>
            <a:noFill/>
          </p:spPr>
          <p:txBody>
            <a:bodyPr wrap="square" rtlCol="0">
              <a:spAutoFit/>
            </a:bodyPr>
            <a:lstStyle/>
            <a:p>
              <a:r>
                <a:rPr lang="en-US" altLang="zh-TW" sz="1600" b="1" dirty="0">
                  <a:latin typeface="Times New Roman" panose="02020603050405020304" pitchFamily="18" charset="0"/>
                  <a:ea typeface="標楷體" panose="03000509000000000000" pitchFamily="65" charset="-120"/>
                </a:rPr>
                <a:t>No</a:t>
              </a:r>
              <a:endParaRPr lang="zh-TW" altLang="en-US" sz="1600" b="1" dirty="0">
                <a:latin typeface="Times New Roman" panose="02020603050405020304" pitchFamily="18" charset="0"/>
                <a:ea typeface="標楷體" panose="03000509000000000000" pitchFamily="65" charset="-120"/>
              </a:endParaRPr>
            </a:p>
          </p:txBody>
        </p:sp>
      </p:grpSp>
      <p:cxnSp>
        <p:nvCxnSpPr>
          <p:cNvPr id="35" name="直線接點 34">
            <a:extLst>
              <a:ext uri="{FF2B5EF4-FFF2-40B4-BE49-F238E27FC236}">
                <a16:creationId xmlns:a16="http://schemas.microsoft.com/office/drawing/2014/main" id="{4E88B281-E5C1-4AF6-ADD3-9F551834CDFA}"/>
              </a:ext>
            </a:extLst>
          </p:cNvPr>
          <p:cNvCxnSpPr>
            <a:cxnSpLocks/>
            <a:stCxn id="48" idx="3"/>
          </p:cNvCxnSpPr>
          <p:nvPr/>
        </p:nvCxnSpPr>
        <p:spPr>
          <a:xfrm>
            <a:off x="5779255" y="6394133"/>
            <a:ext cx="1263148" cy="0"/>
          </a:xfrm>
          <a:prstGeom prst="line">
            <a:avLst/>
          </a:prstGeom>
          <a:ln w="2540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36" name="直線接點 35">
            <a:extLst>
              <a:ext uri="{FF2B5EF4-FFF2-40B4-BE49-F238E27FC236}">
                <a16:creationId xmlns:a16="http://schemas.microsoft.com/office/drawing/2014/main" id="{EBD12B23-1977-4CEB-99A0-B0D7D6CC2C3A}"/>
              </a:ext>
            </a:extLst>
          </p:cNvPr>
          <p:cNvCxnSpPr>
            <a:cxnSpLocks/>
            <a:stCxn id="41" idx="0"/>
          </p:cNvCxnSpPr>
          <p:nvPr/>
        </p:nvCxnSpPr>
        <p:spPr>
          <a:xfrm flipH="1" flipV="1">
            <a:off x="7042403" y="2726728"/>
            <a:ext cx="1" cy="1462350"/>
          </a:xfrm>
          <a:prstGeom prst="line">
            <a:avLst/>
          </a:prstGeom>
          <a:ln w="2540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37" name="直線單箭頭接點 36">
            <a:extLst>
              <a:ext uri="{FF2B5EF4-FFF2-40B4-BE49-F238E27FC236}">
                <a16:creationId xmlns:a16="http://schemas.microsoft.com/office/drawing/2014/main" id="{35CDEACD-2621-4718-A7B5-13EAF73C1120}"/>
              </a:ext>
            </a:extLst>
          </p:cNvPr>
          <p:cNvCxnSpPr>
            <a:cxnSpLocks/>
          </p:cNvCxnSpPr>
          <p:nvPr/>
        </p:nvCxnSpPr>
        <p:spPr>
          <a:xfrm flipH="1">
            <a:off x="5800474" y="2726728"/>
            <a:ext cx="1241929" cy="3788"/>
          </a:xfrm>
          <a:prstGeom prst="straightConnector1">
            <a:avLst/>
          </a:prstGeom>
          <a:ln w="25400">
            <a:tailEnd type="triangle"/>
          </a:ln>
          <a:effectLst/>
        </p:spPr>
        <p:style>
          <a:lnRef idx="2">
            <a:schemeClr val="dk1"/>
          </a:lnRef>
          <a:fillRef idx="0">
            <a:schemeClr val="dk1"/>
          </a:fillRef>
          <a:effectRef idx="1">
            <a:schemeClr val="dk1"/>
          </a:effectRef>
          <a:fontRef idx="minor">
            <a:schemeClr val="tx1"/>
          </a:fontRef>
        </p:style>
      </p:cxnSp>
      <p:cxnSp>
        <p:nvCxnSpPr>
          <p:cNvPr id="38" name="直線單箭頭接點 37">
            <a:extLst>
              <a:ext uri="{FF2B5EF4-FFF2-40B4-BE49-F238E27FC236}">
                <a16:creationId xmlns:a16="http://schemas.microsoft.com/office/drawing/2014/main" id="{0A7BA3E2-6E69-4CD8-8BD9-166932DD814C}"/>
              </a:ext>
            </a:extLst>
          </p:cNvPr>
          <p:cNvCxnSpPr>
            <a:endCxn id="29" idx="0"/>
          </p:cNvCxnSpPr>
          <p:nvPr/>
        </p:nvCxnSpPr>
        <p:spPr>
          <a:xfrm>
            <a:off x="4740787" y="1104477"/>
            <a:ext cx="1" cy="24655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線單箭頭接點 38">
            <a:extLst>
              <a:ext uri="{FF2B5EF4-FFF2-40B4-BE49-F238E27FC236}">
                <a16:creationId xmlns:a16="http://schemas.microsoft.com/office/drawing/2014/main" id="{272A49A9-2FC5-41B8-88DE-FE7A0F40EEDA}"/>
              </a:ext>
            </a:extLst>
          </p:cNvPr>
          <p:cNvCxnSpPr>
            <a:cxnSpLocks/>
            <a:endCxn id="32" idx="0"/>
          </p:cNvCxnSpPr>
          <p:nvPr/>
        </p:nvCxnSpPr>
        <p:spPr>
          <a:xfrm>
            <a:off x="4752266" y="3017960"/>
            <a:ext cx="0" cy="33503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線單箭頭接點 39">
            <a:extLst>
              <a:ext uri="{FF2B5EF4-FFF2-40B4-BE49-F238E27FC236}">
                <a16:creationId xmlns:a16="http://schemas.microsoft.com/office/drawing/2014/main" id="{6734EFCA-B69E-4620-BBD2-BB49FBE2CDA2}"/>
              </a:ext>
            </a:extLst>
          </p:cNvPr>
          <p:cNvCxnSpPr>
            <a:cxnSpLocks/>
            <a:stCxn id="32" idx="2"/>
          </p:cNvCxnSpPr>
          <p:nvPr/>
        </p:nvCxnSpPr>
        <p:spPr>
          <a:xfrm>
            <a:off x="4752266" y="4271286"/>
            <a:ext cx="0" cy="39169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矩形 40">
            <a:extLst>
              <a:ext uri="{FF2B5EF4-FFF2-40B4-BE49-F238E27FC236}">
                <a16:creationId xmlns:a16="http://schemas.microsoft.com/office/drawing/2014/main" id="{9E3DF182-8622-4EA1-AC78-23885483524E}"/>
              </a:ext>
            </a:extLst>
          </p:cNvPr>
          <p:cNvSpPr/>
          <p:nvPr/>
        </p:nvSpPr>
        <p:spPr>
          <a:xfrm>
            <a:off x="5996119" y="4189078"/>
            <a:ext cx="2092569" cy="571905"/>
          </a:xfrm>
          <a:prstGeom prst="rect">
            <a:avLst/>
          </a:prstGeom>
          <a:solidFill>
            <a:schemeClr val="bg1"/>
          </a:solidFill>
          <a:ln w="19050">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TW" sz="1600" dirty="0">
                <a:ln w="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New population</a:t>
            </a:r>
          </a:p>
        </p:txBody>
      </p:sp>
      <p:cxnSp>
        <p:nvCxnSpPr>
          <p:cNvPr id="42" name="直線單箭頭接點 41">
            <a:extLst>
              <a:ext uri="{FF2B5EF4-FFF2-40B4-BE49-F238E27FC236}">
                <a16:creationId xmlns:a16="http://schemas.microsoft.com/office/drawing/2014/main" id="{866AA89E-FA3E-4592-B3C4-E45F09991F90}"/>
              </a:ext>
            </a:extLst>
          </p:cNvPr>
          <p:cNvCxnSpPr>
            <a:cxnSpLocks/>
            <a:stCxn id="29" idx="2"/>
          </p:cNvCxnSpPr>
          <p:nvPr/>
        </p:nvCxnSpPr>
        <p:spPr>
          <a:xfrm flipH="1">
            <a:off x="4740785" y="1922941"/>
            <a:ext cx="3" cy="51783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矩形 42">
            <a:extLst>
              <a:ext uri="{FF2B5EF4-FFF2-40B4-BE49-F238E27FC236}">
                <a16:creationId xmlns:a16="http://schemas.microsoft.com/office/drawing/2014/main" id="{E2FC9917-7487-4C60-A5F2-A7210C61C926}"/>
              </a:ext>
            </a:extLst>
          </p:cNvPr>
          <p:cNvSpPr/>
          <p:nvPr/>
        </p:nvSpPr>
        <p:spPr>
          <a:xfrm>
            <a:off x="3707904" y="594961"/>
            <a:ext cx="2092569" cy="495985"/>
          </a:xfrm>
          <a:prstGeom prst="rect">
            <a:avLst/>
          </a:prstGeom>
          <a:solidFill>
            <a:schemeClr val="bg1"/>
          </a:solidFill>
          <a:ln w="19050">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TW" sz="1600" dirty="0">
                <a:ln w="0"/>
                <a:solidFill>
                  <a:schemeClr val="tx1"/>
                </a:solidFill>
                <a:latin typeface="Times New Roman" panose="02020603050405020304" pitchFamily="18" charset="0"/>
                <a:ea typeface="標楷體" panose="03000509000000000000" pitchFamily="65" charset="-120"/>
              </a:rPr>
              <a:t>Initial population</a:t>
            </a:r>
            <a:endParaRPr lang="zh-TW" altLang="en-US" sz="1600" dirty="0">
              <a:ln w="0"/>
              <a:solidFill>
                <a:schemeClr val="tx1"/>
              </a:solidFill>
              <a:latin typeface="Times New Roman" panose="02020603050405020304" pitchFamily="18" charset="0"/>
              <a:ea typeface="標楷體" panose="03000509000000000000" pitchFamily="65" charset="-120"/>
            </a:endParaRPr>
          </a:p>
        </p:txBody>
      </p:sp>
      <p:sp>
        <p:nvSpPr>
          <p:cNvPr id="44" name="矩形 43">
            <a:extLst>
              <a:ext uri="{FF2B5EF4-FFF2-40B4-BE49-F238E27FC236}">
                <a16:creationId xmlns:a16="http://schemas.microsoft.com/office/drawing/2014/main" id="{E89229D7-06CE-4EF6-8E4C-668F21112A4E}"/>
              </a:ext>
            </a:extLst>
          </p:cNvPr>
          <p:cNvSpPr/>
          <p:nvPr/>
        </p:nvSpPr>
        <p:spPr>
          <a:xfrm>
            <a:off x="3694500" y="4662985"/>
            <a:ext cx="2092569" cy="571905"/>
          </a:xfrm>
          <a:prstGeom prst="rect">
            <a:avLst/>
          </a:prstGeom>
          <a:solidFill>
            <a:schemeClr val="bg1"/>
          </a:solidFill>
          <a:ln w="19050">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TW" sz="1600" dirty="0">
                <a:ln w="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Selection</a:t>
            </a:r>
          </a:p>
        </p:txBody>
      </p:sp>
      <p:cxnSp>
        <p:nvCxnSpPr>
          <p:cNvPr id="45" name="直線單箭頭接點 44">
            <a:extLst>
              <a:ext uri="{FF2B5EF4-FFF2-40B4-BE49-F238E27FC236}">
                <a16:creationId xmlns:a16="http://schemas.microsoft.com/office/drawing/2014/main" id="{6D188431-7C8C-44B0-B3AB-28826B0FDD40}"/>
              </a:ext>
            </a:extLst>
          </p:cNvPr>
          <p:cNvCxnSpPr>
            <a:cxnSpLocks/>
          </p:cNvCxnSpPr>
          <p:nvPr/>
        </p:nvCxnSpPr>
        <p:spPr>
          <a:xfrm>
            <a:off x="4752266" y="5239117"/>
            <a:ext cx="0" cy="21890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矩形 45">
            <a:extLst>
              <a:ext uri="{FF2B5EF4-FFF2-40B4-BE49-F238E27FC236}">
                <a16:creationId xmlns:a16="http://schemas.microsoft.com/office/drawing/2014/main" id="{5BD5CDD7-DD54-452D-8BDA-D34EEB04350F}"/>
              </a:ext>
            </a:extLst>
          </p:cNvPr>
          <p:cNvSpPr/>
          <p:nvPr/>
        </p:nvSpPr>
        <p:spPr>
          <a:xfrm>
            <a:off x="3694499" y="5458019"/>
            <a:ext cx="2092569" cy="466591"/>
          </a:xfrm>
          <a:prstGeom prst="rect">
            <a:avLst/>
          </a:prstGeom>
          <a:solidFill>
            <a:schemeClr val="bg1"/>
          </a:solidFill>
          <a:ln w="19050">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TW" sz="1600" dirty="0">
                <a:ln w="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Crossover</a:t>
            </a:r>
          </a:p>
        </p:txBody>
      </p:sp>
      <p:cxnSp>
        <p:nvCxnSpPr>
          <p:cNvPr id="47" name="直線單箭頭接點 46">
            <a:extLst>
              <a:ext uri="{FF2B5EF4-FFF2-40B4-BE49-F238E27FC236}">
                <a16:creationId xmlns:a16="http://schemas.microsoft.com/office/drawing/2014/main" id="{348F091D-801B-4B01-B4BF-5F13BC0A630D}"/>
              </a:ext>
            </a:extLst>
          </p:cNvPr>
          <p:cNvCxnSpPr>
            <a:cxnSpLocks/>
            <a:stCxn id="46" idx="2"/>
          </p:cNvCxnSpPr>
          <p:nvPr/>
        </p:nvCxnSpPr>
        <p:spPr>
          <a:xfrm>
            <a:off x="4740784" y="5924610"/>
            <a:ext cx="0" cy="31445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矩形 47">
            <a:extLst>
              <a:ext uri="{FF2B5EF4-FFF2-40B4-BE49-F238E27FC236}">
                <a16:creationId xmlns:a16="http://schemas.microsoft.com/office/drawing/2014/main" id="{AC6F9907-7462-4774-87C8-07215A9B0CDA}"/>
              </a:ext>
            </a:extLst>
          </p:cNvPr>
          <p:cNvSpPr/>
          <p:nvPr/>
        </p:nvSpPr>
        <p:spPr>
          <a:xfrm>
            <a:off x="3686686" y="6143512"/>
            <a:ext cx="2092569" cy="501242"/>
          </a:xfrm>
          <a:prstGeom prst="rect">
            <a:avLst/>
          </a:prstGeom>
          <a:solidFill>
            <a:schemeClr val="bg1"/>
          </a:solidFill>
          <a:ln w="19050">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TW" sz="1600" dirty="0">
                <a:ln w="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Mutation</a:t>
            </a:r>
          </a:p>
        </p:txBody>
      </p:sp>
      <p:cxnSp>
        <p:nvCxnSpPr>
          <p:cNvPr id="49" name="直線單箭頭接點 48">
            <a:extLst>
              <a:ext uri="{FF2B5EF4-FFF2-40B4-BE49-F238E27FC236}">
                <a16:creationId xmlns:a16="http://schemas.microsoft.com/office/drawing/2014/main" id="{C0FF6628-FC4A-42AD-9C0D-9C888820FC9C}"/>
              </a:ext>
            </a:extLst>
          </p:cNvPr>
          <p:cNvCxnSpPr>
            <a:cxnSpLocks/>
          </p:cNvCxnSpPr>
          <p:nvPr/>
        </p:nvCxnSpPr>
        <p:spPr>
          <a:xfrm flipV="1">
            <a:off x="7042403" y="4757384"/>
            <a:ext cx="0" cy="1636749"/>
          </a:xfrm>
          <a:prstGeom prst="straightConnector1">
            <a:avLst/>
          </a:prstGeom>
          <a:ln w="25400">
            <a:tailEnd type="triangle"/>
          </a:ln>
          <a:effectLst/>
        </p:spPr>
        <p:style>
          <a:lnRef idx="2">
            <a:schemeClr val="dk1"/>
          </a:lnRef>
          <a:fillRef idx="0">
            <a:schemeClr val="dk1"/>
          </a:fillRef>
          <a:effectRef idx="1">
            <a:schemeClr val="dk1"/>
          </a:effectRef>
          <a:fontRef idx="minor">
            <a:schemeClr val="tx1"/>
          </a:fontRef>
        </p:style>
      </p:cxnSp>
      <p:cxnSp>
        <p:nvCxnSpPr>
          <p:cNvPr id="50" name="直線單箭頭接點 49">
            <a:extLst>
              <a:ext uri="{FF2B5EF4-FFF2-40B4-BE49-F238E27FC236}">
                <a16:creationId xmlns:a16="http://schemas.microsoft.com/office/drawing/2014/main" id="{D6194952-88EE-49D6-8570-DF81B849B59E}"/>
              </a:ext>
            </a:extLst>
          </p:cNvPr>
          <p:cNvCxnSpPr>
            <a:cxnSpLocks/>
            <a:stCxn id="32" idx="1"/>
          </p:cNvCxnSpPr>
          <p:nvPr/>
        </p:nvCxnSpPr>
        <p:spPr>
          <a:xfrm flipH="1">
            <a:off x="2689465" y="3812140"/>
            <a:ext cx="708509"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投影片編號版面配置區 3">
            <a:extLst>
              <a:ext uri="{FF2B5EF4-FFF2-40B4-BE49-F238E27FC236}">
                <a16:creationId xmlns:a16="http://schemas.microsoft.com/office/drawing/2014/main" id="{6804B62D-78E2-45DC-9202-43F9D4C9E045}"/>
              </a:ext>
            </a:extLst>
          </p:cNvPr>
          <p:cNvSpPr>
            <a:spLocks noGrp="1"/>
          </p:cNvSpPr>
          <p:nvPr>
            <p:ph type="sldNum" sz="quarter" idx="12"/>
          </p:nvPr>
        </p:nvSpPr>
        <p:spPr>
          <a:xfrm>
            <a:off x="6553200" y="6356350"/>
            <a:ext cx="2133600" cy="365125"/>
          </a:xfrm>
        </p:spPr>
        <p:txBody>
          <a:bodyPr/>
          <a:lstStyle/>
          <a:p>
            <a:fld id="{04C04D6A-2E29-441A-A244-9F1014899F6D}" type="slidenum">
              <a:rPr lang="zh-TW" altLang="en-US" sz="1600" smtClean="0"/>
              <a:pPr/>
              <a:t>17</a:t>
            </a:fld>
            <a:endParaRPr lang="zh-TW" altLang="en-US" dirty="0"/>
          </a:p>
        </p:txBody>
      </p:sp>
      <p:sp>
        <p:nvSpPr>
          <p:cNvPr id="51" name="流程圖: 結束點 50">
            <a:extLst>
              <a:ext uri="{FF2B5EF4-FFF2-40B4-BE49-F238E27FC236}">
                <a16:creationId xmlns:a16="http://schemas.microsoft.com/office/drawing/2014/main" id="{800104A6-D4A0-4341-A84C-8736711CADE7}"/>
              </a:ext>
            </a:extLst>
          </p:cNvPr>
          <p:cNvSpPr/>
          <p:nvPr/>
        </p:nvSpPr>
        <p:spPr>
          <a:xfrm>
            <a:off x="799316" y="3481654"/>
            <a:ext cx="1872206" cy="707423"/>
          </a:xfrm>
          <a:prstGeom prst="flowChartTermina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2" name="矩形 51">
            <a:extLst>
              <a:ext uri="{FF2B5EF4-FFF2-40B4-BE49-F238E27FC236}">
                <a16:creationId xmlns:a16="http://schemas.microsoft.com/office/drawing/2014/main" id="{BB548028-C6A7-4C26-B95A-7090708BDDF7}"/>
              </a:ext>
            </a:extLst>
          </p:cNvPr>
          <p:cNvSpPr/>
          <p:nvPr/>
        </p:nvSpPr>
        <p:spPr>
          <a:xfrm>
            <a:off x="1433208" y="3650699"/>
            <a:ext cx="556563" cy="369332"/>
          </a:xfrm>
          <a:prstGeom prst="rect">
            <a:avLst/>
          </a:prstGeom>
        </p:spPr>
        <p:txBody>
          <a:bodyPr wrap="none">
            <a:spAutoFit/>
          </a:bodyPr>
          <a:lstStyle/>
          <a:p>
            <a:r>
              <a:rPr lang="en-US" altLang="zh-TW" dirty="0">
                <a:ln w="0"/>
                <a:latin typeface="Times New Roman" panose="02020603050405020304" pitchFamily="18" charset="0"/>
                <a:ea typeface="標楷體" panose="03000509000000000000" pitchFamily="65" charset="-120"/>
              </a:rPr>
              <a:t>End</a:t>
            </a:r>
            <a:endParaRPr lang="zh-TW" altLang="en-US" dirty="0"/>
          </a:p>
        </p:txBody>
      </p:sp>
    </p:spTree>
    <p:extLst>
      <p:ext uri="{BB962C8B-B14F-4D97-AF65-F5344CB8AC3E}">
        <p14:creationId xmlns:p14="http://schemas.microsoft.com/office/powerpoint/2010/main" val="375463169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683D8CF0-F715-4CE9-ABD2-A8B849B8CD49}"/>
              </a:ext>
            </a:extLst>
          </p:cNvPr>
          <p:cNvSpPr/>
          <p:nvPr/>
        </p:nvSpPr>
        <p:spPr>
          <a:xfrm>
            <a:off x="304525" y="879953"/>
            <a:ext cx="4866124" cy="18002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2   20</a:t>
            </a:r>
            <a:endParaRPr lang="zh-TW" altLang="en-US" dirty="0"/>
          </a:p>
        </p:txBody>
      </p:sp>
      <p:sp>
        <p:nvSpPr>
          <p:cNvPr id="11" name="文字方塊 10">
            <a:extLst>
              <a:ext uri="{FF2B5EF4-FFF2-40B4-BE49-F238E27FC236}">
                <a16:creationId xmlns:a16="http://schemas.microsoft.com/office/drawing/2014/main" id="{F7024DF5-78FF-4A3F-B7F4-E9879D39926E}"/>
              </a:ext>
            </a:extLst>
          </p:cNvPr>
          <p:cNvSpPr txBox="1"/>
          <p:nvPr/>
        </p:nvSpPr>
        <p:spPr>
          <a:xfrm>
            <a:off x="188616" y="91827"/>
            <a:ext cx="8755811" cy="707886"/>
          </a:xfrm>
          <a:prstGeom prst="rect">
            <a:avLst/>
          </a:prstGeom>
          <a:noFill/>
        </p:spPr>
        <p:txBody>
          <a:bodyPr wrap="square" rtlCol="0">
            <a:spAutoFit/>
          </a:bodyPr>
          <a:lstStyle/>
          <a:p>
            <a:r>
              <a:rPr lang="en-US" altLang="zh-TW" sz="4000" b="1" dirty="0">
                <a:latin typeface="Times New Roman" panose="02020603050405020304" pitchFamily="18" charset="0"/>
                <a:cs typeface="Times New Roman" panose="02020603050405020304" pitchFamily="18" charset="0"/>
              </a:rPr>
              <a:t>Tournament Selection</a:t>
            </a:r>
            <a:endParaRPr lang="zh-TW" altLang="en-US" sz="4000" dirty="0">
              <a:latin typeface="Times New Roman" panose="02020603050405020304" pitchFamily="18" charset="0"/>
              <a:cs typeface="Times New Roman" panose="02020603050405020304" pitchFamily="18" charset="0"/>
            </a:endParaRPr>
          </a:p>
        </p:txBody>
      </p:sp>
      <p:sp>
        <p:nvSpPr>
          <p:cNvPr id="4" name="橢圓 3">
            <a:extLst>
              <a:ext uri="{FF2B5EF4-FFF2-40B4-BE49-F238E27FC236}">
                <a16:creationId xmlns:a16="http://schemas.microsoft.com/office/drawing/2014/main" id="{D61187F2-966E-4566-9052-7DD6A8E40D2E}"/>
              </a:ext>
            </a:extLst>
          </p:cNvPr>
          <p:cNvSpPr/>
          <p:nvPr/>
        </p:nvSpPr>
        <p:spPr>
          <a:xfrm>
            <a:off x="608083" y="970008"/>
            <a:ext cx="502587" cy="44367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p:txBody>
      </p:sp>
      <p:sp>
        <p:nvSpPr>
          <p:cNvPr id="5" name="橢圓 4">
            <a:extLst>
              <a:ext uri="{FF2B5EF4-FFF2-40B4-BE49-F238E27FC236}">
                <a16:creationId xmlns:a16="http://schemas.microsoft.com/office/drawing/2014/main" id="{8510CBF4-1C8A-4147-8EBF-41E36D786A33}"/>
              </a:ext>
            </a:extLst>
          </p:cNvPr>
          <p:cNvSpPr/>
          <p:nvPr/>
        </p:nvSpPr>
        <p:spPr>
          <a:xfrm>
            <a:off x="1522003" y="970008"/>
            <a:ext cx="502587" cy="44367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p:txBody>
      </p:sp>
      <p:sp>
        <p:nvSpPr>
          <p:cNvPr id="6" name="橢圓 5">
            <a:extLst>
              <a:ext uri="{FF2B5EF4-FFF2-40B4-BE49-F238E27FC236}">
                <a16:creationId xmlns:a16="http://schemas.microsoft.com/office/drawing/2014/main" id="{FE07C8BF-6594-43CA-A605-C9BD8AE08D53}"/>
              </a:ext>
            </a:extLst>
          </p:cNvPr>
          <p:cNvSpPr/>
          <p:nvPr/>
        </p:nvSpPr>
        <p:spPr>
          <a:xfrm>
            <a:off x="2459249" y="983774"/>
            <a:ext cx="502587" cy="44367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p:txBody>
      </p:sp>
      <p:sp>
        <p:nvSpPr>
          <p:cNvPr id="7" name="橢圓 6">
            <a:extLst>
              <a:ext uri="{FF2B5EF4-FFF2-40B4-BE49-F238E27FC236}">
                <a16:creationId xmlns:a16="http://schemas.microsoft.com/office/drawing/2014/main" id="{1F640F73-2D7F-43E5-9F71-31F055C73F1A}"/>
              </a:ext>
            </a:extLst>
          </p:cNvPr>
          <p:cNvSpPr/>
          <p:nvPr/>
        </p:nvSpPr>
        <p:spPr>
          <a:xfrm>
            <a:off x="3404596" y="970008"/>
            <a:ext cx="502587" cy="44367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p:txBody>
      </p:sp>
      <p:sp>
        <p:nvSpPr>
          <p:cNvPr id="8" name="橢圓 7">
            <a:extLst>
              <a:ext uri="{FF2B5EF4-FFF2-40B4-BE49-F238E27FC236}">
                <a16:creationId xmlns:a16="http://schemas.microsoft.com/office/drawing/2014/main" id="{521DF642-CF62-4F9A-87DE-5800D9198637}"/>
              </a:ext>
            </a:extLst>
          </p:cNvPr>
          <p:cNvSpPr/>
          <p:nvPr/>
        </p:nvSpPr>
        <p:spPr>
          <a:xfrm>
            <a:off x="4349943" y="983774"/>
            <a:ext cx="502587" cy="44367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p:txBody>
      </p:sp>
      <p:cxnSp>
        <p:nvCxnSpPr>
          <p:cNvPr id="9" name="直線單箭頭接點 8">
            <a:extLst>
              <a:ext uri="{FF2B5EF4-FFF2-40B4-BE49-F238E27FC236}">
                <a16:creationId xmlns:a16="http://schemas.microsoft.com/office/drawing/2014/main" id="{603F2BD0-E07C-43E5-A7FC-6DD16B85E1A1}"/>
              </a:ext>
            </a:extLst>
          </p:cNvPr>
          <p:cNvCxnSpPr>
            <a:cxnSpLocks/>
          </p:cNvCxnSpPr>
          <p:nvPr/>
        </p:nvCxnSpPr>
        <p:spPr>
          <a:xfrm flipH="1">
            <a:off x="2178854" y="3049757"/>
            <a:ext cx="360039" cy="611772"/>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0" name="直線單箭頭接點 9">
            <a:extLst>
              <a:ext uri="{FF2B5EF4-FFF2-40B4-BE49-F238E27FC236}">
                <a16:creationId xmlns:a16="http://schemas.microsoft.com/office/drawing/2014/main" id="{26B7D2FB-D5EE-4312-B6E6-028F5A92C673}"/>
              </a:ext>
            </a:extLst>
          </p:cNvPr>
          <p:cNvCxnSpPr>
            <a:cxnSpLocks/>
          </p:cNvCxnSpPr>
          <p:nvPr/>
        </p:nvCxnSpPr>
        <p:spPr>
          <a:xfrm>
            <a:off x="3022314" y="3049757"/>
            <a:ext cx="452683" cy="611772"/>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2" name="橢圓 11">
            <a:extLst>
              <a:ext uri="{FF2B5EF4-FFF2-40B4-BE49-F238E27FC236}">
                <a16:creationId xmlns:a16="http://schemas.microsoft.com/office/drawing/2014/main" id="{4A85FF80-D23F-45E5-9A19-F78C51BF83A0}"/>
              </a:ext>
            </a:extLst>
          </p:cNvPr>
          <p:cNvSpPr/>
          <p:nvPr/>
        </p:nvSpPr>
        <p:spPr>
          <a:xfrm>
            <a:off x="1633285" y="3733602"/>
            <a:ext cx="658529" cy="6249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800" dirty="0">
                <a:latin typeface="Times New Roman" panose="02020603050405020304" pitchFamily="18" charset="0"/>
                <a:cs typeface="Times New Roman" panose="02020603050405020304" pitchFamily="18" charset="0"/>
              </a:rPr>
              <a:t>4</a:t>
            </a:r>
            <a:endParaRPr lang="zh-TW" altLang="en-US" sz="2800" dirty="0">
              <a:latin typeface="Times New Roman" panose="02020603050405020304" pitchFamily="18" charset="0"/>
              <a:cs typeface="Times New Roman" panose="02020603050405020304" pitchFamily="18" charset="0"/>
            </a:endParaRPr>
          </a:p>
        </p:txBody>
      </p:sp>
      <p:sp>
        <p:nvSpPr>
          <p:cNvPr id="13" name="橢圓 12">
            <a:extLst>
              <a:ext uri="{FF2B5EF4-FFF2-40B4-BE49-F238E27FC236}">
                <a16:creationId xmlns:a16="http://schemas.microsoft.com/office/drawing/2014/main" id="{206AC156-8122-44D6-899D-0EA74BAC9120}"/>
              </a:ext>
            </a:extLst>
          </p:cNvPr>
          <p:cNvSpPr/>
          <p:nvPr/>
        </p:nvSpPr>
        <p:spPr>
          <a:xfrm>
            <a:off x="3248656" y="3698204"/>
            <a:ext cx="658528" cy="6117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800" dirty="0">
                <a:latin typeface="Times New Roman" panose="02020603050405020304" pitchFamily="18" charset="0"/>
                <a:cs typeface="Times New Roman" panose="02020603050405020304" pitchFamily="18" charset="0"/>
              </a:rPr>
              <a:t>9</a:t>
            </a:r>
            <a:endParaRPr lang="zh-TW" altLang="en-US" sz="2800" dirty="0">
              <a:latin typeface="Times New Roman" panose="02020603050405020304" pitchFamily="18" charset="0"/>
              <a:cs typeface="Times New Roman" panose="02020603050405020304" pitchFamily="18" charset="0"/>
            </a:endParaRPr>
          </a:p>
        </p:txBody>
      </p:sp>
      <p:cxnSp>
        <p:nvCxnSpPr>
          <p:cNvPr id="14" name="直線單箭頭接點 13">
            <a:extLst>
              <a:ext uri="{FF2B5EF4-FFF2-40B4-BE49-F238E27FC236}">
                <a16:creationId xmlns:a16="http://schemas.microsoft.com/office/drawing/2014/main" id="{2C701660-A91B-4BD4-8674-59E54207FF18}"/>
              </a:ext>
            </a:extLst>
          </p:cNvPr>
          <p:cNvCxnSpPr>
            <a:cxnSpLocks/>
          </p:cNvCxnSpPr>
          <p:nvPr/>
        </p:nvCxnSpPr>
        <p:spPr>
          <a:xfrm>
            <a:off x="2765165" y="4259110"/>
            <a:ext cx="10140" cy="735133"/>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6" name="投影片編號版面配置區 3">
            <a:extLst>
              <a:ext uri="{FF2B5EF4-FFF2-40B4-BE49-F238E27FC236}">
                <a16:creationId xmlns:a16="http://schemas.microsoft.com/office/drawing/2014/main" id="{D0294F40-CFFD-4EE0-A980-26A15CC985CF}"/>
              </a:ext>
            </a:extLst>
          </p:cNvPr>
          <p:cNvSpPr>
            <a:spLocks noGrp="1"/>
          </p:cNvSpPr>
          <p:nvPr>
            <p:ph type="sldNum" sz="quarter" idx="12"/>
          </p:nvPr>
        </p:nvSpPr>
        <p:spPr>
          <a:xfrm>
            <a:off x="6553200" y="6356350"/>
            <a:ext cx="2133600" cy="365125"/>
          </a:xfrm>
        </p:spPr>
        <p:txBody>
          <a:bodyPr/>
          <a:lstStyle/>
          <a:p>
            <a:fld id="{04C04D6A-2E29-441A-A244-9F1014899F6D}" type="slidenum">
              <a:rPr lang="zh-TW" altLang="en-US" sz="1600" smtClean="0"/>
              <a:pPr/>
              <a:t>18</a:t>
            </a:fld>
            <a:endParaRPr lang="zh-TW" altLang="en-US" dirty="0"/>
          </a:p>
        </p:txBody>
      </p:sp>
      <p:sp>
        <p:nvSpPr>
          <p:cNvPr id="25" name="文字方塊 24"/>
          <p:cNvSpPr txBox="1"/>
          <p:nvPr/>
        </p:nvSpPr>
        <p:spPr>
          <a:xfrm>
            <a:off x="5388681" y="3541208"/>
            <a:ext cx="3521034" cy="707886"/>
          </a:xfrm>
          <a:prstGeom prst="rect">
            <a:avLst/>
          </a:prstGeom>
          <a:noFill/>
        </p:spPr>
        <p:txBody>
          <a:bodyPr wrap="square" rtlCol="0">
            <a:spAutoFit/>
          </a:bodyPr>
          <a:lstStyle/>
          <a:p>
            <a:r>
              <a:rPr lang="en-US" altLang="zh-TW" sz="2000" dirty="0">
                <a:latin typeface="Times New Roman" panose="02020603050405020304" pitchFamily="18" charset="0"/>
                <a:cs typeface="Times New Roman" panose="02020603050405020304" pitchFamily="18" charset="0"/>
              </a:rPr>
              <a:t>Randomly selected for a tournament </a:t>
            </a:r>
            <a:endParaRPr lang="zh-TW" altLang="en-US" sz="2000" dirty="0">
              <a:latin typeface="Times New Roman" panose="02020603050405020304" pitchFamily="18" charset="0"/>
              <a:cs typeface="Times New Roman" panose="02020603050405020304" pitchFamily="18" charset="0"/>
            </a:endParaRPr>
          </a:p>
        </p:txBody>
      </p:sp>
      <p:sp>
        <p:nvSpPr>
          <p:cNvPr id="26" name="文字方塊 25"/>
          <p:cNvSpPr txBox="1"/>
          <p:nvPr/>
        </p:nvSpPr>
        <p:spPr>
          <a:xfrm>
            <a:off x="5388681" y="1413682"/>
            <a:ext cx="3521034" cy="707886"/>
          </a:xfrm>
          <a:prstGeom prst="rect">
            <a:avLst/>
          </a:prstGeom>
          <a:noFill/>
        </p:spPr>
        <p:txBody>
          <a:bodyPr wrap="square" rtlCol="0">
            <a:spAutoFit/>
          </a:bodyPr>
          <a:lstStyle/>
          <a:p>
            <a:r>
              <a:rPr lang="en-US" altLang="zh-TW" sz="2000" dirty="0">
                <a:latin typeface="Times New Roman" panose="02020603050405020304" pitchFamily="18" charset="0"/>
                <a:cs typeface="Times New Roman" panose="02020603050405020304" pitchFamily="18" charset="0"/>
              </a:rPr>
              <a:t>Fitness score of each scoring matrices in the population</a:t>
            </a:r>
            <a:endParaRPr lang="zh-TW" altLang="en-US" sz="2000" dirty="0">
              <a:latin typeface="Times New Roman" panose="02020603050405020304" pitchFamily="18" charset="0"/>
              <a:cs typeface="Times New Roman" panose="02020603050405020304" pitchFamily="18" charset="0"/>
            </a:endParaRPr>
          </a:p>
        </p:txBody>
      </p:sp>
      <p:sp>
        <p:nvSpPr>
          <p:cNvPr id="27" name="文字方塊 26"/>
          <p:cNvSpPr txBox="1"/>
          <p:nvPr/>
        </p:nvSpPr>
        <p:spPr>
          <a:xfrm>
            <a:off x="5394953" y="5274871"/>
            <a:ext cx="3521034" cy="707886"/>
          </a:xfrm>
          <a:prstGeom prst="rect">
            <a:avLst/>
          </a:prstGeom>
          <a:noFill/>
        </p:spPr>
        <p:txBody>
          <a:bodyPr wrap="square" rtlCol="0">
            <a:spAutoFit/>
          </a:bodyPr>
          <a:lstStyle/>
          <a:p>
            <a:r>
              <a:rPr lang="en-US" altLang="zh-TW" sz="2000" dirty="0">
                <a:latin typeface="Times New Roman" panose="02020603050405020304" pitchFamily="18" charset="0"/>
                <a:cs typeface="Times New Roman" panose="02020603050405020304" pitchFamily="18" charset="0"/>
              </a:rPr>
              <a:t>Winner parent (passed on to crossover)</a:t>
            </a:r>
            <a:endParaRPr lang="zh-TW" altLang="en-US" sz="2000" dirty="0">
              <a:latin typeface="Times New Roman" panose="02020603050405020304" pitchFamily="18" charset="0"/>
              <a:cs typeface="Times New Roman" panose="02020603050405020304" pitchFamily="18" charset="0"/>
            </a:endParaRPr>
          </a:p>
        </p:txBody>
      </p:sp>
      <p:sp>
        <p:nvSpPr>
          <p:cNvPr id="23" name="橢圓 22">
            <a:extLst>
              <a:ext uri="{FF2B5EF4-FFF2-40B4-BE49-F238E27FC236}">
                <a16:creationId xmlns:a16="http://schemas.microsoft.com/office/drawing/2014/main" id="{C476FA12-BEE1-4491-B39A-55413AFEF59B}"/>
              </a:ext>
            </a:extLst>
          </p:cNvPr>
          <p:cNvSpPr/>
          <p:nvPr/>
        </p:nvSpPr>
        <p:spPr>
          <a:xfrm>
            <a:off x="602604" y="2017497"/>
            <a:ext cx="583566" cy="49632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latin typeface="Times New Roman" panose="02020603050405020304" pitchFamily="18" charset="0"/>
                <a:cs typeface="Times New Roman" panose="02020603050405020304" pitchFamily="18" charset="0"/>
              </a:rPr>
              <a:t>23</a:t>
            </a:r>
            <a:endParaRPr lang="zh-TW" altLang="en-US" dirty="0">
              <a:latin typeface="Times New Roman" panose="02020603050405020304" pitchFamily="18" charset="0"/>
              <a:cs typeface="Times New Roman" panose="02020603050405020304" pitchFamily="18" charset="0"/>
            </a:endParaRPr>
          </a:p>
        </p:txBody>
      </p:sp>
      <p:sp>
        <p:nvSpPr>
          <p:cNvPr id="24" name="橢圓 23">
            <a:extLst>
              <a:ext uri="{FF2B5EF4-FFF2-40B4-BE49-F238E27FC236}">
                <a16:creationId xmlns:a16="http://schemas.microsoft.com/office/drawing/2014/main" id="{CBA571BD-183D-47B6-B94D-8E438FF2EDE6}"/>
              </a:ext>
            </a:extLst>
          </p:cNvPr>
          <p:cNvSpPr/>
          <p:nvPr/>
        </p:nvSpPr>
        <p:spPr>
          <a:xfrm>
            <a:off x="1495413" y="2017498"/>
            <a:ext cx="583566" cy="49632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latin typeface="Times New Roman" panose="02020603050405020304" pitchFamily="18" charset="0"/>
                <a:cs typeface="Times New Roman" panose="02020603050405020304" pitchFamily="18" charset="0"/>
              </a:rPr>
              <a:t>24</a:t>
            </a:r>
            <a:endParaRPr lang="zh-TW" altLang="en-US" dirty="0">
              <a:latin typeface="Times New Roman" panose="02020603050405020304" pitchFamily="18" charset="0"/>
              <a:cs typeface="Times New Roman" panose="02020603050405020304" pitchFamily="18" charset="0"/>
            </a:endParaRPr>
          </a:p>
        </p:txBody>
      </p:sp>
      <p:sp>
        <p:nvSpPr>
          <p:cNvPr id="28" name="橢圓 27">
            <a:extLst>
              <a:ext uri="{FF2B5EF4-FFF2-40B4-BE49-F238E27FC236}">
                <a16:creationId xmlns:a16="http://schemas.microsoft.com/office/drawing/2014/main" id="{E3C9988B-E433-4496-8055-5C938ECF2736}"/>
              </a:ext>
            </a:extLst>
          </p:cNvPr>
          <p:cNvSpPr/>
          <p:nvPr/>
        </p:nvSpPr>
        <p:spPr>
          <a:xfrm>
            <a:off x="2436855" y="2003941"/>
            <a:ext cx="583566" cy="5234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latin typeface="Times New Roman" panose="02020603050405020304" pitchFamily="18" charset="0"/>
                <a:cs typeface="Times New Roman" panose="02020603050405020304" pitchFamily="18" charset="0"/>
              </a:rPr>
              <a:t>25</a:t>
            </a:r>
            <a:endParaRPr lang="zh-TW" altLang="en-US" dirty="0">
              <a:latin typeface="Times New Roman" panose="02020603050405020304" pitchFamily="18" charset="0"/>
              <a:cs typeface="Times New Roman" panose="02020603050405020304" pitchFamily="18" charset="0"/>
            </a:endParaRPr>
          </a:p>
        </p:txBody>
      </p:sp>
      <p:sp>
        <p:nvSpPr>
          <p:cNvPr id="29" name="橢圓 28">
            <a:extLst>
              <a:ext uri="{FF2B5EF4-FFF2-40B4-BE49-F238E27FC236}">
                <a16:creationId xmlns:a16="http://schemas.microsoft.com/office/drawing/2014/main" id="{84EBEF77-EF90-4A3C-B4E1-316DC14445B9}"/>
              </a:ext>
            </a:extLst>
          </p:cNvPr>
          <p:cNvSpPr/>
          <p:nvPr/>
        </p:nvSpPr>
        <p:spPr>
          <a:xfrm>
            <a:off x="3390140" y="2003941"/>
            <a:ext cx="583566" cy="5234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latin typeface="Times New Roman" panose="02020603050405020304" pitchFamily="18" charset="0"/>
                <a:cs typeface="Times New Roman" panose="02020603050405020304" pitchFamily="18" charset="0"/>
              </a:rPr>
              <a:t>26</a:t>
            </a:r>
            <a:endParaRPr lang="zh-TW" altLang="en-US" dirty="0">
              <a:latin typeface="Times New Roman" panose="02020603050405020304" pitchFamily="18" charset="0"/>
              <a:cs typeface="Times New Roman" panose="02020603050405020304" pitchFamily="18" charset="0"/>
            </a:endParaRPr>
          </a:p>
        </p:txBody>
      </p:sp>
      <p:sp>
        <p:nvSpPr>
          <p:cNvPr id="30" name="橢圓 29">
            <a:extLst>
              <a:ext uri="{FF2B5EF4-FFF2-40B4-BE49-F238E27FC236}">
                <a16:creationId xmlns:a16="http://schemas.microsoft.com/office/drawing/2014/main" id="{8512A6F9-AF71-4F5A-BC3C-F166539184BB}"/>
              </a:ext>
            </a:extLst>
          </p:cNvPr>
          <p:cNvSpPr/>
          <p:nvPr/>
        </p:nvSpPr>
        <p:spPr>
          <a:xfrm>
            <a:off x="4309453" y="2010824"/>
            <a:ext cx="583566" cy="5096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latin typeface="Times New Roman" panose="02020603050405020304" pitchFamily="18" charset="0"/>
                <a:cs typeface="Times New Roman" panose="02020603050405020304" pitchFamily="18" charset="0"/>
              </a:rPr>
              <a:t>27</a:t>
            </a:r>
            <a:endParaRPr lang="zh-TW" altLang="en-US" dirty="0">
              <a:latin typeface="Times New Roman" panose="02020603050405020304" pitchFamily="18" charset="0"/>
              <a:cs typeface="Times New Roman" panose="02020603050405020304" pitchFamily="18" charset="0"/>
            </a:endParaRPr>
          </a:p>
        </p:txBody>
      </p:sp>
      <p:sp>
        <p:nvSpPr>
          <p:cNvPr id="31" name="矩形 30">
            <a:extLst>
              <a:ext uri="{FF2B5EF4-FFF2-40B4-BE49-F238E27FC236}">
                <a16:creationId xmlns:a16="http://schemas.microsoft.com/office/drawing/2014/main" id="{8D446836-3C40-453F-805A-1BC5D4DD8B63}"/>
              </a:ext>
            </a:extLst>
          </p:cNvPr>
          <p:cNvSpPr/>
          <p:nvPr/>
        </p:nvSpPr>
        <p:spPr>
          <a:xfrm rot="5400000">
            <a:off x="2457702" y="1451688"/>
            <a:ext cx="559770" cy="523220"/>
          </a:xfrm>
          <a:prstGeom prst="rect">
            <a:avLst/>
          </a:prstGeom>
        </p:spPr>
        <p:txBody>
          <a:bodyPr wrap="none">
            <a:spAutoFit/>
          </a:bodyPr>
          <a:lstStyle/>
          <a:p>
            <a:pPr algn="ctr"/>
            <a:r>
              <a:rPr lang="en-US" altLang="zh-TW" sz="2800"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p:txBody>
      </p:sp>
      <p:sp>
        <p:nvSpPr>
          <p:cNvPr id="32" name="橢圓 31">
            <a:extLst>
              <a:ext uri="{FF2B5EF4-FFF2-40B4-BE49-F238E27FC236}">
                <a16:creationId xmlns:a16="http://schemas.microsoft.com/office/drawing/2014/main" id="{206AC156-8122-44D6-899D-0EA74BAC9120}"/>
              </a:ext>
            </a:extLst>
          </p:cNvPr>
          <p:cNvSpPr/>
          <p:nvPr/>
        </p:nvSpPr>
        <p:spPr>
          <a:xfrm>
            <a:off x="2459249" y="5157192"/>
            <a:ext cx="658528" cy="6117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800" dirty="0">
                <a:latin typeface="Times New Roman" panose="02020603050405020304" pitchFamily="18" charset="0"/>
                <a:cs typeface="Times New Roman" panose="02020603050405020304" pitchFamily="18" charset="0"/>
              </a:rPr>
              <a:t>9</a:t>
            </a:r>
            <a:endParaRPr lang="zh-TW"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632299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字方塊 10">
            <a:extLst>
              <a:ext uri="{FF2B5EF4-FFF2-40B4-BE49-F238E27FC236}">
                <a16:creationId xmlns:a16="http://schemas.microsoft.com/office/drawing/2014/main" id="{F7024DF5-78FF-4A3F-B7F4-E9879D39926E}"/>
              </a:ext>
            </a:extLst>
          </p:cNvPr>
          <p:cNvSpPr txBox="1"/>
          <p:nvPr/>
        </p:nvSpPr>
        <p:spPr>
          <a:xfrm>
            <a:off x="188616" y="91827"/>
            <a:ext cx="8755811" cy="707886"/>
          </a:xfrm>
          <a:prstGeom prst="rect">
            <a:avLst/>
          </a:prstGeom>
          <a:noFill/>
        </p:spPr>
        <p:txBody>
          <a:bodyPr wrap="square" rtlCol="0">
            <a:spAutoFit/>
          </a:bodyPr>
          <a:lstStyle/>
          <a:p>
            <a:r>
              <a:rPr lang="en-US" altLang="zh-TW" sz="4000" b="1" dirty="0">
                <a:latin typeface="Times New Roman" panose="02020603050405020304" pitchFamily="18" charset="0"/>
                <a:cs typeface="Times New Roman" panose="02020603050405020304" pitchFamily="18" charset="0"/>
              </a:rPr>
              <a:t>Crossover</a:t>
            </a:r>
            <a:endParaRPr lang="zh-TW" altLang="en-US" sz="4000" dirty="0">
              <a:latin typeface="Times New Roman" panose="02020603050405020304" pitchFamily="18" charset="0"/>
              <a:cs typeface="Times New Roman" panose="02020603050405020304" pitchFamily="18" charset="0"/>
            </a:endParaRPr>
          </a:p>
        </p:txBody>
      </p:sp>
      <p:sp>
        <p:nvSpPr>
          <p:cNvPr id="5" name="投影片編號版面配置區 3">
            <a:extLst>
              <a:ext uri="{FF2B5EF4-FFF2-40B4-BE49-F238E27FC236}">
                <a16:creationId xmlns:a16="http://schemas.microsoft.com/office/drawing/2014/main" id="{3598B1BC-5B33-44DB-9761-C77423DB5196}"/>
              </a:ext>
            </a:extLst>
          </p:cNvPr>
          <p:cNvSpPr>
            <a:spLocks noGrp="1"/>
          </p:cNvSpPr>
          <p:nvPr>
            <p:ph type="sldNum" sz="quarter" idx="12"/>
          </p:nvPr>
        </p:nvSpPr>
        <p:spPr>
          <a:xfrm>
            <a:off x="6553200" y="6356350"/>
            <a:ext cx="2133600" cy="365125"/>
          </a:xfrm>
        </p:spPr>
        <p:txBody>
          <a:bodyPr/>
          <a:lstStyle/>
          <a:p>
            <a:fld id="{04C04D6A-2E29-441A-A244-9F1014899F6D}" type="slidenum">
              <a:rPr lang="zh-TW" altLang="en-US" sz="1600" smtClean="0">
                <a:latin typeface="Times New Roman" panose="02020603050405020304" pitchFamily="18" charset="0"/>
                <a:cs typeface="Times New Roman" panose="02020603050405020304" pitchFamily="18" charset="0"/>
              </a:rPr>
              <a:pPr/>
              <a:t>19</a:t>
            </a:fld>
            <a:endParaRPr lang="zh-TW" altLang="en-US" dirty="0">
              <a:latin typeface="Times New Roman" panose="02020603050405020304" pitchFamily="18" charset="0"/>
              <a:cs typeface="Times New Roman" panose="02020603050405020304" pitchFamily="18" charset="0"/>
            </a:endParaRPr>
          </a:p>
        </p:txBody>
      </p:sp>
      <p:pic>
        <p:nvPicPr>
          <p:cNvPr id="6" name="圖片 5"/>
          <p:cNvPicPr>
            <a:picLocks noChangeAspect="1"/>
          </p:cNvPicPr>
          <p:nvPr/>
        </p:nvPicPr>
        <p:blipFill>
          <a:blip r:embed="rId3"/>
          <a:stretch>
            <a:fillRect/>
          </a:stretch>
        </p:blipFill>
        <p:spPr>
          <a:xfrm>
            <a:off x="467544" y="1060477"/>
            <a:ext cx="7776864" cy="5443805"/>
          </a:xfrm>
          <a:prstGeom prst="rect">
            <a:avLst/>
          </a:prstGeom>
        </p:spPr>
      </p:pic>
    </p:spTree>
    <p:extLst>
      <p:ext uri="{BB962C8B-B14F-4D97-AF65-F5344CB8AC3E}">
        <p14:creationId xmlns:p14="http://schemas.microsoft.com/office/powerpoint/2010/main" val="378604417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投影片編號版面配置區 3">
            <a:extLst>
              <a:ext uri="{FF2B5EF4-FFF2-40B4-BE49-F238E27FC236}">
                <a16:creationId xmlns:a16="http://schemas.microsoft.com/office/drawing/2014/main" id="{6804B62D-78E2-45DC-9202-43F9D4C9E045}"/>
              </a:ext>
            </a:extLst>
          </p:cNvPr>
          <p:cNvSpPr>
            <a:spLocks noGrp="1"/>
          </p:cNvSpPr>
          <p:nvPr>
            <p:ph type="sldNum" sz="quarter" idx="12"/>
          </p:nvPr>
        </p:nvSpPr>
        <p:spPr>
          <a:xfrm>
            <a:off x="6553200" y="6356350"/>
            <a:ext cx="2133600" cy="365125"/>
          </a:xfrm>
        </p:spPr>
        <p:txBody>
          <a:bodyPr/>
          <a:lstStyle/>
          <a:p>
            <a:fld id="{04C04D6A-2E29-441A-A244-9F1014899F6D}" type="slidenum">
              <a:rPr lang="zh-TW" altLang="en-US" sz="1600" smtClean="0">
                <a:latin typeface="Times New Roman" panose="02020603050405020304" pitchFamily="18" charset="0"/>
                <a:cs typeface="Times New Roman" panose="02020603050405020304" pitchFamily="18" charset="0"/>
              </a:rPr>
              <a:pPr/>
              <a:t>20</a:t>
            </a:fld>
            <a:endParaRPr lang="zh-TW" altLang="en-US" dirty="0">
              <a:latin typeface="Times New Roman" panose="02020603050405020304" pitchFamily="18" charset="0"/>
              <a:cs typeface="Times New Roman" panose="02020603050405020304" pitchFamily="18" charset="0"/>
            </a:endParaRPr>
          </a:p>
        </p:txBody>
      </p:sp>
      <p:sp>
        <p:nvSpPr>
          <p:cNvPr id="23" name="文字方塊 22">
            <a:extLst>
              <a:ext uri="{FF2B5EF4-FFF2-40B4-BE49-F238E27FC236}">
                <a16:creationId xmlns:a16="http://schemas.microsoft.com/office/drawing/2014/main" id="{F7024DF5-78FF-4A3F-B7F4-E9879D39926E}"/>
              </a:ext>
            </a:extLst>
          </p:cNvPr>
          <p:cNvSpPr txBox="1"/>
          <p:nvPr/>
        </p:nvSpPr>
        <p:spPr>
          <a:xfrm>
            <a:off x="105856" y="-41921"/>
            <a:ext cx="8755811" cy="707886"/>
          </a:xfrm>
          <a:prstGeom prst="rect">
            <a:avLst/>
          </a:prstGeom>
          <a:noFill/>
        </p:spPr>
        <p:txBody>
          <a:bodyPr wrap="square" rtlCol="0">
            <a:spAutoFit/>
          </a:bodyPr>
          <a:lstStyle/>
          <a:p>
            <a:r>
              <a:rPr lang="en-US" altLang="zh-TW" sz="4000" b="1" dirty="0">
                <a:latin typeface="Times New Roman" panose="02020603050405020304" pitchFamily="18" charset="0"/>
                <a:cs typeface="Times New Roman" panose="02020603050405020304" pitchFamily="18" charset="0"/>
              </a:rPr>
              <a:t>Mutation</a:t>
            </a:r>
            <a:endParaRPr lang="zh-TW" altLang="en-US" sz="4000" b="1" dirty="0">
              <a:latin typeface="Times New Roman" panose="02020603050405020304" pitchFamily="18" charset="0"/>
              <a:cs typeface="Times New Roman" panose="02020603050405020304" pitchFamily="18" charset="0"/>
            </a:endParaRPr>
          </a:p>
        </p:txBody>
      </p:sp>
      <p:pic>
        <p:nvPicPr>
          <p:cNvPr id="2" name="圖片 1"/>
          <p:cNvPicPr>
            <a:picLocks noChangeAspect="1"/>
          </p:cNvPicPr>
          <p:nvPr/>
        </p:nvPicPr>
        <p:blipFill>
          <a:blip r:embed="rId3"/>
          <a:stretch>
            <a:fillRect/>
          </a:stretch>
        </p:blipFill>
        <p:spPr>
          <a:xfrm>
            <a:off x="1475656" y="1017668"/>
            <a:ext cx="6256311" cy="5503236"/>
          </a:xfrm>
          <a:prstGeom prst="rect">
            <a:avLst/>
          </a:prstGeom>
        </p:spPr>
      </p:pic>
    </p:spTree>
    <p:extLst>
      <p:ext uri="{BB962C8B-B14F-4D97-AF65-F5344CB8AC3E}">
        <p14:creationId xmlns:p14="http://schemas.microsoft.com/office/powerpoint/2010/main" val="96058871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投影片編號版面配置區 3">
            <a:extLst>
              <a:ext uri="{FF2B5EF4-FFF2-40B4-BE49-F238E27FC236}">
                <a16:creationId xmlns:a16="http://schemas.microsoft.com/office/drawing/2014/main" id="{6804B62D-78E2-45DC-9202-43F9D4C9E045}"/>
              </a:ext>
            </a:extLst>
          </p:cNvPr>
          <p:cNvSpPr>
            <a:spLocks noGrp="1"/>
          </p:cNvSpPr>
          <p:nvPr>
            <p:ph type="sldNum" sz="quarter" idx="12"/>
          </p:nvPr>
        </p:nvSpPr>
        <p:spPr>
          <a:xfrm>
            <a:off x="6553200" y="6356350"/>
            <a:ext cx="2133600" cy="365125"/>
          </a:xfrm>
        </p:spPr>
        <p:txBody>
          <a:bodyPr/>
          <a:lstStyle/>
          <a:p>
            <a:fld id="{04C04D6A-2E29-441A-A244-9F1014899F6D}" type="slidenum">
              <a:rPr lang="zh-TW" altLang="en-US" sz="1600" smtClean="0"/>
              <a:pPr/>
              <a:t>21</a:t>
            </a:fld>
            <a:endParaRPr lang="zh-TW" altLang="en-US" dirty="0"/>
          </a:p>
        </p:txBody>
      </p:sp>
      <p:sp>
        <p:nvSpPr>
          <p:cNvPr id="18" name="文字方塊 17">
            <a:extLst>
              <a:ext uri="{FF2B5EF4-FFF2-40B4-BE49-F238E27FC236}">
                <a16:creationId xmlns:a16="http://schemas.microsoft.com/office/drawing/2014/main" id="{FE29A886-8850-41A0-8CEB-18ED351549E3}"/>
              </a:ext>
            </a:extLst>
          </p:cNvPr>
          <p:cNvSpPr txBox="1"/>
          <p:nvPr/>
        </p:nvSpPr>
        <p:spPr>
          <a:xfrm>
            <a:off x="193297" y="197803"/>
            <a:ext cx="8755811" cy="707886"/>
          </a:xfrm>
          <a:prstGeom prst="rect">
            <a:avLst/>
          </a:prstGeom>
          <a:noFill/>
        </p:spPr>
        <p:txBody>
          <a:bodyPr wrap="square" rtlCol="0">
            <a:spAutoFit/>
          </a:bodyPr>
          <a:lstStyle/>
          <a:p>
            <a:r>
              <a:rPr lang="en-US" altLang="zh-TW" sz="4000" b="1" dirty="0">
                <a:latin typeface="Times New Roman" panose="02020603050405020304" pitchFamily="18" charset="0"/>
                <a:cs typeface="Times New Roman" panose="02020603050405020304" pitchFamily="18" charset="0"/>
              </a:rPr>
              <a:t>Mutation</a:t>
            </a:r>
            <a:endParaRPr lang="zh-TW" altLang="en-US" sz="4000" dirty="0">
              <a:latin typeface="Times New Roman" panose="02020603050405020304" pitchFamily="18" charset="0"/>
              <a:cs typeface="Times New Roman" panose="02020603050405020304" pitchFamily="18" charset="0"/>
            </a:endParaRPr>
          </a:p>
        </p:txBody>
      </p:sp>
      <p:pic>
        <p:nvPicPr>
          <p:cNvPr id="2" name="圖片 1"/>
          <p:cNvPicPr>
            <a:picLocks noChangeAspect="1"/>
          </p:cNvPicPr>
          <p:nvPr/>
        </p:nvPicPr>
        <p:blipFill>
          <a:blip r:embed="rId3"/>
          <a:stretch>
            <a:fillRect/>
          </a:stretch>
        </p:blipFill>
        <p:spPr>
          <a:xfrm>
            <a:off x="2222470" y="2060848"/>
            <a:ext cx="4801239" cy="3331472"/>
          </a:xfrm>
          <a:prstGeom prst="rect">
            <a:avLst/>
          </a:prstGeom>
        </p:spPr>
      </p:pic>
    </p:spTree>
    <p:extLst>
      <p:ext uri="{BB962C8B-B14F-4D97-AF65-F5344CB8AC3E}">
        <p14:creationId xmlns:p14="http://schemas.microsoft.com/office/powerpoint/2010/main" val="261204200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B2225813-0AA1-4677-ADDC-8CD1AE76A937}"/>
              </a:ext>
            </a:extLst>
          </p:cNvPr>
          <p:cNvSpPr>
            <a:spLocks noGrp="1"/>
          </p:cNvSpPr>
          <p:nvPr>
            <p:ph type="sldNum" sz="quarter" idx="12"/>
          </p:nvPr>
        </p:nvSpPr>
        <p:spPr>
          <a:xfrm>
            <a:off x="6553200" y="6356350"/>
            <a:ext cx="2133600" cy="365125"/>
          </a:xfrm>
        </p:spPr>
        <p:txBody>
          <a:bodyPr/>
          <a:lstStyle/>
          <a:p>
            <a:fld id="{04C04D6A-2E29-441A-A244-9F1014899F6D}" type="slidenum">
              <a:rPr lang="zh-TW" altLang="en-US" sz="1600" smtClean="0"/>
              <a:pPr/>
              <a:t>22</a:t>
            </a:fld>
            <a:endParaRPr lang="zh-TW" altLang="en-US" dirty="0"/>
          </a:p>
        </p:txBody>
      </p:sp>
      <p:sp>
        <p:nvSpPr>
          <p:cNvPr id="5" name="標題 1">
            <a:extLst>
              <a:ext uri="{FF2B5EF4-FFF2-40B4-BE49-F238E27FC236}">
                <a16:creationId xmlns:a16="http://schemas.microsoft.com/office/drawing/2014/main" id="{9B69FE09-7D93-4A9A-BD77-F3518FE797D3}"/>
              </a:ext>
            </a:extLst>
          </p:cNvPr>
          <p:cNvSpPr txBox="1">
            <a:spLocks/>
          </p:cNvSpPr>
          <p:nvPr/>
        </p:nvSpPr>
        <p:spPr>
          <a:xfrm>
            <a:off x="107504" y="21371"/>
            <a:ext cx="6705604" cy="71283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b="1" dirty="0">
                <a:latin typeface="Times New Roman" panose="02020603050405020304" pitchFamily="18" charset="0"/>
                <a:cs typeface="Times New Roman" panose="02020603050405020304" pitchFamily="18" charset="0"/>
              </a:rPr>
              <a:t>Parameter Settings</a:t>
            </a:r>
            <a:endParaRPr lang="zh-TW" altLang="en-US" sz="3600" b="1" dirty="0">
              <a:latin typeface="Times New Roman" panose="02020603050405020304" pitchFamily="18" charset="0"/>
              <a:cs typeface="Times New Roman" panose="02020603050405020304" pitchFamily="18" charset="0"/>
            </a:endParaRPr>
          </a:p>
        </p:txBody>
      </p:sp>
      <p:pic>
        <p:nvPicPr>
          <p:cNvPr id="3" name="圖片 2">
            <a:extLst>
              <a:ext uri="{FF2B5EF4-FFF2-40B4-BE49-F238E27FC236}">
                <a16:creationId xmlns:a16="http://schemas.microsoft.com/office/drawing/2014/main" id="{8D4F03A6-6212-44AF-8B3A-2826CA693E0D}"/>
              </a:ext>
            </a:extLst>
          </p:cNvPr>
          <p:cNvPicPr>
            <a:picLocks noChangeAspect="1"/>
          </p:cNvPicPr>
          <p:nvPr/>
        </p:nvPicPr>
        <p:blipFill>
          <a:blip r:embed="rId3"/>
          <a:stretch>
            <a:fillRect/>
          </a:stretch>
        </p:blipFill>
        <p:spPr>
          <a:xfrm>
            <a:off x="1475656" y="980728"/>
            <a:ext cx="5799166" cy="5568319"/>
          </a:xfrm>
          <a:prstGeom prst="rect">
            <a:avLst/>
          </a:prstGeom>
        </p:spPr>
      </p:pic>
    </p:spTree>
    <p:extLst>
      <p:ext uri="{BB962C8B-B14F-4D97-AF65-F5344CB8AC3E}">
        <p14:creationId xmlns:p14="http://schemas.microsoft.com/office/powerpoint/2010/main" val="138397573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3"/>
          <a:stretch>
            <a:fillRect/>
          </a:stretch>
        </p:blipFill>
        <p:spPr>
          <a:xfrm>
            <a:off x="1043608" y="1531393"/>
            <a:ext cx="6552728" cy="5190082"/>
          </a:xfrm>
          <a:prstGeom prst="rect">
            <a:avLst/>
          </a:prstGeom>
        </p:spPr>
      </p:pic>
      <p:sp>
        <p:nvSpPr>
          <p:cNvPr id="4" name="投影片編號版面配置區 3">
            <a:extLst>
              <a:ext uri="{FF2B5EF4-FFF2-40B4-BE49-F238E27FC236}">
                <a16:creationId xmlns:a16="http://schemas.microsoft.com/office/drawing/2014/main" id="{B2225813-0AA1-4677-ADDC-8CD1AE76A937}"/>
              </a:ext>
            </a:extLst>
          </p:cNvPr>
          <p:cNvSpPr>
            <a:spLocks noGrp="1"/>
          </p:cNvSpPr>
          <p:nvPr>
            <p:ph type="sldNum" sz="quarter" idx="12"/>
          </p:nvPr>
        </p:nvSpPr>
        <p:spPr>
          <a:xfrm>
            <a:off x="6553200" y="6356350"/>
            <a:ext cx="2133600" cy="365125"/>
          </a:xfrm>
        </p:spPr>
        <p:txBody>
          <a:bodyPr/>
          <a:lstStyle/>
          <a:p>
            <a:fld id="{04C04D6A-2E29-441A-A244-9F1014899F6D}" type="slidenum">
              <a:rPr lang="zh-TW" altLang="en-US" sz="1600" smtClean="0"/>
              <a:pPr/>
              <a:t>23</a:t>
            </a:fld>
            <a:endParaRPr lang="zh-TW" altLang="en-US" dirty="0"/>
          </a:p>
        </p:txBody>
      </p:sp>
      <p:sp>
        <p:nvSpPr>
          <p:cNvPr id="5" name="標題 1">
            <a:extLst>
              <a:ext uri="{FF2B5EF4-FFF2-40B4-BE49-F238E27FC236}">
                <a16:creationId xmlns:a16="http://schemas.microsoft.com/office/drawing/2014/main" id="{9B69FE09-7D93-4A9A-BD77-F3518FE797D3}"/>
              </a:ext>
            </a:extLst>
          </p:cNvPr>
          <p:cNvSpPr txBox="1">
            <a:spLocks/>
          </p:cNvSpPr>
          <p:nvPr/>
        </p:nvSpPr>
        <p:spPr>
          <a:xfrm>
            <a:off x="107504" y="21371"/>
            <a:ext cx="6705604" cy="71283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b="1" dirty="0">
                <a:latin typeface="Times New Roman" panose="02020603050405020304" pitchFamily="18" charset="0"/>
                <a:cs typeface="Times New Roman" panose="02020603050405020304" pitchFamily="18" charset="0"/>
              </a:rPr>
              <a:t>Parameter Settings</a:t>
            </a:r>
            <a:endParaRPr lang="zh-TW" altLang="en-US" sz="3600" b="1" dirty="0">
              <a:latin typeface="Times New Roman" panose="02020603050405020304" pitchFamily="18" charset="0"/>
              <a:cs typeface="Times New Roman" panose="02020603050405020304" pitchFamily="18" charset="0"/>
            </a:endParaRPr>
          </a:p>
        </p:txBody>
      </p:sp>
      <p:sp>
        <p:nvSpPr>
          <p:cNvPr id="7" name="矩形 6">
            <a:extLst>
              <a:ext uri="{FF2B5EF4-FFF2-40B4-BE49-F238E27FC236}">
                <a16:creationId xmlns:a16="http://schemas.microsoft.com/office/drawing/2014/main" id="{EDF849AA-C470-472D-9D07-237105DCD10A}"/>
              </a:ext>
            </a:extLst>
          </p:cNvPr>
          <p:cNvSpPr/>
          <p:nvPr/>
        </p:nvSpPr>
        <p:spPr>
          <a:xfrm>
            <a:off x="700957" y="568586"/>
            <a:ext cx="7128792" cy="1015663"/>
          </a:xfrm>
          <a:prstGeom prst="rect">
            <a:avLst/>
          </a:prstGeom>
        </p:spPr>
        <p:txBody>
          <a:bodyPr wrap="square">
            <a:spAutoFit/>
          </a:bodyPr>
          <a:lstStyle/>
          <a:p>
            <a:r>
              <a:rPr lang="en-US" altLang="zh-TW" sz="2400" b="1" dirty="0">
                <a:latin typeface="Times New Roman" panose="02020603050405020304" pitchFamily="18" charset="0"/>
                <a:cs typeface="Times New Roman" panose="02020603050405020304" pitchFamily="18" charset="0"/>
              </a:rPr>
              <a:t>Dataset sample:</a:t>
            </a:r>
          </a:p>
          <a:p>
            <a:r>
              <a:rPr lang="en-US" altLang="zh-TW" dirty="0">
                <a:latin typeface="Times New Roman" panose="02020603050405020304" pitchFamily="18" charset="0"/>
                <a:cs typeface="Times New Roman" panose="02020603050405020304" pitchFamily="18" charset="0"/>
              </a:rPr>
              <a:t># EUMAT 36498 -&gt;</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1000</a:t>
            </a:r>
          </a:p>
          <a:p>
            <a:r>
              <a:rPr lang="en-US" altLang="zh-TW" dirty="0">
                <a:latin typeface="Times New Roman" panose="02020603050405020304" pitchFamily="18" charset="0"/>
                <a:cs typeface="Times New Roman" panose="02020603050405020304" pitchFamily="18" charset="0"/>
              </a:rPr>
              <a:t>HD 3637 -&gt; 100 MD 5029 -&gt; 137 LD 27832 -&gt; 763</a:t>
            </a:r>
            <a:endParaRPr lang="zh-TW" altLang="en-US" dirty="0"/>
          </a:p>
        </p:txBody>
      </p:sp>
      <p:sp>
        <p:nvSpPr>
          <p:cNvPr id="3" name="矩形 2"/>
          <p:cNvSpPr/>
          <p:nvPr/>
        </p:nvSpPr>
        <p:spPr>
          <a:xfrm>
            <a:off x="5808322" y="577034"/>
            <a:ext cx="2965877" cy="523220"/>
          </a:xfrm>
          <a:prstGeom prst="rect">
            <a:avLst/>
          </a:prstGeom>
        </p:spPr>
        <p:txBody>
          <a:bodyPr wrap="none">
            <a:spAutoFit/>
          </a:bodyPr>
          <a:lstStyle/>
          <a:p>
            <a:r>
              <a:rPr lang="en-US" altLang="zh-TW" sz="2800" b="1" dirty="0" smtClean="0">
                <a:latin typeface="Times New Roman" panose="02020603050405020304" pitchFamily="18" charset="0"/>
                <a:cs typeface="Times New Roman" panose="02020603050405020304" pitchFamily="18" charset="0"/>
              </a:rPr>
              <a:t>G</a:t>
            </a:r>
            <a:r>
              <a:rPr lang="zh-TW" altLang="en-US" sz="2800" b="1" dirty="0" smtClean="0">
                <a:latin typeface="Times New Roman" panose="02020603050405020304" pitchFamily="18" charset="0"/>
                <a:cs typeface="Times New Roman" panose="02020603050405020304" pitchFamily="18" charset="0"/>
              </a:rPr>
              <a:t>enetic </a:t>
            </a:r>
            <a:r>
              <a:rPr lang="en-US" altLang="zh-TW" sz="2800" b="1" dirty="0">
                <a:latin typeface="Times New Roman" panose="02020603050405020304" pitchFamily="18" charset="0"/>
                <a:cs typeface="Times New Roman" panose="02020603050405020304" pitchFamily="18" charset="0"/>
              </a:rPr>
              <a:t>a</a:t>
            </a:r>
            <a:r>
              <a:rPr lang="zh-TW" altLang="en-US" sz="2800" b="1" dirty="0" smtClean="0">
                <a:latin typeface="Times New Roman" panose="02020603050405020304" pitchFamily="18" charset="0"/>
                <a:cs typeface="Times New Roman" panose="02020603050405020304" pitchFamily="18" charset="0"/>
              </a:rPr>
              <a:t>lgorithm</a:t>
            </a:r>
            <a:endParaRPr lang="zh-TW" alt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335695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B2225813-0AA1-4677-ADDC-8CD1AE76A937}"/>
              </a:ext>
            </a:extLst>
          </p:cNvPr>
          <p:cNvSpPr>
            <a:spLocks noGrp="1"/>
          </p:cNvSpPr>
          <p:nvPr>
            <p:ph type="sldNum" sz="quarter" idx="12"/>
          </p:nvPr>
        </p:nvSpPr>
        <p:spPr>
          <a:xfrm>
            <a:off x="6553200" y="6356350"/>
            <a:ext cx="2133600" cy="365125"/>
          </a:xfrm>
        </p:spPr>
        <p:txBody>
          <a:bodyPr/>
          <a:lstStyle/>
          <a:p>
            <a:fld id="{04C04D6A-2E29-441A-A244-9F1014899F6D}" type="slidenum">
              <a:rPr lang="zh-TW" altLang="en-US" sz="1600" smtClean="0"/>
              <a:pPr/>
              <a:t>24</a:t>
            </a:fld>
            <a:endParaRPr lang="zh-TW" altLang="en-US" dirty="0"/>
          </a:p>
        </p:txBody>
      </p:sp>
      <p:sp>
        <p:nvSpPr>
          <p:cNvPr id="5" name="標題 1">
            <a:extLst>
              <a:ext uri="{FF2B5EF4-FFF2-40B4-BE49-F238E27FC236}">
                <a16:creationId xmlns:a16="http://schemas.microsoft.com/office/drawing/2014/main" id="{9B69FE09-7D93-4A9A-BD77-F3518FE797D3}"/>
              </a:ext>
            </a:extLst>
          </p:cNvPr>
          <p:cNvSpPr txBox="1">
            <a:spLocks/>
          </p:cNvSpPr>
          <p:nvPr/>
        </p:nvSpPr>
        <p:spPr>
          <a:xfrm>
            <a:off x="107504" y="21371"/>
            <a:ext cx="6705604" cy="71283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b="1" dirty="0">
                <a:latin typeface="Times New Roman" panose="02020603050405020304" pitchFamily="18" charset="0"/>
                <a:cs typeface="Times New Roman" panose="02020603050405020304" pitchFamily="18" charset="0"/>
              </a:rPr>
              <a:t>Parameter Settings</a:t>
            </a:r>
            <a:endParaRPr lang="zh-TW" altLang="en-US" sz="3600" b="1" dirty="0">
              <a:latin typeface="Times New Roman" panose="02020603050405020304" pitchFamily="18" charset="0"/>
              <a:cs typeface="Times New Roman" panose="02020603050405020304" pitchFamily="18" charset="0"/>
            </a:endParaRPr>
          </a:p>
        </p:txBody>
      </p:sp>
      <p:pic>
        <p:nvPicPr>
          <p:cNvPr id="3" name="圖片 2"/>
          <p:cNvPicPr>
            <a:picLocks noChangeAspect="1"/>
          </p:cNvPicPr>
          <p:nvPr/>
        </p:nvPicPr>
        <p:blipFill>
          <a:blip r:embed="rId3"/>
          <a:stretch>
            <a:fillRect/>
          </a:stretch>
        </p:blipFill>
        <p:spPr>
          <a:xfrm>
            <a:off x="1259632" y="1272164"/>
            <a:ext cx="6529064" cy="5378704"/>
          </a:xfrm>
          <a:prstGeom prst="rect">
            <a:avLst/>
          </a:prstGeom>
        </p:spPr>
      </p:pic>
      <p:sp>
        <p:nvSpPr>
          <p:cNvPr id="6" name="矩形 5"/>
          <p:cNvSpPr/>
          <p:nvPr/>
        </p:nvSpPr>
        <p:spPr>
          <a:xfrm>
            <a:off x="1403648" y="631755"/>
            <a:ext cx="2739789" cy="523220"/>
          </a:xfrm>
          <a:prstGeom prst="rect">
            <a:avLst/>
          </a:prstGeom>
        </p:spPr>
        <p:txBody>
          <a:bodyPr wrap="none">
            <a:spAutoFit/>
          </a:bodyPr>
          <a:lstStyle/>
          <a:p>
            <a:r>
              <a:rPr lang="en-US" altLang="zh-TW" sz="2800" b="1" dirty="0" smtClean="0">
                <a:latin typeface="Times New Roman" panose="02020603050405020304" pitchFamily="18" charset="0"/>
                <a:cs typeface="Times New Roman" panose="02020603050405020304" pitchFamily="18" charset="0"/>
              </a:rPr>
              <a:t>Harmony search</a:t>
            </a:r>
            <a:endParaRPr lang="zh-TW" alt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763180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字方塊 10">
            <a:extLst>
              <a:ext uri="{FF2B5EF4-FFF2-40B4-BE49-F238E27FC236}">
                <a16:creationId xmlns:a16="http://schemas.microsoft.com/office/drawing/2014/main" id="{F7024DF5-78FF-4A3F-B7F4-E9879D39926E}"/>
              </a:ext>
            </a:extLst>
          </p:cNvPr>
          <p:cNvSpPr txBox="1"/>
          <p:nvPr/>
        </p:nvSpPr>
        <p:spPr>
          <a:xfrm>
            <a:off x="188616" y="91827"/>
            <a:ext cx="8755811" cy="707886"/>
          </a:xfrm>
          <a:prstGeom prst="rect">
            <a:avLst/>
          </a:prstGeom>
          <a:noFill/>
        </p:spPr>
        <p:txBody>
          <a:bodyPr wrap="square" rtlCol="0">
            <a:spAutoFit/>
          </a:bodyPr>
          <a:lstStyle/>
          <a:p>
            <a:r>
              <a:rPr lang="en-US" altLang="zh-TW" sz="4000" b="1" dirty="0">
                <a:latin typeface="Times New Roman" panose="02020603050405020304" pitchFamily="18" charset="0"/>
                <a:cs typeface="Times New Roman" panose="02020603050405020304" pitchFamily="18" charset="0"/>
              </a:rPr>
              <a:t>Dynamic Adjustment</a:t>
            </a:r>
            <a:endParaRPr lang="zh-TW" altLang="en-US" sz="40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B2225813-0AA1-4677-ADDC-8CD1AE76A937}"/>
              </a:ext>
            </a:extLst>
          </p:cNvPr>
          <p:cNvSpPr>
            <a:spLocks noGrp="1"/>
          </p:cNvSpPr>
          <p:nvPr>
            <p:ph type="sldNum" sz="quarter" idx="12"/>
          </p:nvPr>
        </p:nvSpPr>
        <p:spPr>
          <a:xfrm>
            <a:off x="6553200" y="6356350"/>
            <a:ext cx="2133600" cy="365125"/>
          </a:xfrm>
        </p:spPr>
        <p:txBody>
          <a:bodyPr/>
          <a:lstStyle/>
          <a:p>
            <a:fld id="{04C04D6A-2E29-441A-A244-9F1014899F6D}" type="slidenum">
              <a:rPr lang="zh-TW" altLang="en-US" sz="1600" smtClean="0"/>
              <a:pPr/>
              <a:t>25</a:t>
            </a:fld>
            <a:endParaRPr lang="zh-TW" altLang="en-US" dirty="0"/>
          </a:p>
        </p:txBody>
      </p:sp>
      <mc:AlternateContent xmlns:mc="http://schemas.openxmlformats.org/markup-compatibility/2006" xmlns:a14="http://schemas.microsoft.com/office/drawing/2010/main">
        <mc:Choice Requires="a14">
          <p:sp>
            <p:nvSpPr>
              <p:cNvPr id="21" name="矩形 20">
                <a:extLst>
                  <a:ext uri="{FF2B5EF4-FFF2-40B4-BE49-F238E27FC236}">
                    <a16:creationId xmlns:a16="http://schemas.microsoft.com/office/drawing/2014/main" id="{C9D86F36-8BCA-4F9D-B591-700F384698B7}"/>
                  </a:ext>
                </a:extLst>
              </p:cNvPr>
              <p:cNvSpPr/>
              <p:nvPr/>
            </p:nvSpPr>
            <p:spPr>
              <a:xfrm>
                <a:off x="755576" y="1124744"/>
                <a:ext cx="7427168" cy="751296"/>
              </a:xfrm>
              <a:prstGeom prst="rect">
                <a:avLst/>
              </a:prstGeom>
            </p:spPr>
            <p:txBody>
              <a:bodyPr wrap="square">
                <a:spAutoFit/>
              </a:bodyPr>
              <a:lstStyle/>
              <a:p>
                <a:pPr algn="ctr"/>
                <a:r>
                  <a:rPr lang="en-US" altLang="zh-TW" sz="3200" dirty="0">
                    <a:latin typeface="Times New Roman" panose="02020603050405020304" pitchFamily="18" charset="0"/>
                    <a:cs typeface="Times New Roman" panose="02020603050405020304" pitchFamily="18" charset="0"/>
                  </a:rPr>
                  <a:t>Mutation probability</a:t>
                </a:r>
                <a:r>
                  <a:rPr lang="zh-TW" altLang="en-US" sz="3200" dirty="0">
                    <a:latin typeface="Times New Roman" panose="02020603050405020304" pitchFamily="18" charset="0"/>
                    <a:cs typeface="Times New Roman" panose="02020603050405020304" pitchFamily="18" charset="0"/>
                  </a:rPr>
                  <a:t> </a:t>
                </a:r>
                <a:r>
                  <a:rPr lang="en-US" altLang="zh-TW" sz="3200" dirty="0">
                    <a:latin typeface="Times New Roman" panose="02020603050405020304" pitchFamily="18" charset="0"/>
                    <a:cs typeface="Times New Roman" panose="02020603050405020304" pitchFamily="18" charset="0"/>
                  </a:rPr>
                  <a:t>(PAR) </a:t>
                </a:r>
                <a14:m>
                  <m:oMath xmlns:m="http://schemas.openxmlformats.org/officeDocument/2006/math">
                    <m:r>
                      <a:rPr lang="en-US" altLang="zh-TW" sz="3200" i="1">
                        <a:latin typeface="Cambria Math" panose="02040503050406030204" pitchFamily="18" charset="0"/>
                      </a:rPr>
                      <m:t>=</m:t>
                    </m:r>
                    <m:r>
                      <a:rPr lang="en-US" altLang="zh-TW" sz="3200" i="1" smtClean="0">
                        <a:latin typeface="Cambria Math" panose="02040503050406030204" pitchFamily="18" charset="0"/>
                      </a:rPr>
                      <m:t>1</m:t>
                    </m:r>
                    <m:r>
                      <a:rPr lang="en-US" altLang="zh-TW" sz="3200" b="0" i="1" smtClean="0">
                        <a:latin typeface="Cambria Math" panose="02040503050406030204" pitchFamily="18" charset="0"/>
                      </a:rPr>
                      <m:t>−(</m:t>
                    </m:r>
                    <m:f>
                      <m:fPr>
                        <m:ctrlPr>
                          <a:rPr lang="en-US" altLang="zh-TW" sz="3200" b="0" i="1" smtClean="0">
                            <a:latin typeface="Cambria Math" panose="02040503050406030204" pitchFamily="18" charset="0"/>
                          </a:rPr>
                        </m:ctrlPr>
                      </m:fPr>
                      <m:num>
                        <m:r>
                          <a:rPr lang="en-US" altLang="zh-TW" sz="3200" b="0" i="1" smtClean="0">
                            <a:latin typeface="Cambria Math" panose="02040503050406030204" pitchFamily="18" charset="0"/>
                          </a:rPr>
                          <m:t>𝑔</m:t>
                        </m:r>
                      </m:num>
                      <m:den>
                        <m:r>
                          <m:rPr>
                            <m:sty m:val="p"/>
                          </m:rPr>
                          <a:rPr lang="en-US" altLang="zh-TW" sz="3200" i="1">
                            <a:latin typeface="Cambria Math" panose="02040503050406030204" pitchFamily="18" charset="0"/>
                          </a:rPr>
                          <m:t>G</m:t>
                        </m:r>
                      </m:den>
                    </m:f>
                    <m:r>
                      <a:rPr lang="en-US" altLang="zh-TW" sz="3200" b="0" i="1" smtClean="0">
                        <a:latin typeface="Cambria Math" panose="02040503050406030204" pitchFamily="18" charset="0"/>
                      </a:rPr>
                      <m:t>)</m:t>
                    </m:r>
                  </m:oMath>
                </a14:m>
                <a:endParaRPr lang="en-US" altLang="zh-TW" sz="3200" dirty="0">
                  <a:latin typeface="Times New Roman" panose="02020603050405020304" pitchFamily="18" charset="0"/>
                  <a:cs typeface="Times New Roman" panose="02020603050405020304" pitchFamily="18" charset="0"/>
                </a:endParaRPr>
              </a:p>
            </p:txBody>
          </p:sp>
        </mc:Choice>
        <mc:Fallback xmlns="">
          <p:sp>
            <p:nvSpPr>
              <p:cNvPr id="21" name="矩形 20">
                <a:extLst>
                  <a:ext uri="{FF2B5EF4-FFF2-40B4-BE49-F238E27FC236}">
                    <a16:creationId xmlns:a16="http://schemas.microsoft.com/office/drawing/2014/main" id="{C9D86F36-8BCA-4F9D-B591-700F384698B7}"/>
                  </a:ext>
                </a:extLst>
              </p:cNvPr>
              <p:cNvSpPr>
                <a:spLocks noRot="1" noChangeAspect="1" noMove="1" noResize="1" noEditPoints="1" noAdjustHandles="1" noChangeArrowheads="1" noChangeShapeType="1" noTextEdit="1"/>
              </p:cNvSpPr>
              <p:nvPr/>
            </p:nvSpPr>
            <p:spPr>
              <a:xfrm>
                <a:off x="755576" y="1124744"/>
                <a:ext cx="7427168" cy="751296"/>
              </a:xfrm>
              <a:prstGeom prst="rect">
                <a:avLst/>
              </a:prstGeom>
              <a:blipFill>
                <a:blip r:embed="rId4"/>
                <a:stretch>
                  <a:fillRect t="-4065" b="-1056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2" name="矩形 21">
                <a:extLst>
                  <a:ext uri="{FF2B5EF4-FFF2-40B4-BE49-F238E27FC236}">
                    <a16:creationId xmlns:a16="http://schemas.microsoft.com/office/drawing/2014/main" id="{56C3E828-C905-492B-804E-3C10D928E707}"/>
                  </a:ext>
                </a:extLst>
              </p:cNvPr>
              <p:cNvSpPr/>
              <p:nvPr/>
            </p:nvSpPr>
            <p:spPr>
              <a:xfrm>
                <a:off x="755576" y="1941615"/>
                <a:ext cx="7632848" cy="830997"/>
              </a:xfrm>
              <a:prstGeom prst="rect">
                <a:avLst/>
              </a:prstGeom>
            </p:spPr>
            <p:txBody>
              <a:bodyPr wrap="square">
                <a:spAutoFit/>
              </a:bodyPr>
              <a:lstStyle/>
              <a:p>
                <a:r>
                  <a:rPr lang="zh-TW" altLang="en-US" sz="2400" dirty="0">
                    <a:latin typeface="Times New Roman" panose="02020603050405020304" pitchFamily="18" charset="0"/>
                    <a:cs typeface="Times New Roman" panose="02020603050405020304" pitchFamily="18" charset="0"/>
                  </a:rPr>
                  <a:t>Here </a:t>
                </a:r>
                <a14:m>
                  <m:oMath xmlns:m="http://schemas.openxmlformats.org/officeDocument/2006/math">
                    <m:r>
                      <m:rPr>
                        <m:sty m:val="p"/>
                      </m:rPr>
                      <a:rPr lang="en-US" altLang="zh-TW" sz="2400" b="0" i="1" dirty="0">
                        <a:latin typeface="Cambria Math" panose="02040503050406030204" pitchFamily="18" charset="0"/>
                        <a:cs typeface="Times New Roman" panose="02020603050405020304" pitchFamily="18" charset="0"/>
                      </a:rPr>
                      <m:t>G</m:t>
                    </m:r>
                  </m:oMath>
                </a14:m>
                <a:r>
                  <a:rPr lang="zh-TW" altLang="en-US" sz="2400" dirty="0">
                    <a:latin typeface="Times New Roman" panose="02020603050405020304" pitchFamily="18" charset="0"/>
                    <a:cs typeface="Times New Roman" panose="02020603050405020304" pitchFamily="18" charset="0"/>
                  </a:rPr>
                  <a:t> represents the number of </a:t>
                </a:r>
                <a:r>
                  <a:rPr lang="en-US" altLang="zh-TW" sz="2400" dirty="0">
                    <a:latin typeface="Times New Roman" panose="02020603050405020304" pitchFamily="18" charset="0"/>
                    <a:cs typeface="Times New Roman" panose="02020603050405020304" pitchFamily="18" charset="0"/>
                  </a:rPr>
                  <a:t>generations</a:t>
                </a:r>
                <a:r>
                  <a:rPr lang="zh-TW" altLang="en-US" sz="2400" dirty="0">
                    <a:latin typeface="Times New Roman" panose="02020603050405020304" pitchFamily="18" charset="0"/>
                    <a:cs typeface="Times New Roman" panose="02020603050405020304" pitchFamily="18" charset="0"/>
                  </a:rPr>
                  <a:t>, and </a:t>
                </a:r>
                <a14:m>
                  <m:oMath xmlns:m="http://schemas.openxmlformats.org/officeDocument/2006/math">
                    <m:r>
                      <a:rPr lang="en-US" altLang="zh-TW" sz="2400" i="1">
                        <a:latin typeface="Cambria Math" panose="02040503050406030204" pitchFamily="18" charset="0"/>
                      </a:rPr>
                      <m:t>𝑔</m:t>
                    </m:r>
                    <m:r>
                      <a:rPr lang="en-US" altLang="zh-TW" sz="2400" i="1">
                        <a:latin typeface="Cambria Math" panose="02040503050406030204" pitchFamily="18" charset="0"/>
                      </a:rPr>
                      <m:t> </m:t>
                    </m:r>
                  </m:oMath>
                </a14:m>
                <a:r>
                  <a:rPr lang="en-US" altLang="zh-TW" sz="2400" dirty="0">
                    <a:latin typeface="Times New Roman" panose="02020603050405020304" pitchFamily="18" charset="0"/>
                    <a:cs typeface="Times New Roman" panose="02020603050405020304" pitchFamily="18" charset="0"/>
                  </a:rPr>
                  <a:t>is </a:t>
                </a:r>
                <a:r>
                  <a:rPr lang="zh-TW" altLang="en-US" sz="2400" dirty="0">
                    <a:latin typeface="Times New Roman" panose="02020603050405020304" pitchFamily="18" charset="0"/>
                    <a:cs typeface="Times New Roman" panose="02020603050405020304" pitchFamily="18" charset="0"/>
                  </a:rPr>
                  <a:t>the </a:t>
                </a:r>
                <a:r>
                  <a:rPr lang="en-US" altLang="zh-TW" sz="2400" dirty="0">
                    <a:latin typeface="Times New Roman" panose="02020603050405020304" pitchFamily="18" charset="0"/>
                    <a:cs typeface="Times New Roman" panose="02020603050405020304" pitchFamily="18" charset="0"/>
                  </a:rPr>
                  <a:t>current generation.</a:t>
                </a:r>
                <a:endParaRPr lang="zh-TW" altLang="en-US" sz="2400" dirty="0">
                  <a:latin typeface="Times New Roman" panose="02020603050405020304" pitchFamily="18" charset="0"/>
                  <a:cs typeface="Times New Roman" panose="02020603050405020304" pitchFamily="18" charset="0"/>
                </a:endParaRPr>
              </a:p>
            </p:txBody>
          </p:sp>
        </mc:Choice>
        <mc:Fallback xmlns="">
          <p:sp>
            <p:nvSpPr>
              <p:cNvPr id="22" name="矩形 21">
                <a:extLst>
                  <a:ext uri="{FF2B5EF4-FFF2-40B4-BE49-F238E27FC236}">
                    <a16:creationId xmlns:a16="http://schemas.microsoft.com/office/drawing/2014/main" id="{56C3E828-C905-492B-804E-3C10D928E707}"/>
                  </a:ext>
                </a:extLst>
              </p:cNvPr>
              <p:cNvSpPr>
                <a:spLocks noRot="1" noChangeAspect="1" noMove="1" noResize="1" noEditPoints="1" noAdjustHandles="1" noChangeArrowheads="1" noChangeShapeType="1" noTextEdit="1"/>
              </p:cNvSpPr>
              <p:nvPr/>
            </p:nvSpPr>
            <p:spPr>
              <a:xfrm>
                <a:off x="755576" y="1941615"/>
                <a:ext cx="7632848" cy="830997"/>
              </a:xfrm>
              <a:prstGeom prst="rect">
                <a:avLst/>
              </a:prstGeom>
              <a:blipFill>
                <a:blip r:embed="rId5"/>
                <a:stretch>
                  <a:fillRect l="-1278" t="-5882" b="-16176"/>
                </a:stretch>
              </a:blipFill>
            </p:spPr>
            <p:txBody>
              <a:bodyPr/>
              <a:lstStyle/>
              <a:p>
                <a:r>
                  <a:rPr lang="zh-TW" altLang="en-US">
                    <a:noFill/>
                  </a:rPr>
                  <a:t> </a:t>
                </a:r>
              </a:p>
            </p:txBody>
          </p:sp>
        </mc:Fallback>
      </mc:AlternateContent>
      <p:pic>
        <p:nvPicPr>
          <p:cNvPr id="9" name="圖片 8"/>
          <p:cNvPicPr>
            <a:picLocks noChangeAspect="1"/>
          </p:cNvPicPr>
          <p:nvPr/>
        </p:nvPicPr>
        <p:blipFill>
          <a:blip r:embed="rId6"/>
          <a:stretch>
            <a:fillRect/>
          </a:stretch>
        </p:blipFill>
        <p:spPr>
          <a:xfrm>
            <a:off x="2167050" y="2838187"/>
            <a:ext cx="4997237" cy="4073656"/>
          </a:xfrm>
          <a:prstGeom prst="rect">
            <a:avLst/>
          </a:prstGeom>
        </p:spPr>
      </p:pic>
    </p:spTree>
    <p:extLst>
      <p:ext uri="{BB962C8B-B14F-4D97-AF65-F5344CB8AC3E}">
        <p14:creationId xmlns:p14="http://schemas.microsoft.com/office/powerpoint/2010/main" val="180374890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B2225813-0AA1-4677-ADDC-8CD1AE76A937}"/>
              </a:ext>
            </a:extLst>
          </p:cNvPr>
          <p:cNvSpPr>
            <a:spLocks noGrp="1"/>
          </p:cNvSpPr>
          <p:nvPr>
            <p:ph type="sldNum" sz="quarter" idx="12"/>
          </p:nvPr>
        </p:nvSpPr>
        <p:spPr>
          <a:xfrm>
            <a:off x="6553200" y="6356350"/>
            <a:ext cx="2133600" cy="365125"/>
          </a:xfrm>
        </p:spPr>
        <p:txBody>
          <a:bodyPr/>
          <a:lstStyle/>
          <a:p>
            <a:fld id="{04C04D6A-2E29-441A-A244-9F1014899F6D}" type="slidenum">
              <a:rPr lang="zh-TW" altLang="en-US" sz="1600" smtClean="0"/>
              <a:pPr/>
              <a:t>26</a:t>
            </a:fld>
            <a:endParaRPr lang="zh-TW" altLang="en-US" dirty="0"/>
          </a:p>
        </p:txBody>
      </p:sp>
      <p:sp>
        <p:nvSpPr>
          <p:cNvPr id="5" name="標題 1">
            <a:extLst>
              <a:ext uri="{FF2B5EF4-FFF2-40B4-BE49-F238E27FC236}">
                <a16:creationId xmlns:a16="http://schemas.microsoft.com/office/drawing/2014/main" id="{9B69FE09-7D93-4A9A-BD77-F3518FE797D3}"/>
              </a:ext>
            </a:extLst>
          </p:cNvPr>
          <p:cNvSpPr txBox="1">
            <a:spLocks/>
          </p:cNvSpPr>
          <p:nvPr/>
        </p:nvSpPr>
        <p:spPr>
          <a:xfrm>
            <a:off x="107504" y="21371"/>
            <a:ext cx="6705604" cy="71283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b="1" dirty="0">
                <a:latin typeface="Times New Roman" panose="02020603050405020304" pitchFamily="18" charset="0"/>
                <a:cs typeface="Times New Roman" panose="02020603050405020304" pitchFamily="18" charset="0"/>
              </a:rPr>
              <a:t>Parameter Settings</a:t>
            </a:r>
            <a:endParaRPr lang="zh-TW" altLang="en-US" sz="3600" b="1" dirty="0">
              <a:latin typeface="Times New Roman" panose="02020603050405020304" pitchFamily="18" charset="0"/>
              <a:cs typeface="Times New Roman" panose="02020603050405020304" pitchFamily="18" charset="0"/>
            </a:endParaRPr>
          </a:p>
        </p:txBody>
      </p:sp>
      <p:pic>
        <p:nvPicPr>
          <p:cNvPr id="2" name="圖片 1"/>
          <p:cNvPicPr>
            <a:picLocks noChangeAspect="1"/>
          </p:cNvPicPr>
          <p:nvPr/>
        </p:nvPicPr>
        <p:blipFill>
          <a:blip r:embed="rId3"/>
          <a:stretch>
            <a:fillRect/>
          </a:stretch>
        </p:blipFill>
        <p:spPr>
          <a:xfrm>
            <a:off x="1619672" y="1041917"/>
            <a:ext cx="6048672" cy="4814603"/>
          </a:xfrm>
          <a:prstGeom prst="rect">
            <a:avLst/>
          </a:prstGeom>
        </p:spPr>
      </p:pic>
    </p:spTree>
    <p:extLst>
      <p:ext uri="{BB962C8B-B14F-4D97-AF65-F5344CB8AC3E}">
        <p14:creationId xmlns:p14="http://schemas.microsoft.com/office/powerpoint/2010/main" val="254190043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字方塊 10">
            <a:extLst>
              <a:ext uri="{FF2B5EF4-FFF2-40B4-BE49-F238E27FC236}">
                <a16:creationId xmlns:a16="http://schemas.microsoft.com/office/drawing/2014/main" id="{F7024DF5-78FF-4A3F-B7F4-E9879D39926E}"/>
              </a:ext>
            </a:extLst>
          </p:cNvPr>
          <p:cNvSpPr txBox="1"/>
          <p:nvPr/>
        </p:nvSpPr>
        <p:spPr>
          <a:xfrm>
            <a:off x="188616" y="91827"/>
            <a:ext cx="8755811" cy="707886"/>
          </a:xfrm>
          <a:prstGeom prst="rect">
            <a:avLst/>
          </a:prstGeom>
          <a:noFill/>
        </p:spPr>
        <p:txBody>
          <a:bodyPr wrap="square" rtlCol="0">
            <a:spAutoFit/>
          </a:bodyPr>
          <a:lstStyle/>
          <a:p>
            <a:r>
              <a:rPr lang="en-US" altLang="zh-TW" sz="4000" b="1" dirty="0">
                <a:latin typeface="Times New Roman" panose="02020603050405020304" pitchFamily="18" charset="0"/>
                <a:cs typeface="Times New Roman" panose="02020603050405020304" pitchFamily="18" charset="0"/>
              </a:rPr>
              <a:t>Experimental Results</a:t>
            </a:r>
            <a:endParaRPr lang="zh-TW" altLang="en-US" sz="4000" b="1" dirty="0">
              <a:latin typeface="Times New Roman" panose="02020603050405020304" pitchFamily="18" charset="0"/>
              <a:cs typeface="Times New Roman" panose="02020603050405020304" pitchFamily="18" charset="0"/>
            </a:endParaRPr>
          </a:p>
        </p:txBody>
      </p:sp>
      <p:sp>
        <p:nvSpPr>
          <p:cNvPr id="4" name="矩形 3">
            <a:extLst>
              <a:ext uri="{FF2B5EF4-FFF2-40B4-BE49-F238E27FC236}">
                <a16:creationId xmlns:a16="http://schemas.microsoft.com/office/drawing/2014/main" id="{EDF849AA-C470-472D-9D07-237105DCD10A}"/>
              </a:ext>
            </a:extLst>
          </p:cNvPr>
          <p:cNvSpPr/>
          <p:nvPr/>
        </p:nvSpPr>
        <p:spPr>
          <a:xfrm>
            <a:off x="683568" y="799713"/>
            <a:ext cx="7128792" cy="523220"/>
          </a:xfrm>
          <a:prstGeom prst="rect">
            <a:avLst/>
          </a:prstGeom>
        </p:spPr>
        <p:txBody>
          <a:bodyPr wrap="square">
            <a:spAutoFit/>
          </a:bodyPr>
          <a:lstStyle/>
          <a:p>
            <a:r>
              <a:rPr lang="en-US" altLang="zh-TW" sz="2800" b="1" dirty="0">
                <a:latin typeface="Times New Roman" panose="02020603050405020304" pitchFamily="18" charset="0"/>
                <a:cs typeface="Times New Roman" panose="02020603050405020304" pitchFamily="18" charset="0"/>
              </a:rPr>
              <a:t>10-fold cross validation for 5 times:</a:t>
            </a:r>
          </a:p>
        </p:txBody>
      </p:sp>
      <p:sp>
        <p:nvSpPr>
          <p:cNvPr id="8" name="投影片編號版面配置區 3">
            <a:extLst>
              <a:ext uri="{FF2B5EF4-FFF2-40B4-BE49-F238E27FC236}">
                <a16:creationId xmlns:a16="http://schemas.microsoft.com/office/drawing/2014/main" id="{196121B8-8C83-4F9A-A1F1-F830409FB2C1}"/>
              </a:ext>
            </a:extLst>
          </p:cNvPr>
          <p:cNvSpPr>
            <a:spLocks noGrp="1"/>
          </p:cNvSpPr>
          <p:nvPr>
            <p:ph type="sldNum" sz="quarter" idx="12"/>
          </p:nvPr>
        </p:nvSpPr>
        <p:spPr>
          <a:xfrm>
            <a:off x="6553200" y="6356350"/>
            <a:ext cx="2133600" cy="365125"/>
          </a:xfrm>
        </p:spPr>
        <p:txBody>
          <a:bodyPr/>
          <a:lstStyle/>
          <a:p>
            <a:fld id="{04C04D6A-2E29-441A-A244-9F1014899F6D}" type="slidenum">
              <a:rPr lang="zh-TW" altLang="en-US" sz="1600" smtClean="0">
                <a:latin typeface="Times New Roman" panose="02020603050405020304" pitchFamily="18" charset="0"/>
                <a:cs typeface="Times New Roman" panose="02020603050405020304" pitchFamily="18" charset="0"/>
              </a:rPr>
              <a:pPr/>
              <a:t>27</a:t>
            </a:fld>
            <a:endParaRPr lang="zh-TW" altLang="en-US" dirty="0">
              <a:latin typeface="Times New Roman" panose="02020603050405020304" pitchFamily="18" charset="0"/>
              <a:cs typeface="Times New Roman" panose="02020603050405020304" pitchFamily="18" charset="0"/>
            </a:endParaRPr>
          </a:p>
        </p:txBody>
      </p:sp>
      <p:graphicFrame>
        <p:nvGraphicFramePr>
          <p:cNvPr id="10" name="表格 9">
            <a:extLst>
              <a:ext uri="{FF2B5EF4-FFF2-40B4-BE49-F238E27FC236}">
                <a16:creationId xmlns:a16="http://schemas.microsoft.com/office/drawing/2014/main" id="{17D3406B-C508-44B5-AE88-C402EA0BBA8E}"/>
              </a:ext>
            </a:extLst>
          </p:cNvPr>
          <p:cNvGraphicFramePr>
            <a:graphicFrameLocks noGrp="1"/>
          </p:cNvGraphicFramePr>
          <p:nvPr>
            <p:extLst>
              <p:ext uri="{D42A27DB-BD31-4B8C-83A1-F6EECF244321}">
                <p14:modId xmlns:p14="http://schemas.microsoft.com/office/powerpoint/2010/main" val="54579466"/>
              </p:ext>
            </p:extLst>
          </p:nvPr>
        </p:nvGraphicFramePr>
        <p:xfrm>
          <a:off x="1333719" y="1985181"/>
          <a:ext cx="6336705" cy="547337"/>
        </p:xfrm>
        <a:graphic>
          <a:graphicData uri="http://schemas.openxmlformats.org/drawingml/2006/table">
            <a:tbl>
              <a:tblPr firstRow="1" bandRow="1">
                <a:tableStyleId>{5C22544A-7EE6-4342-B048-85BDC9FD1C3A}</a:tableStyleId>
              </a:tblPr>
              <a:tblGrid>
                <a:gridCol w="2566767">
                  <a:extLst>
                    <a:ext uri="{9D8B030D-6E8A-4147-A177-3AD203B41FA5}">
                      <a16:colId xmlns:a16="http://schemas.microsoft.com/office/drawing/2014/main" val="3504849097"/>
                    </a:ext>
                  </a:extLst>
                </a:gridCol>
                <a:gridCol w="2165709">
                  <a:extLst>
                    <a:ext uri="{9D8B030D-6E8A-4147-A177-3AD203B41FA5}">
                      <a16:colId xmlns:a16="http://schemas.microsoft.com/office/drawing/2014/main" val="621468811"/>
                    </a:ext>
                  </a:extLst>
                </a:gridCol>
                <a:gridCol w="1604229">
                  <a:extLst>
                    <a:ext uri="{9D8B030D-6E8A-4147-A177-3AD203B41FA5}">
                      <a16:colId xmlns:a16="http://schemas.microsoft.com/office/drawing/2014/main" val="3995943756"/>
                    </a:ext>
                  </a:extLst>
                </a:gridCol>
              </a:tblGrid>
              <a:tr h="54733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LD</a:t>
                      </a:r>
                      <a:r>
                        <a:rPr kumimoji="0" lang="zh-TW"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 </a:t>
                      </a:r>
                      <a:r>
                        <a:rPr kumimoji="0" lang="en-US" altLang="zh-TW" sz="24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r>
                        <a:rPr lang="en-US" altLang="zh-TW" sz="2400" dirty="0">
                          <a:solidFill>
                            <a:schemeClr val="tx1"/>
                          </a:solidFill>
                          <a:latin typeface="Times New Roman" panose="02020603050405020304" pitchFamily="18" charset="0"/>
                          <a:cs typeface="Times New Roman" panose="02020603050405020304" pitchFamily="18" charset="0"/>
                        </a:rPr>
                        <a:t>27832</a:t>
                      </a:r>
                      <a:r>
                        <a:rPr kumimoji="0" lang="en-US" altLang="zh-TW" sz="24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MD</a:t>
                      </a:r>
                      <a:r>
                        <a:rPr kumimoji="0" lang="zh-TW"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 </a:t>
                      </a:r>
                      <a:r>
                        <a:rPr kumimoji="0" lang="en-US" altLang="zh-TW" sz="24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r>
                        <a:rPr lang="en-US" altLang="zh-TW" sz="2400" dirty="0">
                          <a:solidFill>
                            <a:schemeClr val="tx1"/>
                          </a:solidFill>
                          <a:latin typeface="Times New Roman" panose="02020603050405020304" pitchFamily="18" charset="0"/>
                          <a:cs typeface="Times New Roman" panose="02020603050405020304" pitchFamily="18" charset="0"/>
                        </a:rPr>
                        <a:t>5029</a:t>
                      </a:r>
                      <a:r>
                        <a:rPr kumimoji="0" lang="en-US" altLang="zh-TW" sz="24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HD</a:t>
                      </a:r>
                      <a:r>
                        <a:rPr kumimoji="0" lang="zh-TW"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 </a:t>
                      </a:r>
                      <a:r>
                        <a:rPr kumimoji="0" lang="en-US" altLang="zh-TW" sz="24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r>
                        <a:rPr lang="en-US" altLang="zh-TW" sz="2400" dirty="0">
                          <a:solidFill>
                            <a:schemeClr val="tx1"/>
                          </a:solidFill>
                          <a:latin typeface="Times New Roman" panose="02020603050405020304" pitchFamily="18" charset="0"/>
                          <a:cs typeface="Times New Roman" panose="02020603050405020304" pitchFamily="18" charset="0"/>
                        </a:rPr>
                        <a:t>3637 </a:t>
                      </a:r>
                      <a:r>
                        <a:rPr kumimoji="0" lang="en-US" altLang="zh-TW" sz="24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solidFill>
                      <a:schemeClr val="bg1">
                        <a:lumMod val="85000"/>
                      </a:schemeClr>
                    </a:solidFill>
                  </a:tcPr>
                </a:tc>
                <a:extLst>
                  <a:ext uri="{0D108BD9-81ED-4DB2-BD59-A6C34878D82A}">
                    <a16:rowId xmlns:a16="http://schemas.microsoft.com/office/drawing/2014/main" val="4037527113"/>
                  </a:ext>
                </a:extLst>
              </a:tr>
            </a:tbl>
          </a:graphicData>
        </a:graphic>
      </p:graphicFrame>
      <p:cxnSp>
        <p:nvCxnSpPr>
          <p:cNvPr id="12" name="直線接點 11">
            <a:extLst>
              <a:ext uri="{FF2B5EF4-FFF2-40B4-BE49-F238E27FC236}">
                <a16:creationId xmlns:a16="http://schemas.microsoft.com/office/drawing/2014/main" id="{E7BA7DDE-C115-4EB9-9631-3B1746283931}"/>
              </a:ext>
            </a:extLst>
          </p:cNvPr>
          <p:cNvCxnSpPr>
            <a:cxnSpLocks/>
          </p:cNvCxnSpPr>
          <p:nvPr/>
        </p:nvCxnSpPr>
        <p:spPr>
          <a:xfrm>
            <a:off x="2161812" y="2532518"/>
            <a:ext cx="1080120" cy="6801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5" name="表格 14">
            <a:extLst>
              <a:ext uri="{FF2B5EF4-FFF2-40B4-BE49-F238E27FC236}">
                <a16:creationId xmlns:a16="http://schemas.microsoft.com/office/drawing/2014/main" id="{38D5BCA4-9BFB-4C94-9E37-88D9153C1F1B}"/>
              </a:ext>
            </a:extLst>
          </p:cNvPr>
          <p:cNvGraphicFramePr>
            <a:graphicFrameLocks noGrp="1"/>
          </p:cNvGraphicFramePr>
          <p:nvPr>
            <p:extLst>
              <p:ext uri="{D42A27DB-BD31-4B8C-83A1-F6EECF244321}">
                <p14:modId xmlns:p14="http://schemas.microsoft.com/office/powerpoint/2010/main" val="2509148364"/>
              </p:ext>
            </p:extLst>
          </p:nvPr>
        </p:nvGraphicFramePr>
        <p:xfrm>
          <a:off x="2627784" y="3212706"/>
          <a:ext cx="3676567" cy="547337"/>
        </p:xfrm>
        <a:graphic>
          <a:graphicData uri="http://schemas.openxmlformats.org/drawingml/2006/table">
            <a:tbl>
              <a:tblPr firstRow="1" bandRow="1">
                <a:tableStyleId>{5C22544A-7EE6-4342-B048-85BDC9FD1C3A}</a:tableStyleId>
              </a:tblPr>
              <a:tblGrid>
                <a:gridCol w="1384950">
                  <a:extLst>
                    <a:ext uri="{9D8B030D-6E8A-4147-A177-3AD203B41FA5}">
                      <a16:colId xmlns:a16="http://schemas.microsoft.com/office/drawing/2014/main" val="3504849097"/>
                    </a:ext>
                  </a:extLst>
                </a:gridCol>
                <a:gridCol w="1192960">
                  <a:extLst>
                    <a:ext uri="{9D8B030D-6E8A-4147-A177-3AD203B41FA5}">
                      <a16:colId xmlns:a16="http://schemas.microsoft.com/office/drawing/2014/main" val="621468811"/>
                    </a:ext>
                  </a:extLst>
                </a:gridCol>
                <a:gridCol w="1098657">
                  <a:extLst>
                    <a:ext uri="{9D8B030D-6E8A-4147-A177-3AD203B41FA5}">
                      <a16:colId xmlns:a16="http://schemas.microsoft.com/office/drawing/2014/main" val="3995943756"/>
                    </a:ext>
                  </a:extLst>
                </a:gridCol>
              </a:tblGrid>
              <a:tr h="54733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LD</a:t>
                      </a:r>
                      <a:r>
                        <a:rPr kumimoji="0" lang="zh-TW"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 </a:t>
                      </a:r>
                      <a:r>
                        <a:rPr kumimoji="0" lang="en-US" altLang="zh-TW"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r>
                        <a:rPr lang="en-US" altLang="zh-TW" sz="2000" dirty="0">
                          <a:solidFill>
                            <a:schemeClr val="tx1"/>
                          </a:solidFill>
                          <a:latin typeface="Times New Roman" panose="02020603050405020304" pitchFamily="18" charset="0"/>
                          <a:cs typeface="Times New Roman" panose="02020603050405020304" pitchFamily="18" charset="0"/>
                        </a:rPr>
                        <a:t>2783</a:t>
                      </a:r>
                      <a:r>
                        <a:rPr kumimoji="0" lang="en-US" altLang="zh-TW"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solidFill>
                      <a:schemeClr val="tx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MD</a:t>
                      </a:r>
                      <a:r>
                        <a:rPr kumimoji="0" lang="zh-TW"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 </a:t>
                      </a:r>
                      <a:r>
                        <a:rPr kumimoji="0" lang="en-US" altLang="zh-TW"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r>
                        <a:rPr lang="en-US" altLang="zh-TW" sz="2000" dirty="0">
                          <a:solidFill>
                            <a:schemeClr val="tx1"/>
                          </a:solidFill>
                          <a:latin typeface="Times New Roman" panose="02020603050405020304" pitchFamily="18" charset="0"/>
                          <a:cs typeface="Times New Roman" panose="02020603050405020304" pitchFamily="18" charset="0"/>
                        </a:rPr>
                        <a:t>503</a:t>
                      </a:r>
                      <a:r>
                        <a:rPr kumimoji="0" lang="en-US" altLang="zh-TW"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solidFill>
                      <a:schemeClr val="tx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HD</a:t>
                      </a:r>
                      <a:r>
                        <a:rPr kumimoji="0" lang="zh-TW"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 </a:t>
                      </a:r>
                      <a:r>
                        <a:rPr kumimoji="0" lang="en-US" altLang="zh-TW"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r>
                        <a:rPr lang="en-US" altLang="zh-TW" sz="2000" dirty="0">
                          <a:solidFill>
                            <a:schemeClr val="tx1"/>
                          </a:solidFill>
                          <a:latin typeface="Times New Roman" panose="02020603050405020304" pitchFamily="18" charset="0"/>
                          <a:cs typeface="Times New Roman" panose="02020603050405020304" pitchFamily="18" charset="0"/>
                        </a:rPr>
                        <a:t>364</a:t>
                      </a:r>
                      <a:r>
                        <a:rPr kumimoji="0" lang="en-US" altLang="zh-TW"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solidFill>
                      <a:schemeClr val="tx2">
                        <a:lumMod val="40000"/>
                        <a:lumOff val="60000"/>
                      </a:schemeClr>
                    </a:solidFill>
                  </a:tcPr>
                </a:tc>
                <a:extLst>
                  <a:ext uri="{0D108BD9-81ED-4DB2-BD59-A6C34878D82A}">
                    <a16:rowId xmlns:a16="http://schemas.microsoft.com/office/drawing/2014/main" val="4037527113"/>
                  </a:ext>
                </a:extLst>
              </a:tr>
            </a:tbl>
          </a:graphicData>
        </a:graphic>
      </p:graphicFrame>
      <p:cxnSp>
        <p:nvCxnSpPr>
          <p:cNvPr id="17" name="直線接點 16">
            <a:extLst>
              <a:ext uri="{FF2B5EF4-FFF2-40B4-BE49-F238E27FC236}">
                <a16:creationId xmlns:a16="http://schemas.microsoft.com/office/drawing/2014/main" id="{16737091-CA86-4073-9E65-AC3DAFA5AE5D}"/>
              </a:ext>
            </a:extLst>
          </p:cNvPr>
          <p:cNvCxnSpPr>
            <a:cxnSpLocks/>
            <a:endCxn id="15" idx="0"/>
          </p:cNvCxnSpPr>
          <p:nvPr/>
        </p:nvCxnSpPr>
        <p:spPr>
          <a:xfrm flipH="1">
            <a:off x="4466067" y="2532518"/>
            <a:ext cx="2" cy="680188"/>
          </a:xfrm>
          <a:prstGeom prst="line">
            <a:avLst/>
          </a:prstGeom>
          <a:ln w="19050"/>
        </p:spPr>
        <p:style>
          <a:lnRef idx="1">
            <a:schemeClr val="dk1"/>
          </a:lnRef>
          <a:fillRef idx="0">
            <a:schemeClr val="dk1"/>
          </a:fillRef>
          <a:effectRef idx="0">
            <a:schemeClr val="dk1"/>
          </a:effectRef>
          <a:fontRef idx="minor">
            <a:schemeClr val="tx1"/>
          </a:fontRef>
        </p:style>
      </p:cxnSp>
      <p:cxnSp>
        <p:nvCxnSpPr>
          <p:cNvPr id="18" name="直線接點 17">
            <a:extLst>
              <a:ext uri="{FF2B5EF4-FFF2-40B4-BE49-F238E27FC236}">
                <a16:creationId xmlns:a16="http://schemas.microsoft.com/office/drawing/2014/main" id="{815832C1-F2B8-405F-862A-05E9D4EA2084}"/>
              </a:ext>
            </a:extLst>
          </p:cNvPr>
          <p:cNvCxnSpPr>
            <a:cxnSpLocks/>
          </p:cNvCxnSpPr>
          <p:nvPr/>
        </p:nvCxnSpPr>
        <p:spPr>
          <a:xfrm flipH="1">
            <a:off x="5690204" y="2511070"/>
            <a:ext cx="918104" cy="687272"/>
          </a:xfrm>
          <a:prstGeom prst="line">
            <a:avLst/>
          </a:prstGeom>
          <a:ln w="19050"/>
        </p:spPr>
        <p:style>
          <a:lnRef idx="1">
            <a:schemeClr val="dk1"/>
          </a:lnRef>
          <a:fillRef idx="0">
            <a:schemeClr val="dk1"/>
          </a:fillRef>
          <a:effectRef idx="0">
            <a:schemeClr val="dk1"/>
          </a:effectRef>
          <a:fontRef idx="minor">
            <a:schemeClr val="tx1"/>
          </a:fontRef>
        </p:style>
      </p:cxnSp>
      <p:graphicFrame>
        <p:nvGraphicFramePr>
          <p:cNvPr id="20" name="表格 19">
            <a:extLst>
              <a:ext uri="{FF2B5EF4-FFF2-40B4-BE49-F238E27FC236}">
                <a16:creationId xmlns:a16="http://schemas.microsoft.com/office/drawing/2014/main" id="{EF78915A-2A48-473B-AB22-AAC8290F93E3}"/>
              </a:ext>
            </a:extLst>
          </p:cNvPr>
          <p:cNvGraphicFramePr>
            <a:graphicFrameLocks noGrp="1"/>
          </p:cNvGraphicFramePr>
          <p:nvPr>
            <p:extLst>
              <p:ext uri="{D42A27DB-BD31-4B8C-83A1-F6EECF244321}">
                <p14:modId xmlns:p14="http://schemas.microsoft.com/office/powerpoint/2010/main" val="3625491619"/>
              </p:ext>
            </p:extLst>
          </p:nvPr>
        </p:nvGraphicFramePr>
        <p:xfrm>
          <a:off x="2627784" y="3864166"/>
          <a:ext cx="3676567" cy="547337"/>
        </p:xfrm>
        <a:graphic>
          <a:graphicData uri="http://schemas.openxmlformats.org/drawingml/2006/table">
            <a:tbl>
              <a:tblPr firstRow="1" bandRow="1">
                <a:tableStyleId>{5C22544A-7EE6-4342-B048-85BDC9FD1C3A}</a:tableStyleId>
              </a:tblPr>
              <a:tblGrid>
                <a:gridCol w="1384950">
                  <a:extLst>
                    <a:ext uri="{9D8B030D-6E8A-4147-A177-3AD203B41FA5}">
                      <a16:colId xmlns:a16="http://schemas.microsoft.com/office/drawing/2014/main" val="3504849097"/>
                    </a:ext>
                  </a:extLst>
                </a:gridCol>
                <a:gridCol w="1192960">
                  <a:extLst>
                    <a:ext uri="{9D8B030D-6E8A-4147-A177-3AD203B41FA5}">
                      <a16:colId xmlns:a16="http://schemas.microsoft.com/office/drawing/2014/main" val="621468811"/>
                    </a:ext>
                  </a:extLst>
                </a:gridCol>
                <a:gridCol w="1098657">
                  <a:extLst>
                    <a:ext uri="{9D8B030D-6E8A-4147-A177-3AD203B41FA5}">
                      <a16:colId xmlns:a16="http://schemas.microsoft.com/office/drawing/2014/main" val="3995943756"/>
                    </a:ext>
                  </a:extLst>
                </a:gridCol>
              </a:tblGrid>
              <a:tr h="54733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LD</a:t>
                      </a:r>
                      <a:r>
                        <a:rPr kumimoji="0" lang="zh-TW"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 </a:t>
                      </a:r>
                      <a:r>
                        <a:rPr kumimoji="0" lang="en-US" altLang="zh-TW"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r>
                        <a:rPr lang="en-US" altLang="zh-TW" sz="2000" dirty="0">
                          <a:solidFill>
                            <a:schemeClr val="tx1"/>
                          </a:solidFill>
                          <a:latin typeface="Times New Roman" panose="02020603050405020304" pitchFamily="18" charset="0"/>
                          <a:cs typeface="Times New Roman" panose="02020603050405020304" pitchFamily="18" charset="0"/>
                        </a:rPr>
                        <a:t>2783</a:t>
                      </a:r>
                      <a:r>
                        <a:rPr kumimoji="0" lang="en-US" altLang="zh-TW"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solidFill>
                      <a:schemeClr val="tx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MD</a:t>
                      </a:r>
                      <a:r>
                        <a:rPr kumimoji="0" lang="zh-TW"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 </a:t>
                      </a:r>
                      <a:r>
                        <a:rPr kumimoji="0" lang="en-US" altLang="zh-TW"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r>
                        <a:rPr lang="en-US" altLang="zh-TW" sz="2000" dirty="0">
                          <a:solidFill>
                            <a:schemeClr val="tx1"/>
                          </a:solidFill>
                          <a:latin typeface="Times New Roman" panose="02020603050405020304" pitchFamily="18" charset="0"/>
                          <a:cs typeface="Times New Roman" panose="02020603050405020304" pitchFamily="18" charset="0"/>
                        </a:rPr>
                        <a:t>503</a:t>
                      </a:r>
                      <a:r>
                        <a:rPr kumimoji="0" lang="en-US" altLang="zh-TW"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solidFill>
                      <a:schemeClr val="tx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HD</a:t>
                      </a:r>
                      <a:r>
                        <a:rPr kumimoji="0" lang="zh-TW"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 </a:t>
                      </a:r>
                      <a:r>
                        <a:rPr kumimoji="0" lang="en-US" altLang="zh-TW"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r>
                        <a:rPr lang="en-US" altLang="zh-TW" sz="2000" dirty="0">
                          <a:solidFill>
                            <a:schemeClr val="tx1"/>
                          </a:solidFill>
                          <a:latin typeface="Times New Roman" panose="02020603050405020304" pitchFamily="18" charset="0"/>
                          <a:cs typeface="Times New Roman" panose="02020603050405020304" pitchFamily="18" charset="0"/>
                        </a:rPr>
                        <a:t>364</a:t>
                      </a:r>
                      <a:r>
                        <a:rPr kumimoji="0" lang="en-US" altLang="zh-TW"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solidFill>
                      <a:schemeClr val="tx2">
                        <a:lumMod val="40000"/>
                        <a:lumOff val="60000"/>
                      </a:schemeClr>
                    </a:solidFill>
                  </a:tcPr>
                </a:tc>
                <a:extLst>
                  <a:ext uri="{0D108BD9-81ED-4DB2-BD59-A6C34878D82A}">
                    <a16:rowId xmlns:a16="http://schemas.microsoft.com/office/drawing/2014/main" val="4037527113"/>
                  </a:ext>
                </a:extLst>
              </a:tr>
            </a:tbl>
          </a:graphicData>
        </a:graphic>
      </p:graphicFrame>
      <p:sp>
        <p:nvSpPr>
          <p:cNvPr id="21" name="矩形 20">
            <a:extLst>
              <a:ext uri="{FF2B5EF4-FFF2-40B4-BE49-F238E27FC236}">
                <a16:creationId xmlns:a16="http://schemas.microsoft.com/office/drawing/2014/main" id="{3347B62B-163D-46B3-A27E-07097099FF6D}"/>
              </a:ext>
            </a:extLst>
          </p:cNvPr>
          <p:cNvSpPr/>
          <p:nvPr/>
        </p:nvSpPr>
        <p:spPr>
          <a:xfrm>
            <a:off x="4368282" y="4579726"/>
            <a:ext cx="559770" cy="523220"/>
          </a:xfrm>
          <a:prstGeom prst="rect">
            <a:avLst/>
          </a:prstGeom>
        </p:spPr>
        <p:txBody>
          <a:bodyPr wrap="none">
            <a:spAutoFit/>
          </a:bodyPr>
          <a:lstStyle/>
          <a:p>
            <a:pPr algn="ctr"/>
            <a:r>
              <a:rPr lang="en-US" altLang="zh-TW" sz="2800"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p:txBody>
      </p:sp>
      <p:graphicFrame>
        <p:nvGraphicFramePr>
          <p:cNvPr id="22" name="表格 21">
            <a:extLst>
              <a:ext uri="{FF2B5EF4-FFF2-40B4-BE49-F238E27FC236}">
                <a16:creationId xmlns:a16="http://schemas.microsoft.com/office/drawing/2014/main" id="{0F7B7F2D-BDD4-450B-AB4F-03962EA2BD32}"/>
              </a:ext>
            </a:extLst>
          </p:cNvPr>
          <p:cNvGraphicFramePr>
            <a:graphicFrameLocks noGrp="1"/>
          </p:cNvGraphicFramePr>
          <p:nvPr>
            <p:extLst>
              <p:ext uri="{D42A27DB-BD31-4B8C-83A1-F6EECF244321}">
                <p14:modId xmlns:p14="http://schemas.microsoft.com/office/powerpoint/2010/main" val="299106680"/>
              </p:ext>
            </p:extLst>
          </p:nvPr>
        </p:nvGraphicFramePr>
        <p:xfrm>
          <a:off x="2650023" y="5171133"/>
          <a:ext cx="3676567" cy="547337"/>
        </p:xfrm>
        <a:graphic>
          <a:graphicData uri="http://schemas.openxmlformats.org/drawingml/2006/table">
            <a:tbl>
              <a:tblPr firstRow="1" bandRow="1">
                <a:tableStyleId>{5C22544A-7EE6-4342-B048-85BDC9FD1C3A}</a:tableStyleId>
              </a:tblPr>
              <a:tblGrid>
                <a:gridCol w="1384950">
                  <a:extLst>
                    <a:ext uri="{9D8B030D-6E8A-4147-A177-3AD203B41FA5}">
                      <a16:colId xmlns:a16="http://schemas.microsoft.com/office/drawing/2014/main" val="3504849097"/>
                    </a:ext>
                  </a:extLst>
                </a:gridCol>
                <a:gridCol w="1192960">
                  <a:extLst>
                    <a:ext uri="{9D8B030D-6E8A-4147-A177-3AD203B41FA5}">
                      <a16:colId xmlns:a16="http://schemas.microsoft.com/office/drawing/2014/main" val="621468811"/>
                    </a:ext>
                  </a:extLst>
                </a:gridCol>
                <a:gridCol w="1098657">
                  <a:extLst>
                    <a:ext uri="{9D8B030D-6E8A-4147-A177-3AD203B41FA5}">
                      <a16:colId xmlns:a16="http://schemas.microsoft.com/office/drawing/2014/main" val="3995943756"/>
                    </a:ext>
                  </a:extLst>
                </a:gridCol>
              </a:tblGrid>
              <a:tr h="54733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LD</a:t>
                      </a:r>
                      <a:r>
                        <a:rPr kumimoji="0" lang="zh-TW"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 </a:t>
                      </a:r>
                      <a:r>
                        <a:rPr kumimoji="0" lang="en-US" altLang="zh-TW"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r>
                        <a:rPr lang="en-US" altLang="zh-TW" sz="2000" dirty="0">
                          <a:solidFill>
                            <a:schemeClr val="tx1"/>
                          </a:solidFill>
                          <a:latin typeface="Times New Roman" panose="02020603050405020304" pitchFamily="18" charset="0"/>
                          <a:cs typeface="Times New Roman" panose="02020603050405020304" pitchFamily="18" charset="0"/>
                        </a:rPr>
                        <a:t>2785</a:t>
                      </a:r>
                      <a:r>
                        <a:rPr kumimoji="0" lang="en-US" altLang="zh-TW"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MD</a:t>
                      </a:r>
                      <a:r>
                        <a:rPr kumimoji="0" lang="zh-TW"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 </a:t>
                      </a:r>
                      <a:r>
                        <a:rPr kumimoji="0" lang="en-US" altLang="zh-TW"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r>
                        <a:rPr lang="en-US" altLang="zh-TW" sz="2000" dirty="0">
                          <a:solidFill>
                            <a:schemeClr val="tx1"/>
                          </a:solidFill>
                          <a:latin typeface="Times New Roman" panose="02020603050405020304" pitchFamily="18" charset="0"/>
                          <a:cs typeface="Times New Roman" panose="02020603050405020304" pitchFamily="18" charset="0"/>
                        </a:rPr>
                        <a:t>502</a:t>
                      </a:r>
                      <a:r>
                        <a:rPr kumimoji="0" lang="en-US" altLang="zh-TW"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HD</a:t>
                      </a:r>
                      <a:r>
                        <a:rPr kumimoji="0" lang="zh-TW"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 </a:t>
                      </a:r>
                      <a:r>
                        <a:rPr kumimoji="0" lang="en-US" altLang="zh-TW"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r>
                        <a:rPr lang="en-US" altLang="zh-TW" sz="2000" dirty="0">
                          <a:solidFill>
                            <a:schemeClr val="tx1"/>
                          </a:solidFill>
                          <a:latin typeface="Times New Roman" panose="02020603050405020304" pitchFamily="18" charset="0"/>
                          <a:cs typeface="Times New Roman" panose="02020603050405020304" pitchFamily="18" charset="0"/>
                        </a:rPr>
                        <a:t>361</a:t>
                      </a:r>
                      <a:r>
                        <a:rPr kumimoji="0" lang="en-US" altLang="zh-TW"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solidFill>
                      <a:srgbClr val="FFC000"/>
                    </a:solidFill>
                  </a:tcPr>
                </a:tc>
                <a:extLst>
                  <a:ext uri="{0D108BD9-81ED-4DB2-BD59-A6C34878D82A}">
                    <a16:rowId xmlns:a16="http://schemas.microsoft.com/office/drawing/2014/main" val="4037527113"/>
                  </a:ext>
                </a:extLst>
              </a:tr>
            </a:tbl>
          </a:graphicData>
        </a:graphic>
      </p:graphicFrame>
      <p:cxnSp>
        <p:nvCxnSpPr>
          <p:cNvPr id="31" name="直線接點 30">
            <a:extLst>
              <a:ext uri="{FF2B5EF4-FFF2-40B4-BE49-F238E27FC236}">
                <a16:creationId xmlns:a16="http://schemas.microsoft.com/office/drawing/2014/main" id="{DF9B5E81-C583-4A84-AFD3-9F44327F317B}"/>
              </a:ext>
            </a:extLst>
          </p:cNvPr>
          <p:cNvCxnSpPr>
            <a:cxnSpLocks/>
            <a:endCxn id="15" idx="1"/>
          </p:cNvCxnSpPr>
          <p:nvPr/>
        </p:nvCxnSpPr>
        <p:spPr>
          <a:xfrm flipV="1">
            <a:off x="1868814" y="3486374"/>
            <a:ext cx="758970" cy="645518"/>
          </a:xfrm>
          <a:prstGeom prst="line">
            <a:avLst/>
          </a:prstGeom>
          <a:ln w="25400"/>
        </p:spPr>
        <p:style>
          <a:lnRef idx="1">
            <a:schemeClr val="dk1"/>
          </a:lnRef>
          <a:fillRef idx="0">
            <a:schemeClr val="dk1"/>
          </a:fillRef>
          <a:effectRef idx="0">
            <a:schemeClr val="dk1"/>
          </a:effectRef>
          <a:fontRef idx="minor">
            <a:schemeClr val="tx1"/>
          </a:fontRef>
        </p:style>
      </p:cxnSp>
      <p:cxnSp>
        <p:nvCxnSpPr>
          <p:cNvPr id="32" name="直線接點 31">
            <a:extLst>
              <a:ext uri="{FF2B5EF4-FFF2-40B4-BE49-F238E27FC236}">
                <a16:creationId xmlns:a16="http://schemas.microsoft.com/office/drawing/2014/main" id="{756A2D91-8C6E-44FA-94E4-E33BA6769EF2}"/>
              </a:ext>
            </a:extLst>
          </p:cNvPr>
          <p:cNvCxnSpPr>
            <a:cxnSpLocks/>
            <a:endCxn id="22" idx="1"/>
          </p:cNvCxnSpPr>
          <p:nvPr/>
        </p:nvCxnSpPr>
        <p:spPr>
          <a:xfrm>
            <a:off x="1868814" y="4808672"/>
            <a:ext cx="781209" cy="636129"/>
          </a:xfrm>
          <a:prstGeom prst="line">
            <a:avLst/>
          </a:prstGeom>
          <a:ln w="25400"/>
        </p:spPr>
        <p:style>
          <a:lnRef idx="1">
            <a:schemeClr val="dk1"/>
          </a:lnRef>
          <a:fillRef idx="0">
            <a:schemeClr val="dk1"/>
          </a:fillRef>
          <a:effectRef idx="0">
            <a:schemeClr val="dk1"/>
          </a:effectRef>
          <a:fontRef idx="minor">
            <a:schemeClr val="tx1"/>
          </a:fontRef>
        </p:style>
      </p:cxnSp>
      <p:sp>
        <p:nvSpPr>
          <p:cNvPr id="33" name="文字方塊 32">
            <a:extLst>
              <a:ext uri="{FF2B5EF4-FFF2-40B4-BE49-F238E27FC236}">
                <a16:creationId xmlns:a16="http://schemas.microsoft.com/office/drawing/2014/main" id="{BC381DA9-463B-41E5-A139-78AFFA43FE23}"/>
              </a:ext>
            </a:extLst>
          </p:cNvPr>
          <p:cNvSpPr txBox="1"/>
          <p:nvPr/>
        </p:nvSpPr>
        <p:spPr>
          <a:xfrm>
            <a:off x="1530080" y="4180670"/>
            <a:ext cx="523220" cy="461665"/>
          </a:xfrm>
          <a:prstGeom prst="rect">
            <a:avLst/>
          </a:prstGeom>
          <a:noFill/>
        </p:spPr>
        <p:txBody>
          <a:bodyPr wrap="square" rtlCol="0">
            <a:spAutoFit/>
          </a:bodyPr>
          <a:lstStyle/>
          <a:p>
            <a:r>
              <a:rPr lang="en-US" altLang="zh-TW" sz="2400" b="1" dirty="0">
                <a:latin typeface="Times New Roman" panose="02020603050405020304" pitchFamily="18" charset="0"/>
                <a:cs typeface="Times New Roman" panose="02020603050405020304" pitchFamily="18" charset="0"/>
              </a:rPr>
              <a:t>10</a:t>
            </a:r>
            <a:endParaRPr lang="zh-TW" alt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5224626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字方塊 10">
            <a:extLst>
              <a:ext uri="{FF2B5EF4-FFF2-40B4-BE49-F238E27FC236}">
                <a16:creationId xmlns:a16="http://schemas.microsoft.com/office/drawing/2014/main" id="{F7024DF5-78FF-4A3F-B7F4-E9879D39926E}"/>
              </a:ext>
            </a:extLst>
          </p:cNvPr>
          <p:cNvSpPr txBox="1"/>
          <p:nvPr/>
        </p:nvSpPr>
        <p:spPr>
          <a:xfrm>
            <a:off x="188616" y="91827"/>
            <a:ext cx="8755811" cy="707886"/>
          </a:xfrm>
          <a:prstGeom prst="rect">
            <a:avLst/>
          </a:prstGeom>
          <a:noFill/>
        </p:spPr>
        <p:txBody>
          <a:bodyPr wrap="square" rtlCol="0">
            <a:spAutoFit/>
          </a:bodyPr>
          <a:lstStyle/>
          <a:p>
            <a:r>
              <a:rPr lang="en-US" altLang="zh-TW" sz="4000" b="1" dirty="0">
                <a:latin typeface="Times New Roman" panose="02020603050405020304" pitchFamily="18" charset="0"/>
                <a:cs typeface="Times New Roman" panose="02020603050405020304" pitchFamily="18" charset="0"/>
              </a:rPr>
              <a:t>Experimental Results</a:t>
            </a:r>
            <a:endParaRPr lang="zh-TW" altLang="en-US" sz="4000" b="1" dirty="0">
              <a:latin typeface="Times New Roman" panose="02020603050405020304" pitchFamily="18" charset="0"/>
              <a:cs typeface="Times New Roman" panose="02020603050405020304" pitchFamily="18" charset="0"/>
            </a:endParaRPr>
          </a:p>
        </p:txBody>
      </p:sp>
      <p:sp>
        <p:nvSpPr>
          <p:cNvPr id="4" name="矩形 3">
            <a:extLst>
              <a:ext uri="{FF2B5EF4-FFF2-40B4-BE49-F238E27FC236}">
                <a16:creationId xmlns:a16="http://schemas.microsoft.com/office/drawing/2014/main" id="{EDF849AA-C470-472D-9D07-237105DCD10A}"/>
              </a:ext>
            </a:extLst>
          </p:cNvPr>
          <p:cNvSpPr/>
          <p:nvPr/>
        </p:nvSpPr>
        <p:spPr>
          <a:xfrm>
            <a:off x="683568" y="799713"/>
            <a:ext cx="7128792" cy="523220"/>
          </a:xfrm>
          <a:prstGeom prst="rect">
            <a:avLst/>
          </a:prstGeom>
        </p:spPr>
        <p:txBody>
          <a:bodyPr wrap="square">
            <a:spAutoFit/>
          </a:bodyPr>
          <a:lstStyle/>
          <a:p>
            <a:r>
              <a:rPr lang="en-US" altLang="zh-TW" sz="2800" b="1" dirty="0">
                <a:latin typeface="Times New Roman" panose="02020603050405020304" pitchFamily="18" charset="0"/>
                <a:cs typeface="Times New Roman" panose="02020603050405020304" pitchFamily="18" charset="0"/>
              </a:rPr>
              <a:t>10-fold cross validation for 5 times:</a:t>
            </a:r>
          </a:p>
        </p:txBody>
      </p:sp>
      <p:sp>
        <p:nvSpPr>
          <p:cNvPr id="8" name="投影片編號版面配置區 3">
            <a:extLst>
              <a:ext uri="{FF2B5EF4-FFF2-40B4-BE49-F238E27FC236}">
                <a16:creationId xmlns:a16="http://schemas.microsoft.com/office/drawing/2014/main" id="{196121B8-8C83-4F9A-A1F1-F830409FB2C1}"/>
              </a:ext>
            </a:extLst>
          </p:cNvPr>
          <p:cNvSpPr>
            <a:spLocks noGrp="1"/>
          </p:cNvSpPr>
          <p:nvPr>
            <p:ph type="sldNum" sz="quarter" idx="12"/>
          </p:nvPr>
        </p:nvSpPr>
        <p:spPr>
          <a:xfrm>
            <a:off x="6553200" y="6356350"/>
            <a:ext cx="2133600" cy="365125"/>
          </a:xfrm>
        </p:spPr>
        <p:txBody>
          <a:bodyPr/>
          <a:lstStyle/>
          <a:p>
            <a:fld id="{04C04D6A-2E29-441A-A244-9F1014899F6D}" type="slidenum">
              <a:rPr lang="zh-TW" altLang="en-US" sz="1600" smtClean="0">
                <a:latin typeface="Times New Roman" panose="02020603050405020304" pitchFamily="18" charset="0"/>
                <a:cs typeface="Times New Roman" panose="02020603050405020304" pitchFamily="18" charset="0"/>
              </a:rPr>
              <a:pPr/>
              <a:t>28</a:t>
            </a:fld>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3" name="表格 2">
                <a:extLst>
                  <a:ext uri="{FF2B5EF4-FFF2-40B4-BE49-F238E27FC236}">
                    <a16:creationId xmlns:a16="http://schemas.microsoft.com/office/drawing/2014/main" id="{5DAA1240-CEF3-46FF-9823-E53F659891A7}"/>
                  </a:ext>
                </a:extLst>
              </p:cNvPr>
              <p:cNvGraphicFramePr>
                <a:graphicFrameLocks noGrp="1"/>
              </p:cNvGraphicFramePr>
              <p:nvPr>
                <p:extLst>
                  <p:ext uri="{D42A27DB-BD31-4B8C-83A1-F6EECF244321}">
                    <p14:modId xmlns:p14="http://schemas.microsoft.com/office/powerpoint/2010/main" val="848889665"/>
                  </p:ext>
                </p:extLst>
              </p:nvPr>
            </p:nvGraphicFramePr>
            <p:xfrm>
              <a:off x="336521" y="1573639"/>
              <a:ext cx="8459997" cy="3097002"/>
            </p:xfrm>
            <a:graphic>
              <a:graphicData uri="http://schemas.openxmlformats.org/drawingml/2006/table">
                <a:tbl>
                  <a:tblPr firstRow="1" bandRow="1">
                    <a:tableStyleId>{5940675A-B579-460E-94D1-54222C63F5DA}</a:tableStyleId>
                  </a:tblPr>
                  <a:tblGrid>
                    <a:gridCol w="1208571">
                      <a:extLst>
                        <a:ext uri="{9D8B030D-6E8A-4147-A177-3AD203B41FA5}">
                          <a16:colId xmlns:a16="http://schemas.microsoft.com/office/drawing/2014/main" val="20000"/>
                        </a:ext>
                      </a:extLst>
                    </a:gridCol>
                    <a:gridCol w="1208571">
                      <a:extLst>
                        <a:ext uri="{9D8B030D-6E8A-4147-A177-3AD203B41FA5}">
                          <a16:colId xmlns:a16="http://schemas.microsoft.com/office/drawing/2014/main" val="1090817593"/>
                        </a:ext>
                      </a:extLst>
                    </a:gridCol>
                    <a:gridCol w="1208571">
                      <a:extLst>
                        <a:ext uri="{9D8B030D-6E8A-4147-A177-3AD203B41FA5}">
                          <a16:colId xmlns:a16="http://schemas.microsoft.com/office/drawing/2014/main" val="20001"/>
                        </a:ext>
                      </a:extLst>
                    </a:gridCol>
                    <a:gridCol w="1208571">
                      <a:extLst>
                        <a:ext uri="{9D8B030D-6E8A-4147-A177-3AD203B41FA5}">
                          <a16:colId xmlns:a16="http://schemas.microsoft.com/office/drawing/2014/main" val="3242960352"/>
                        </a:ext>
                      </a:extLst>
                    </a:gridCol>
                    <a:gridCol w="1208571">
                      <a:extLst>
                        <a:ext uri="{9D8B030D-6E8A-4147-A177-3AD203B41FA5}">
                          <a16:colId xmlns:a16="http://schemas.microsoft.com/office/drawing/2014/main" val="176215867"/>
                        </a:ext>
                      </a:extLst>
                    </a:gridCol>
                    <a:gridCol w="1208571">
                      <a:extLst>
                        <a:ext uri="{9D8B030D-6E8A-4147-A177-3AD203B41FA5}">
                          <a16:colId xmlns:a16="http://schemas.microsoft.com/office/drawing/2014/main" val="2859968244"/>
                        </a:ext>
                      </a:extLst>
                    </a:gridCol>
                    <a:gridCol w="1208571">
                      <a:extLst>
                        <a:ext uri="{9D8B030D-6E8A-4147-A177-3AD203B41FA5}">
                          <a16:colId xmlns:a16="http://schemas.microsoft.com/office/drawing/2014/main" val="324101211"/>
                        </a:ext>
                      </a:extLst>
                    </a:gridCol>
                  </a:tblGrid>
                  <a:tr h="749800">
                    <a:tc gridSpan="2">
                      <a:txBody>
                        <a:bodyPr/>
                        <a:lstStyle/>
                        <a:p>
                          <a:pPr algn="ctr"/>
                          <a:endParaRPr lang="zh-TW" altLang="en-US" sz="16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TlToBr w="12700" cap="flat" cmpd="sng" algn="ctr">
                          <a:solidFill>
                            <a:schemeClr val="tx1"/>
                          </a:solidFill>
                          <a:prstDash val="solid"/>
                          <a:round/>
                          <a:headEnd type="none" w="med" len="med"/>
                          <a:tailEnd type="none" w="med" len="med"/>
                        </a:lnTlToBr>
                        <a:solidFill>
                          <a:schemeClr val="accent2">
                            <a:lumMod val="20000"/>
                            <a:lumOff val="80000"/>
                          </a:schemeClr>
                        </a:solidFill>
                      </a:tcPr>
                    </a:tc>
                    <a:tc hMerge="1">
                      <a:txBody>
                        <a:bodyPr/>
                        <a:lstStyle/>
                        <a:p>
                          <a:pPr algn="ctr"/>
                          <a:endParaRPr lang="zh-TW" altLang="en-US" sz="2000"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tc>
                    <a:tc>
                      <a:txBody>
                        <a:bodyPr/>
                        <a:lstStyle/>
                        <a:p>
                          <a:pPr algn="ctr"/>
                          <a:r>
                            <a:rPr lang="en-US" altLang="zh-TW" sz="1600" b="1" dirty="0">
                              <a:latin typeface="Times New Roman" panose="02020603050405020304" pitchFamily="18" charset="0"/>
                              <a:ea typeface="新細明體" panose="02020500000000000000" pitchFamily="18" charset="-120"/>
                              <a:cs typeface="Times New Roman" panose="02020603050405020304" pitchFamily="18" charset="0"/>
                            </a:rPr>
                            <a:t>GAHS</a:t>
                          </a:r>
                        </a:p>
                        <a:p>
                          <a:pPr algn="ctr"/>
                          <a:r>
                            <a:rPr lang="en-US" altLang="zh-TW" sz="1600" b="1" dirty="0">
                              <a:latin typeface="Times New Roman" panose="02020603050405020304" pitchFamily="18" charset="0"/>
                              <a:ea typeface="新細明體" panose="02020500000000000000" pitchFamily="18" charset="-120"/>
                              <a:cs typeface="Times New Roman" panose="02020603050405020304" pitchFamily="18" charset="0"/>
                            </a:rPr>
                            <a:t>27</a:t>
                          </a:r>
                          <a:endParaRPr lang="zh-TW" altLang="en-US" sz="16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solidFill>
                          <a:schemeClr val="accent2">
                            <a:lumMod val="20000"/>
                            <a:lumOff val="80000"/>
                          </a:schemeClr>
                        </a:solidFill>
                      </a:tcPr>
                    </a:tc>
                    <a:tc>
                      <a:txBody>
                        <a:bodyPr/>
                        <a:lstStyle/>
                        <a:p>
                          <a:pPr algn="ctr"/>
                          <a:r>
                            <a:rPr lang="en-US" altLang="zh-TW" sz="1600" b="1" dirty="0">
                              <a:latin typeface="Times New Roman" panose="02020603050405020304" pitchFamily="18" charset="0"/>
                              <a:ea typeface="+mn-ea"/>
                              <a:cs typeface="Times New Roman" panose="02020603050405020304" pitchFamily="18" charset="0"/>
                            </a:rPr>
                            <a:t>GAHS</a:t>
                          </a:r>
                          <a:endParaRPr lang="en-US" altLang="zh-TW" sz="1600" b="1" dirty="0">
                            <a:latin typeface="Times New Roman" panose="02020603050405020304" pitchFamily="18" charset="0"/>
                            <a:ea typeface="新細明體" panose="02020500000000000000" pitchFamily="18" charset="-120"/>
                            <a:cs typeface="Times New Roman" panose="02020603050405020304" pitchFamily="18" charset="0"/>
                          </a:endParaRPr>
                        </a:p>
                        <a:p>
                          <a:pPr algn="ctr"/>
                          <a:r>
                            <a:rPr lang="en-US" altLang="zh-TW" sz="1600" b="1" dirty="0">
                              <a:latin typeface="Times New Roman" panose="02020603050405020304" pitchFamily="18" charset="0"/>
                              <a:ea typeface="新細明體" panose="02020500000000000000" pitchFamily="18" charset="-120"/>
                              <a:cs typeface="Times New Roman" panose="02020603050405020304" pitchFamily="18" charset="0"/>
                            </a:rPr>
                            <a:t>16</a:t>
                          </a:r>
                          <a:endParaRPr lang="zh-TW" altLang="en-US" sz="16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solidFill>
                          <a:schemeClr val="accent2">
                            <a:lumMod val="20000"/>
                            <a:lumOff val="80000"/>
                          </a:schemeClr>
                        </a:solidFill>
                      </a:tcPr>
                    </a:tc>
                    <a:tc>
                      <a:txBody>
                        <a:bodyPr/>
                        <a:lstStyle/>
                        <a:p>
                          <a:pPr algn="ctr"/>
                          <a:r>
                            <a:rPr lang="en-US" altLang="zh-TW" sz="1600" b="1" dirty="0">
                              <a:latin typeface="Times New Roman" panose="02020603050405020304" pitchFamily="18" charset="0"/>
                              <a:ea typeface="+mn-ea"/>
                              <a:cs typeface="Times New Roman" panose="02020603050405020304" pitchFamily="18" charset="0"/>
                            </a:rPr>
                            <a:t>GAHS</a:t>
                          </a: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1" dirty="0">
                              <a:latin typeface="Times New Roman" panose="02020603050405020304" pitchFamily="18" charset="0"/>
                              <a:ea typeface="+mn-ea"/>
                              <a:cs typeface="Times New Roman" panose="02020603050405020304" pitchFamily="18" charset="0"/>
                            </a:rPr>
                            <a:t>24</a:t>
                          </a:r>
                          <a:endParaRPr lang="zh-TW" altLang="en-US" sz="16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solidFill>
                          <a:schemeClr val="accent2">
                            <a:lumMod val="20000"/>
                            <a:lumOff val="80000"/>
                          </a:schemeClr>
                        </a:solidFill>
                      </a:tcPr>
                    </a:tc>
                    <a:tc>
                      <a:txBody>
                        <a:bodyPr/>
                        <a:lstStyle/>
                        <a:p>
                          <a:pPr algn="ctr"/>
                          <a:r>
                            <a:rPr lang="en-US" altLang="zh-TW" sz="1600" b="1" dirty="0">
                              <a:latin typeface="Times New Roman" panose="02020603050405020304" pitchFamily="18" charset="0"/>
                              <a:ea typeface="+mn-ea"/>
                              <a:cs typeface="Times New Roman" panose="02020603050405020304" pitchFamily="18" charset="0"/>
                            </a:rPr>
                            <a:t>GAHS</a:t>
                          </a:r>
                        </a:p>
                      </a:txBody>
                      <a:tcPr anchor="ctr">
                        <a:solidFill>
                          <a:schemeClr val="accent2">
                            <a:lumMod val="20000"/>
                            <a:lumOff val="80000"/>
                          </a:schemeClr>
                        </a:solidFill>
                      </a:tcPr>
                    </a:tc>
                    <a:tc>
                      <a:txBody>
                        <a:bodyPr/>
                        <a:lstStyle/>
                        <a:p>
                          <a:pPr algn="ctr"/>
                          <a:r>
                            <a:rPr lang="en-US" altLang="zh-TW" sz="1600" b="1" dirty="0">
                              <a:latin typeface="Times New Roman" panose="02020603050405020304" pitchFamily="18" charset="0"/>
                              <a:ea typeface="新細明體" panose="02020500000000000000" pitchFamily="18" charset="-120"/>
                              <a:cs typeface="Times New Roman" panose="02020603050405020304" pitchFamily="18" charset="0"/>
                            </a:rPr>
                            <a:t>GAHS</a:t>
                          </a:r>
                        </a:p>
                        <a:p>
                          <a:pPr algn="ctr"/>
                          <a:r>
                            <a:rPr lang="en-US" altLang="zh-TW" sz="1600" b="1" dirty="0">
                              <a:latin typeface="Times New Roman" panose="02020603050405020304" pitchFamily="18" charset="0"/>
                              <a:ea typeface="新細明體" panose="02020500000000000000" pitchFamily="18" charset="-120"/>
                              <a:cs typeface="Times New Roman" panose="02020603050405020304" pitchFamily="18" charset="0"/>
                            </a:rPr>
                            <a:t>46</a:t>
                          </a:r>
                          <a:endParaRPr lang="zh-TW" altLang="en-US" sz="16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solidFill>
                          <a:schemeClr val="accent2">
                            <a:lumMod val="20000"/>
                            <a:lumOff val="80000"/>
                          </a:schemeClr>
                        </a:solidFill>
                      </a:tcPr>
                    </a:tc>
                    <a:extLst>
                      <a:ext uri="{0D108BD9-81ED-4DB2-BD59-A6C34878D82A}">
                        <a16:rowId xmlns:a16="http://schemas.microsoft.com/office/drawing/2014/main" val="10000"/>
                      </a:ext>
                    </a:extLst>
                  </a:tr>
                  <a:tr h="749800">
                    <a:tc rowSpan="3">
                      <a:txBody>
                        <a:bodyPr/>
                        <a:lstStyle/>
                        <a:p>
                          <a:pPr algn="ctr"/>
                          <a:r>
                            <a:rPr lang="en-US" altLang="zh-TW" sz="1600" b="1" dirty="0">
                              <a:latin typeface="Times New Roman" panose="02020603050405020304" pitchFamily="18" charset="0"/>
                              <a:ea typeface="+mn-ea"/>
                              <a:cs typeface="Times New Roman" panose="02020603050405020304" pitchFamily="18" charset="0"/>
                            </a:rPr>
                            <a:t> Highly disordered </a:t>
                          </a:r>
                          <a:r>
                            <a:rPr lang="en-US" altLang="zh-TW" sz="2000" b="1" dirty="0">
                              <a:latin typeface="Times New Roman" panose="02020603050405020304" pitchFamily="18" charset="0"/>
                              <a:ea typeface="+mn-ea"/>
                              <a:cs typeface="Times New Roman" panose="02020603050405020304" pitchFamily="18" charset="0"/>
                            </a:rPr>
                            <a:t>(HD)</a:t>
                          </a:r>
                          <a:endParaRPr lang="zh-TW" altLang="en-US" sz="20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solidFill>
                          <a:schemeClr val="accent2">
                            <a:lumMod val="20000"/>
                            <a:lumOff val="80000"/>
                          </a:schemeClr>
                        </a:solidFill>
                      </a:tcPr>
                    </a:tc>
                    <a:tc>
                      <a:txBody>
                        <a:bodyPr/>
                        <a:lstStyle/>
                        <a:p>
                          <a:pPr algn="ctr"/>
                          <a:r>
                            <a:rPr lang="en-US" altLang="zh-TW" sz="1400" b="1" dirty="0">
                              <a:latin typeface="Times New Roman" panose="02020603050405020304" pitchFamily="18" charset="0"/>
                              <a:cs typeface="Times New Roman" panose="02020603050405020304" pitchFamily="18" charset="0"/>
                            </a:rPr>
                            <a:t>Gap </a:t>
                          </a:r>
                        </a:p>
                        <a:p>
                          <a:pPr algn="ctr"/>
                          <a:r>
                            <a:rPr lang="en-US" altLang="zh-TW" sz="1400" b="1" dirty="0">
                              <a:latin typeface="Times New Roman" panose="02020603050405020304" pitchFamily="18" charset="0"/>
                              <a:cs typeface="Times New Roman" panose="02020603050405020304" pitchFamily="18" charset="0"/>
                            </a:rPr>
                            <a:t>Open </a:t>
                          </a:r>
                          <a:endParaRPr lang="en-US" altLang="zh-TW" sz="1400" b="1"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-17</a:t>
                          </a:r>
                          <a:endParaRPr lang="en-US" altLang="zh-TW" sz="24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-17</a:t>
                          </a:r>
                          <a:endParaRPr lang="en-US" altLang="zh-TW" sz="24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-19</a:t>
                          </a:r>
                          <a:endParaRPr lang="en-US" altLang="zh-TW" sz="24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rowSpan="3">
                      <a:txBody>
                        <a:bodyPr/>
                        <a:lstStyle/>
                        <a:p>
                          <a:pPr algn="ctr"/>
                          <a:endPar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sz="24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-17</a:t>
                          </a:r>
                        </a:p>
                      </a:txBody>
                      <a:tcPr anchor="ctr"/>
                    </a:tc>
                    <a:extLst>
                      <a:ext uri="{0D108BD9-81ED-4DB2-BD59-A6C34878D82A}">
                        <a16:rowId xmlns:a16="http://schemas.microsoft.com/office/drawing/2014/main" val="10001"/>
                      </a:ext>
                    </a:extLst>
                  </a:tr>
                  <a:tr h="749800">
                    <a:tc vMerge="1">
                      <a:txBody>
                        <a:bodyPr/>
                        <a:lstStyle/>
                        <a:p>
                          <a:endParaRPr lang="zh-TW" altLang="en-US"/>
                        </a:p>
                      </a:txBody>
                      <a:tcPr/>
                    </a:tc>
                    <a:tc>
                      <a:txBody>
                        <a:bodyPr/>
                        <a:lstStyle/>
                        <a:p>
                          <a:pPr algn="ctr"/>
                          <a:r>
                            <a:rPr lang="en-US" altLang="zh-TW" sz="1400" b="1" dirty="0">
                              <a:latin typeface="Times New Roman" panose="02020603050405020304" pitchFamily="18" charset="0"/>
                              <a:cs typeface="Times New Roman" panose="02020603050405020304" pitchFamily="18" charset="0"/>
                            </a:rPr>
                            <a:t>Gap Extension</a:t>
                          </a:r>
                          <a:endParaRPr lang="en-US" altLang="zh-TW" sz="1400" b="1"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en-US" altLang="zh-TW" sz="24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en-US" altLang="zh-TW" sz="24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en-US" altLang="zh-TW" sz="24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vMerge="1">
                      <a:txBody>
                        <a:bodyPr/>
                        <a:lstStyle/>
                        <a:p>
                          <a:pPr algn="ctr"/>
                          <a:endParaRPr lang="en-US" altLang="zh-TW" sz="24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sz="24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a:t>
                          </a:r>
                        </a:p>
                      </a:txBody>
                      <a:tcPr anchor="ctr"/>
                    </a:tc>
                    <a:extLst>
                      <a:ext uri="{0D108BD9-81ED-4DB2-BD59-A6C34878D82A}">
                        <a16:rowId xmlns:a16="http://schemas.microsoft.com/office/drawing/2014/main" val="3566930230"/>
                      </a:ext>
                    </a:extLst>
                  </a:tr>
                  <a:tr h="847602">
                    <a:tc vMerge="1">
                      <a:txBody>
                        <a:bodyPr/>
                        <a:lstStyle/>
                        <a:p>
                          <a:endParaRPr lang="zh-TW" altLang="en-US"/>
                        </a:p>
                      </a:txBody>
                      <a:tcPr/>
                    </a:tc>
                    <a:tc>
                      <a:txBody>
                        <a:bodyPr/>
                        <a:lstStyle/>
                        <a:p>
                          <a:pPr algn="ctr"/>
                          <a:r>
                            <a:rPr lang="en-US" altLang="zh-TW" sz="1400" b="1" dirty="0">
                              <a:latin typeface="Times New Roman" panose="02020603050405020304" pitchFamily="18" charset="0"/>
                              <a:cs typeface="Times New Roman" panose="02020603050405020304" pitchFamily="18" charset="0"/>
                            </a:rPr>
                            <a:t>Coverage</a:t>
                          </a:r>
                          <a:endParaRPr lang="en-US" altLang="zh-TW" sz="1400" b="1"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sz="2000" dirty="0" smtClean="0">
                              <a:latin typeface="Times New Roman" panose="02020603050405020304" pitchFamily="18" charset="0"/>
                              <a:cs typeface="Times New Roman" panose="02020603050405020304" pitchFamily="18" charset="0"/>
                            </a:rPr>
                            <a:t>0.6528</a:t>
                          </a:r>
                          <a:endParaRPr lang="en-US" altLang="zh-TW" sz="2000" dirty="0">
                            <a:latin typeface="Times New Roman" panose="02020603050405020304" pitchFamily="18" charset="0"/>
                            <a:cs typeface="Times New Roman" panose="02020603050405020304" pitchFamily="18" charset="0"/>
                          </a:endParaRPr>
                        </a:p>
                        <a:p>
                          <a:pPr algn="ctr"/>
                          <a14:m>
                            <m:oMath xmlns:m="http://schemas.openxmlformats.org/officeDocument/2006/math">
                              <m:r>
                                <a:rPr lang="en-US" altLang="zh-TW" sz="2000" dirty="0" smtClean="0">
                                  <a:ln w="0"/>
                                  <a:solidFill>
                                    <a:schemeClr val="tx1"/>
                                  </a:solidFill>
                                  <a:effectLst/>
                                  <a:latin typeface="Cambria Math" panose="02040503050406030204" pitchFamily="18" charset="0"/>
                                </a:rPr>
                                <m:t>±</m:t>
                              </m:r>
                            </m:oMath>
                          </a14:m>
                          <a:r>
                            <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0.07</a:t>
                          </a:r>
                        </a:p>
                      </a:txBody>
                      <a:tcPr anchor="ctr"/>
                    </a:tc>
                    <a:tc>
                      <a:txBody>
                        <a:bodyPr/>
                        <a:lstStyle/>
                        <a:p>
                          <a:pPr algn="ctr"/>
                          <a:r>
                            <a:rPr lang="en-US" altLang="zh-TW" sz="2000" dirty="0">
                              <a:latin typeface="Times New Roman" panose="02020603050405020304" pitchFamily="18" charset="0"/>
                              <a:cs typeface="Times New Roman" panose="02020603050405020304" pitchFamily="18" charset="0"/>
                            </a:rPr>
                            <a:t>0.6519</a:t>
                          </a:r>
                        </a:p>
                        <a:p>
                          <a:pPr algn="ctr"/>
                          <a14:m>
                            <m:oMath xmlns:m="http://schemas.openxmlformats.org/officeDocument/2006/math">
                              <m:r>
                                <a:rPr lang="en-US" altLang="zh-TW" sz="2000" dirty="0" smtClean="0">
                                  <a:ln w="0"/>
                                  <a:solidFill>
                                    <a:schemeClr val="tx1"/>
                                  </a:solidFill>
                                  <a:effectLst/>
                                  <a:latin typeface="Cambria Math" panose="02040503050406030204" pitchFamily="18" charset="0"/>
                                </a:rPr>
                                <m:t>±</m:t>
                              </m:r>
                            </m:oMath>
                          </a14:m>
                          <a:r>
                            <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0.07</a:t>
                          </a:r>
                        </a:p>
                      </a:txBody>
                      <a:tcPr anchor="ctr"/>
                    </a:tc>
                    <a:tc>
                      <a:txBody>
                        <a:bodyPr/>
                        <a:lstStyle/>
                        <a:p>
                          <a:pPr algn="ctr"/>
                          <a:r>
                            <a:rPr lang="en-US" altLang="zh-TW" sz="2000" dirty="0">
                              <a:latin typeface="Times New Roman" panose="02020603050405020304" pitchFamily="18" charset="0"/>
                              <a:cs typeface="Times New Roman" panose="02020603050405020304" pitchFamily="18" charset="0"/>
                            </a:rPr>
                            <a:t>0.6422</a:t>
                          </a:r>
                        </a:p>
                        <a:p>
                          <a:pPr algn="ctr"/>
                          <a14:m>
                            <m:oMath xmlns:m="http://schemas.openxmlformats.org/officeDocument/2006/math">
                              <m:r>
                                <a:rPr lang="en-US" altLang="zh-TW" sz="2000" dirty="0" smtClean="0">
                                  <a:ln w="0"/>
                                  <a:solidFill>
                                    <a:schemeClr val="tx1"/>
                                  </a:solidFill>
                                  <a:effectLst/>
                                  <a:latin typeface="Cambria Math" panose="02040503050406030204" pitchFamily="18" charset="0"/>
                                </a:rPr>
                                <m:t>±</m:t>
                              </m:r>
                            </m:oMath>
                          </a14:m>
                          <a:r>
                            <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0.06</a:t>
                          </a:r>
                        </a:p>
                      </a:txBody>
                      <a:tcPr anchor="ctr"/>
                    </a:tc>
                    <a:tc vMerge="1">
                      <a:txBody>
                        <a:bodyPr/>
                        <a:lstStyle/>
                        <a:p>
                          <a:pPr algn="ctr"/>
                          <a:endPar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0.6236</a:t>
                          </a:r>
                        </a:p>
                        <a:p>
                          <a:pPr algn="ctr"/>
                          <a14:m>
                            <m:oMath xmlns:m="http://schemas.openxmlformats.org/officeDocument/2006/math">
                              <m:r>
                                <a:rPr lang="en-US" altLang="zh-TW" sz="2000" dirty="0" smtClean="0">
                                  <a:ln w="0"/>
                                  <a:solidFill>
                                    <a:schemeClr val="tx1"/>
                                  </a:solidFill>
                                  <a:effectLst/>
                                  <a:latin typeface="Cambria Math" panose="02040503050406030204" pitchFamily="18" charset="0"/>
                                </a:rPr>
                                <m:t>±</m:t>
                              </m:r>
                            </m:oMath>
                          </a14:m>
                          <a:r>
                            <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0.08</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6564253"/>
                      </a:ext>
                    </a:extLst>
                  </a:tr>
                </a:tbl>
              </a:graphicData>
            </a:graphic>
          </p:graphicFrame>
        </mc:Choice>
        <mc:Fallback xmlns="">
          <p:graphicFrame>
            <p:nvGraphicFramePr>
              <p:cNvPr id="3" name="表格 2">
                <a:extLst>
                  <a:ext uri="{FF2B5EF4-FFF2-40B4-BE49-F238E27FC236}">
                    <a16:creationId xmlns:a16="http://schemas.microsoft.com/office/drawing/2014/main" id="{5DAA1240-CEF3-46FF-9823-E53F659891A7}"/>
                  </a:ext>
                </a:extLst>
              </p:cNvPr>
              <p:cNvGraphicFramePr>
                <a:graphicFrameLocks noGrp="1"/>
              </p:cNvGraphicFramePr>
              <p:nvPr>
                <p:extLst>
                  <p:ext uri="{D42A27DB-BD31-4B8C-83A1-F6EECF244321}">
                    <p14:modId xmlns:p14="http://schemas.microsoft.com/office/powerpoint/2010/main" val="848889665"/>
                  </p:ext>
                </p:extLst>
              </p:nvPr>
            </p:nvGraphicFramePr>
            <p:xfrm>
              <a:off x="336521" y="1573639"/>
              <a:ext cx="8459997" cy="3097002"/>
            </p:xfrm>
            <a:graphic>
              <a:graphicData uri="http://schemas.openxmlformats.org/drawingml/2006/table">
                <a:tbl>
                  <a:tblPr firstRow="1" bandRow="1">
                    <a:tableStyleId>{5940675A-B579-460E-94D1-54222C63F5DA}</a:tableStyleId>
                  </a:tblPr>
                  <a:tblGrid>
                    <a:gridCol w="1208571">
                      <a:extLst>
                        <a:ext uri="{9D8B030D-6E8A-4147-A177-3AD203B41FA5}">
                          <a16:colId xmlns:a16="http://schemas.microsoft.com/office/drawing/2014/main" val="20000"/>
                        </a:ext>
                      </a:extLst>
                    </a:gridCol>
                    <a:gridCol w="1208571">
                      <a:extLst>
                        <a:ext uri="{9D8B030D-6E8A-4147-A177-3AD203B41FA5}">
                          <a16:colId xmlns:a16="http://schemas.microsoft.com/office/drawing/2014/main" val="1090817593"/>
                        </a:ext>
                      </a:extLst>
                    </a:gridCol>
                    <a:gridCol w="1208571">
                      <a:extLst>
                        <a:ext uri="{9D8B030D-6E8A-4147-A177-3AD203B41FA5}">
                          <a16:colId xmlns:a16="http://schemas.microsoft.com/office/drawing/2014/main" val="20001"/>
                        </a:ext>
                      </a:extLst>
                    </a:gridCol>
                    <a:gridCol w="1208571">
                      <a:extLst>
                        <a:ext uri="{9D8B030D-6E8A-4147-A177-3AD203B41FA5}">
                          <a16:colId xmlns:a16="http://schemas.microsoft.com/office/drawing/2014/main" val="3242960352"/>
                        </a:ext>
                      </a:extLst>
                    </a:gridCol>
                    <a:gridCol w="1208571">
                      <a:extLst>
                        <a:ext uri="{9D8B030D-6E8A-4147-A177-3AD203B41FA5}">
                          <a16:colId xmlns:a16="http://schemas.microsoft.com/office/drawing/2014/main" val="176215867"/>
                        </a:ext>
                      </a:extLst>
                    </a:gridCol>
                    <a:gridCol w="1208571">
                      <a:extLst>
                        <a:ext uri="{9D8B030D-6E8A-4147-A177-3AD203B41FA5}">
                          <a16:colId xmlns:a16="http://schemas.microsoft.com/office/drawing/2014/main" val="2859968244"/>
                        </a:ext>
                      </a:extLst>
                    </a:gridCol>
                    <a:gridCol w="1208571">
                      <a:extLst>
                        <a:ext uri="{9D8B030D-6E8A-4147-A177-3AD203B41FA5}">
                          <a16:colId xmlns:a16="http://schemas.microsoft.com/office/drawing/2014/main" val="324101211"/>
                        </a:ext>
                      </a:extLst>
                    </a:gridCol>
                  </a:tblGrid>
                  <a:tr h="749800">
                    <a:tc gridSpan="2">
                      <a:txBody>
                        <a:bodyPr/>
                        <a:lstStyle/>
                        <a:p>
                          <a:pPr algn="ctr"/>
                          <a:endParaRPr lang="zh-TW" altLang="en-US" sz="16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TlToBr w="12700" cap="flat" cmpd="sng" algn="ctr">
                          <a:solidFill>
                            <a:schemeClr val="tx1"/>
                          </a:solidFill>
                          <a:prstDash val="solid"/>
                          <a:round/>
                          <a:headEnd type="none" w="med" len="med"/>
                          <a:tailEnd type="none" w="med" len="med"/>
                        </a:lnTlToBr>
                        <a:solidFill>
                          <a:schemeClr val="accent2">
                            <a:lumMod val="20000"/>
                            <a:lumOff val="80000"/>
                          </a:schemeClr>
                        </a:solidFill>
                      </a:tcPr>
                    </a:tc>
                    <a:tc hMerge="1">
                      <a:txBody>
                        <a:bodyPr/>
                        <a:lstStyle/>
                        <a:p>
                          <a:pPr algn="ctr"/>
                          <a:endParaRPr lang="zh-TW" altLang="en-US" sz="2000"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tc>
                    <a:tc>
                      <a:txBody>
                        <a:bodyPr/>
                        <a:lstStyle/>
                        <a:p>
                          <a:pPr algn="ctr"/>
                          <a:r>
                            <a:rPr lang="en-US" altLang="zh-TW" sz="1600" b="1" dirty="0">
                              <a:latin typeface="Times New Roman" panose="02020603050405020304" pitchFamily="18" charset="0"/>
                              <a:ea typeface="新細明體" panose="02020500000000000000" pitchFamily="18" charset="-120"/>
                              <a:cs typeface="Times New Roman" panose="02020603050405020304" pitchFamily="18" charset="0"/>
                            </a:rPr>
                            <a:t>GAHS</a:t>
                          </a:r>
                        </a:p>
                        <a:p>
                          <a:pPr algn="ctr"/>
                          <a:r>
                            <a:rPr lang="en-US" altLang="zh-TW" sz="1600" b="1" dirty="0">
                              <a:latin typeface="Times New Roman" panose="02020603050405020304" pitchFamily="18" charset="0"/>
                              <a:ea typeface="新細明體" panose="02020500000000000000" pitchFamily="18" charset="-120"/>
                              <a:cs typeface="Times New Roman" panose="02020603050405020304" pitchFamily="18" charset="0"/>
                            </a:rPr>
                            <a:t>27</a:t>
                          </a:r>
                          <a:endParaRPr lang="zh-TW" altLang="en-US" sz="16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solidFill>
                          <a:schemeClr val="accent2">
                            <a:lumMod val="20000"/>
                            <a:lumOff val="80000"/>
                          </a:schemeClr>
                        </a:solidFill>
                      </a:tcPr>
                    </a:tc>
                    <a:tc>
                      <a:txBody>
                        <a:bodyPr/>
                        <a:lstStyle/>
                        <a:p>
                          <a:pPr algn="ctr"/>
                          <a:r>
                            <a:rPr lang="en-US" altLang="zh-TW" sz="1600" b="1" dirty="0">
                              <a:latin typeface="Times New Roman" panose="02020603050405020304" pitchFamily="18" charset="0"/>
                              <a:ea typeface="+mn-ea"/>
                              <a:cs typeface="Times New Roman" panose="02020603050405020304" pitchFamily="18" charset="0"/>
                            </a:rPr>
                            <a:t>GAHS</a:t>
                          </a:r>
                          <a:endParaRPr lang="en-US" altLang="zh-TW" sz="1600" b="1" dirty="0">
                            <a:latin typeface="Times New Roman" panose="02020603050405020304" pitchFamily="18" charset="0"/>
                            <a:ea typeface="新細明體" panose="02020500000000000000" pitchFamily="18" charset="-120"/>
                            <a:cs typeface="Times New Roman" panose="02020603050405020304" pitchFamily="18" charset="0"/>
                          </a:endParaRPr>
                        </a:p>
                        <a:p>
                          <a:pPr algn="ctr"/>
                          <a:r>
                            <a:rPr lang="en-US" altLang="zh-TW" sz="1600" b="1" dirty="0">
                              <a:latin typeface="Times New Roman" panose="02020603050405020304" pitchFamily="18" charset="0"/>
                              <a:ea typeface="新細明體" panose="02020500000000000000" pitchFamily="18" charset="-120"/>
                              <a:cs typeface="Times New Roman" panose="02020603050405020304" pitchFamily="18" charset="0"/>
                            </a:rPr>
                            <a:t>16</a:t>
                          </a:r>
                          <a:endParaRPr lang="zh-TW" altLang="en-US" sz="16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solidFill>
                          <a:schemeClr val="accent2">
                            <a:lumMod val="20000"/>
                            <a:lumOff val="80000"/>
                          </a:schemeClr>
                        </a:solidFill>
                      </a:tcPr>
                    </a:tc>
                    <a:tc>
                      <a:txBody>
                        <a:bodyPr/>
                        <a:lstStyle/>
                        <a:p>
                          <a:pPr algn="ctr"/>
                          <a:r>
                            <a:rPr lang="en-US" altLang="zh-TW" sz="1600" b="1" dirty="0">
                              <a:latin typeface="Times New Roman" panose="02020603050405020304" pitchFamily="18" charset="0"/>
                              <a:ea typeface="+mn-ea"/>
                              <a:cs typeface="Times New Roman" panose="02020603050405020304" pitchFamily="18" charset="0"/>
                            </a:rPr>
                            <a:t>GAHS</a:t>
                          </a: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1" dirty="0">
                              <a:latin typeface="Times New Roman" panose="02020603050405020304" pitchFamily="18" charset="0"/>
                              <a:ea typeface="+mn-ea"/>
                              <a:cs typeface="Times New Roman" panose="02020603050405020304" pitchFamily="18" charset="0"/>
                            </a:rPr>
                            <a:t>24</a:t>
                          </a:r>
                          <a:endParaRPr lang="zh-TW" altLang="en-US" sz="16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solidFill>
                          <a:schemeClr val="accent2">
                            <a:lumMod val="20000"/>
                            <a:lumOff val="80000"/>
                          </a:schemeClr>
                        </a:solidFill>
                      </a:tcPr>
                    </a:tc>
                    <a:tc>
                      <a:txBody>
                        <a:bodyPr/>
                        <a:lstStyle/>
                        <a:p>
                          <a:pPr algn="ctr"/>
                          <a:r>
                            <a:rPr lang="en-US" altLang="zh-TW" sz="1600" b="1" dirty="0">
                              <a:latin typeface="Times New Roman" panose="02020603050405020304" pitchFamily="18" charset="0"/>
                              <a:ea typeface="+mn-ea"/>
                              <a:cs typeface="Times New Roman" panose="02020603050405020304" pitchFamily="18" charset="0"/>
                            </a:rPr>
                            <a:t>GAHS</a:t>
                          </a:r>
                        </a:p>
                      </a:txBody>
                      <a:tcPr anchor="ctr">
                        <a:solidFill>
                          <a:schemeClr val="accent2">
                            <a:lumMod val="20000"/>
                            <a:lumOff val="80000"/>
                          </a:schemeClr>
                        </a:solidFill>
                      </a:tcPr>
                    </a:tc>
                    <a:tc>
                      <a:txBody>
                        <a:bodyPr/>
                        <a:lstStyle/>
                        <a:p>
                          <a:pPr algn="ctr"/>
                          <a:r>
                            <a:rPr lang="en-US" altLang="zh-TW" sz="1600" b="1" dirty="0">
                              <a:latin typeface="Times New Roman" panose="02020603050405020304" pitchFamily="18" charset="0"/>
                              <a:ea typeface="新細明體" panose="02020500000000000000" pitchFamily="18" charset="-120"/>
                              <a:cs typeface="Times New Roman" panose="02020603050405020304" pitchFamily="18" charset="0"/>
                            </a:rPr>
                            <a:t>GAHS</a:t>
                          </a:r>
                        </a:p>
                        <a:p>
                          <a:pPr algn="ctr"/>
                          <a:r>
                            <a:rPr lang="en-US" altLang="zh-TW" sz="1600" b="1" dirty="0">
                              <a:latin typeface="Times New Roman" panose="02020603050405020304" pitchFamily="18" charset="0"/>
                              <a:ea typeface="新細明體" panose="02020500000000000000" pitchFamily="18" charset="-120"/>
                              <a:cs typeface="Times New Roman" panose="02020603050405020304" pitchFamily="18" charset="0"/>
                            </a:rPr>
                            <a:t>46</a:t>
                          </a:r>
                          <a:endParaRPr lang="zh-TW" altLang="en-US" sz="16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solidFill>
                          <a:schemeClr val="accent2">
                            <a:lumMod val="20000"/>
                            <a:lumOff val="80000"/>
                          </a:schemeClr>
                        </a:solidFill>
                      </a:tcPr>
                    </a:tc>
                    <a:extLst>
                      <a:ext uri="{0D108BD9-81ED-4DB2-BD59-A6C34878D82A}">
                        <a16:rowId xmlns:a16="http://schemas.microsoft.com/office/drawing/2014/main" val="10000"/>
                      </a:ext>
                    </a:extLst>
                  </a:tr>
                  <a:tr h="749800">
                    <a:tc rowSpan="3">
                      <a:txBody>
                        <a:bodyPr/>
                        <a:lstStyle/>
                        <a:p>
                          <a:pPr algn="ctr"/>
                          <a:r>
                            <a:rPr lang="en-US" altLang="zh-TW" sz="1600" b="1" dirty="0">
                              <a:latin typeface="Times New Roman" panose="02020603050405020304" pitchFamily="18" charset="0"/>
                              <a:ea typeface="+mn-ea"/>
                              <a:cs typeface="Times New Roman" panose="02020603050405020304" pitchFamily="18" charset="0"/>
                            </a:rPr>
                            <a:t> Highly disordered </a:t>
                          </a:r>
                          <a:r>
                            <a:rPr lang="en-US" altLang="zh-TW" sz="2000" b="1" dirty="0">
                              <a:latin typeface="Times New Roman" panose="02020603050405020304" pitchFamily="18" charset="0"/>
                              <a:ea typeface="+mn-ea"/>
                              <a:cs typeface="Times New Roman" panose="02020603050405020304" pitchFamily="18" charset="0"/>
                            </a:rPr>
                            <a:t>(HD)</a:t>
                          </a:r>
                          <a:endParaRPr lang="zh-TW" altLang="en-US" sz="20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solidFill>
                          <a:schemeClr val="accent2">
                            <a:lumMod val="20000"/>
                            <a:lumOff val="80000"/>
                          </a:schemeClr>
                        </a:solidFill>
                      </a:tcPr>
                    </a:tc>
                    <a:tc>
                      <a:txBody>
                        <a:bodyPr/>
                        <a:lstStyle/>
                        <a:p>
                          <a:pPr algn="ctr"/>
                          <a:r>
                            <a:rPr lang="en-US" altLang="zh-TW" sz="1400" b="1" dirty="0">
                              <a:latin typeface="Times New Roman" panose="02020603050405020304" pitchFamily="18" charset="0"/>
                              <a:cs typeface="Times New Roman" panose="02020603050405020304" pitchFamily="18" charset="0"/>
                            </a:rPr>
                            <a:t>Gap </a:t>
                          </a:r>
                        </a:p>
                        <a:p>
                          <a:pPr algn="ctr"/>
                          <a:r>
                            <a:rPr lang="en-US" altLang="zh-TW" sz="1400" b="1" dirty="0">
                              <a:latin typeface="Times New Roman" panose="02020603050405020304" pitchFamily="18" charset="0"/>
                              <a:cs typeface="Times New Roman" panose="02020603050405020304" pitchFamily="18" charset="0"/>
                            </a:rPr>
                            <a:t>Open </a:t>
                          </a:r>
                          <a:endParaRPr lang="en-US" altLang="zh-TW" sz="1400" b="1"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-17</a:t>
                          </a:r>
                          <a:endParaRPr lang="en-US" altLang="zh-TW" sz="24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-17</a:t>
                          </a:r>
                          <a:endParaRPr lang="en-US" altLang="zh-TW" sz="24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-19</a:t>
                          </a:r>
                          <a:endParaRPr lang="en-US" altLang="zh-TW" sz="24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rowSpan="3">
                      <a:txBody>
                        <a:bodyPr/>
                        <a:lstStyle/>
                        <a:p>
                          <a:pPr algn="ctr"/>
                          <a:endPar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sz="24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-17</a:t>
                          </a:r>
                        </a:p>
                      </a:txBody>
                      <a:tcPr anchor="ctr"/>
                    </a:tc>
                    <a:extLst>
                      <a:ext uri="{0D108BD9-81ED-4DB2-BD59-A6C34878D82A}">
                        <a16:rowId xmlns:a16="http://schemas.microsoft.com/office/drawing/2014/main" val="10001"/>
                      </a:ext>
                    </a:extLst>
                  </a:tr>
                  <a:tr h="749800">
                    <a:tc vMerge="1">
                      <a:txBody>
                        <a:bodyPr/>
                        <a:lstStyle/>
                        <a:p>
                          <a:endParaRPr lang="zh-TW" altLang="en-US"/>
                        </a:p>
                      </a:txBody>
                      <a:tcPr/>
                    </a:tc>
                    <a:tc>
                      <a:txBody>
                        <a:bodyPr/>
                        <a:lstStyle/>
                        <a:p>
                          <a:pPr algn="ctr"/>
                          <a:r>
                            <a:rPr lang="en-US" altLang="zh-TW" sz="1400" b="1" dirty="0">
                              <a:latin typeface="Times New Roman" panose="02020603050405020304" pitchFamily="18" charset="0"/>
                              <a:cs typeface="Times New Roman" panose="02020603050405020304" pitchFamily="18" charset="0"/>
                            </a:rPr>
                            <a:t>Gap Extension</a:t>
                          </a:r>
                          <a:endParaRPr lang="en-US" altLang="zh-TW" sz="1400" b="1"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en-US" altLang="zh-TW" sz="24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en-US" altLang="zh-TW" sz="24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en-US" altLang="zh-TW" sz="24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vMerge="1">
                      <a:txBody>
                        <a:bodyPr/>
                        <a:lstStyle/>
                        <a:p>
                          <a:pPr algn="ctr"/>
                          <a:endParaRPr lang="en-US" altLang="zh-TW" sz="24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sz="24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a:t>
                          </a:r>
                        </a:p>
                      </a:txBody>
                      <a:tcPr anchor="ctr"/>
                    </a:tc>
                    <a:extLst>
                      <a:ext uri="{0D108BD9-81ED-4DB2-BD59-A6C34878D82A}">
                        <a16:rowId xmlns:a16="http://schemas.microsoft.com/office/drawing/2014/main" val="3566930230"/>
                      </a:ext>
                    </a:extLst>
                  </a:tr>
                  <a:tr h="847602">
                    <a:tc vMerge="1">
                      <a:txBody>
                        <a:bodyPr/>
                        <a:lstStyle/>
                        <a:p>
                          <a:endParaRPr lang="zh-TW" altLang="en-US"/>
                        </a:p>
                      </a:txBody>
                      <a:tcPr/>
                    </a:tc>
                    <a:tc>
                      <a:txBody>
                        <a:bodyPr/>
                        <a:lstStyle/>
                        <a:p>
                          <a:pPr algn="ctr"/>
                          <a:r>
                            <a:rPr lang="en-US" altLang="zh-TW" sz="1400" b="1" dirty="0">
                              <a:latin typeface="Times New Roman" panose="02020603050405020304" pitchFamily="18" charset="0"/>
                              <a:cs typeface="Times New Roman" panose="02020603050405020304" pitchFamily="18" charset="0"/>
                            </a:rPr>
                            <a:t>Coverage</a:t>
                          </a:r>
                          <a:endParaRPr lang="en-US" altLang="zh-TW" sz="1400" b="1"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endParaRPr lang="zh-TW"/>
                        </a:p>
                      </a:txBody>
                      <a:tcPr anchor="ctr">
                        <a:blipFill>
                          <a:blip r:embed="rId3"/>
                          <a:stretch>
                            <a:fillRect l="-201010" t="-266906" r="-402020" b="-3597"/>
                          </a:stretch>
                        </a:blipFill>
                      </a:tcPr>
                    </a:tc>
                    <a:tc>
                      <a:txBody>
                        <a:bodyPr/>
                        <a:lstStyle/>
                        <a:p>
                          <a:endParaRPr lang="zh-TW"/>
                        </a:p>
                      </a:txBody>
                      <a:tcPr anchor="ctr">
                        <a:blipFill>
                          <a:blip r:embed="rId3"/>
                          <a:stretch>
                            <a:fillRect l="-301010" t="-266906" r="-302020" b="-3597"/>
                          </a:stretch>
                        </a:blipFill>
                      </a:tcPr>
                    </a:tc>
                    <a:tc>
                      <a:txBody>
                        <a:bodyPr/>
                        <a:lstStyle/>
                        <a:p>
                          <a:endParaRPr lang="zh-TW"/>
                        </a:p>
                      </a:txBody>
                      <a:tcPr anchor="ctr">
                        <a:blipFill>
                          <a:blip r:embed="rId3"/>
                          <a:stretch>
                            <a:fillRect l="-401010" t="-266906" r="-202020" b="-3597"/>
                          </a:stretch>
                        </a:blipFill>
                      </a:tcPr>
                    </a:tc>
                    <a:tc vMerge="1">
                      <a:txBody>
                        <a:bodyPr/>
                        <a:lstStyle/>
                        <a:p>
                          <a:pPr algn="ctr"/>
                          <a:endPar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endParaRPr lang="zh-TW"/>
                        </a:p>
                      </a:txBody>
                      <a:tcPr anchor="ctr">
                        <a:lnB w="12700" cap="flat" cmpd="sng" algn="ctr">
                          <a:solidFill>
                            <a:schemeClr val="tx1"/>
                          </a:solidFill>
                          <a:prstDash val="solid"/>
                          <a:round/>
                          <a:headEnd type="none" w="med" len="med"/>
                          <a:tailEnd type="none" w="med" len="med"/>
                        </a:lnB>
                        <a:blipFill>
                          <a:blip r:embed="rId3"/>
                          <a:stretch>
                            <a:fillRect l="-601515" t="-266906" r="-1515" b="-3597"/>
                          </a:stretch>
                        </a:blipFill>
                      </a:tcPr>
                    </a:tc>
                    <a:extLst>
                      <a:ext uri="{0D108BD9-81ED-4DB2-BD59-A6C34878D82A}">
                        <a16:rowId xmlns:a16="http://schemas.microsoft.com/office/drawing/2014/main" val="2276564253"/>
                      </a:ext>
                    </a:extLst>
                  </a:tr>
                </a:tbl>
              </a:graphicData>
            </a:graphic>
          </p:graphicFrame>
        </mc:Fallback>
      </mc:AlternateContent>
      <p:sp>
        <p:nvSpPr>
          <p:cNvPr id="5" name="文字方塊 4">
            <a:extLst>
              <a:ext uri="{FF2B5EF4-FFF2-40B4-BE49-F238E27FC236}">
                <a16:creationId xmlns:a16="http://schemas.microsoft.com/office/drawing/2014/main" id="{239D94BC-E62C-4076-BEC7-34BE3E679803}"/>
              </a:ext>
            </a:extLst>
          </p:cNvPr>
          <p:cNvSpPr txBox="1"/>
          <p:nvPr/>
        </p:nvSpPr>
        <p:spPr>
          <a:xfrm>
            <a:off x="354961" y="1932540"/>
            <a:ext cx="1010213" cy="400110"/>
          </a:xfrm>
          <a:prstGeom prst="rect">
            <a:avLst/>
          </a:prstGeom>
          <a:noFill/>
        </p:spPr>
        <p:txBody>
          <a:bodyPr wrap="none" rtlCol="0">
            <a:spAutoFit/>
          </a:bodyPr>
          <a:lstStyle/>
          <a:p>
            <a:r>
              <a:rPr lang="en-US" altLang="zh-TW" sz="2000" b="1" dirty="0">
                <a:latin typeface="Times New Roman" panose="02020603050405020304" pitchFamily="18" charset="0"/>
                <a:cs typeface="Times New Roman" panose="02020603050405020304" pitchFamily="18" charset="0"/>
              </a:rPr>
              <a:t>Dataset</a:t>
            </a:r>
            <a:endParaRPr lang="zh-TW" altLang="en-US" sz="2000" b="1" dirty="0">
              <a:latin typeface="Times New Roman" panose="02020603050405020304" pitchFamily="18" charset="0"/>
              <a:cs typeface="Times New Roman" panose="02020603050405020304" pitchFamily="18" charset="0"/>
            </a:endParaRPr>
          </a:p>
        </p:txBody>
      </p:sp>
      <p:sp>
        <p:nvSpPr>
          <p:cNvPr id="6" name="文字方塊 5">
            <a:extLst>
              <a:ext uri="{FF2B5EF4-FFF2-40B4-BE49-F238E27FC236}">
                <a16:creationId xmlns:a16="http://schemas.microsoft.com/office/drawing/2014/main" id="{ABD822CE-0E8C-44A6-AA7A-63D4BEBD1D3F}"/>
              </a:ext>
            </a:extLst>
          </p:cNvPr>
          <p:cNvSpPr txBox="1"/>
          <p:nvPr/>
        </p:nvSpPr>
        <p:spPr>
          <a:xfrm>
            <a:off x="1691680" y="1565622"/>
            <a:ext cx="952505" cy="400110"/>
          </a:xfrm>
          <a:prstGeom prst="rect">
            <a:avLst/>
          </a:prstGeom>
          <a:noFill/>
        </p:spPr>
        <p:txBody>
          <a:bodyPr wrap="none" rtlCol="0">
            <a:spAutoFit/>
          </a:bodyPr>
          <a:lstStyle/>
          <a:p>
            <a:r>
              <a:rPr lang="en-US" altLang="zh-TW" sz="2000" b="1" dirty="0">
                <a:latin typeface="Times New Roman" panose="02020603050405020304" pitchFamily="18" charset="0"/>
                <a:cs typeface="Times New Roman" panose="02020603050405020304" pitchFamily="18" charset="0"/>
              </a:rPr>
              <a:t>Matrix</a:t>
            </a:r>
            <a:endParaRPr lang="zh-TW" altLang="en-US" sz="1600" b="1" dirty="0">
              <a:latin typeface="Times New Roman" panose="02020603050405020304" pitchFamily="18" charset="0"/>
              <a:cs typeface="Times New Roman" panose="02020603050405020304" pitchFamily="18" charset="0"/>
            </a:endParaRPr>
          </a:p>
        </p:txBody>
      </p:sp>
      <p:sp>
        <p:nvSpPr>
          <p:cNvPr id="7" name="矩形 6">
            <a:extLst>
              <a:ext uri="{FF2B5EF4-FFF2-40B4-BE49-F238E27FC236}">
                <a16:creationId xmlns:a16="http://schemas.microsoft.com/office/drawing/2014/main" id="{6455951B-C661-439D-BAFC-301B030EEECC}"/>
              </a:ext>
            </a:extLst>
          </p:cNvPr>
          <p:cNvSpPr/>
          <p:nvPr/>
        </p:nvSpPr>
        <p:spPr>
          <a:xfrm>
            <a:off x="6732240" y="3167390"/>
            <a:ext cx="559770" cy="523220"/>
          </a:xfrm>
          <a:prstGeom prst="rect">
            <a:avLst/>
          </a:prstGeom>
        </p:spPr>
        <p:txBody>
          <a:bodyPr wrap="none">
            <a:spAutoFit/>
          </a:bodyPr>
          <a:lstStyle/>
          <a:p>
            <a:pPr algn="ctr"/>
            <a:r>
              <a:rPr lang="en-US" altLang="zh-TW" sz="2800"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457192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字方塊 10">
            <a:extLst>
              <a:ext uri="{FF2B5EF4-FFF2-40B4-BE49-F238E27FC236}">
                <a16:creationId xmlns:a16="http://schemas.microsoft.com/office/drawing/2014/main" id="{F7024DF5-78FF-4A3F-B7F4-E9879D39926E}"/>
              </a:ext>
            </a:extLst>
          </p:cNvPr>
          <p:cNvSpPr txBox="1"/>
          <p:nvPr/>
        </p:nvSpPr>
        <p:spPr>
          <a:xfrm>
            <a:off x="188616" y="91827"/>
            <a:ext cx="8755811" cy="707886"/>
          </a:xfrm>
          <a:prstGeom prst="rect">
            <a:avLst/>
          </a:prstGeom>
          <a:noFill/>
        </p:spPr>
        <p:txBody>
          <a:bodyPr wrap="square" rtlCol="0">
            <a:spAutoFit/>
          </a:bodyPr>
          <a:lstStyle/>
          <a:p>
            <a:r>
              <a:rPr lang="en-US" altLang="zh-TW" sz="4000" b="1" dirty="0">
                <a:latin typeface="Times New Roman" panose="02020603050405020304" pitchFamily="18" charset="0"/>
                <a:cs typeface="Times New Roman" panose="02020603050405020304" pitchFamily="18" charset="0"/>
              </a:rPr>
              <a:t>Experimental Results</a:t>
            </a:r>
            <a:endParaRPr lang="zh-TW" altLang="en-US" sz="4000" b="1" dirty="0">
              <a:latin typeface="Times New Roman" panose="02020603050405020304" pitchFamily="18" charset="0"/>
              <a:cs typeface="Times New Roman" panose="02020603050405020304" pitchFamily="18" charset="0"/>
            </a:endParaRPr>
          </a:p>
        </p:txBody>
      </p:sp>
      <p:sp>
        <p:nvSpPr>
          <p:cNvPr id="4" name="矩形 3">
            <a:extLst>
              <a:ext uri="{FF2B5EF4-FFF2-40B4-BE49-F238E27FC236}">
                <a16:creationId xmlns:a16="http://schemas.microsoft.com/office/drawing/2014/main" id="{EDF849AA-C470-472D-9D07-237105DCD10A}"/>
              </a:ext>
            </a:extLst>
          </p:cNvPr>
          <p:cNvSpPr/>
          <p:nvPr/>
        </p:nvSpPr>
        <p:spPr>
          <a:xfrm>
            <a:off x="683568" y="799713"/>
            <a:ext cx="7128792" cy="523220"/>
          </a:xfrm>
          <a:prstGeom prst="rect">
            <a:avLst/>
          </a:prstGeom>
        </p:spPr>
        <p:txBody>
          <a:bodyPr wrap="square">
            <a:spAutoFit/>
          </a:bodyPr>
          <a:lstStyle/>
          <a:p>
            <a:r>
              <a:rPr lang="en-US" altLang="zh-TW" sz="2800" b="1" dirty="0">
                <a:latin typeface="Times New Roman" panose="02020603050405020304" pitchFamily="18" charset="0"/>
                <a:cs typeface="Times New Roman" panose="02020603050405020304" pitchFamily="18" charset="0"/>
              </a:rPr>
              <a:t>10-fold cross validation for 5 times:</a:t>
            </a:r>
          </a:p>
        </p:txBody>
      </p:sp>
      <p:sp>
        <p:nvSpPr>
          <p:cNvPr id="8" name="投影片編號版面配置區 3">
            <a:extLst>
              <a:ext uri="{FF2B5EF4-FFF2-40B4-BE49-F238E27FC236}">
                <a16:creationId xmlns:a16="http://schemas.microsoft.com/office/drawing/2014/main" id="{196121B8-8C83-4F9A-A1F1-F830409FB2C1}"/>
              </a:ext>
            </a:extLst>
          </p:cNvPr>
          <p:cNvSpPr>
            <a:spLocks noGrp="1"/>
          </p:cNvSpPr>
          <p:nvPr>
            <p:ph type="sldNum" sz="quarter" idx="12"/>
          </p:nvPr>
        </p:nvSpPr>
        <p:spPr>
          <a:xfrm>
            <a:off x="6553200" y="6356350"/>
            <a:ext cx="2133600" cy="365125"/>
          </a:xfrm>
        </p:spPr>
        <p:txBody>
          <a:bodyPr/>
          <a:lstStyle/>
          <a:p>
            <a:fld id="{04C04D6A-2E29-441A-A244-9F1014899F6D}" type="slidenum">
              <a:rPr lang="zh-TW" altLang="en-US" sz="1600" smtClean="0"/>
              <a:pPr/>
              <a:t>29</a:t>
            </a:fld>
            <a:endParaRPr lang="zh-TW" altLang="en-US" dirty="0"/>
          </a:p>
        </p:txBody>
      </p:sp>
      <mc:AlternateContent xmlns:mc="http://schemas.openxmlformats.org/markup-compatibility/2006" xmlns:a14="http://schemas.microsoft.com/office/drawing/2010/main">
        <mc:Choice Requires="a14">
          <p:graphicFrame>
            <p:nvGraphicFramePr>
              <p:cNvPr id="6" name="表格 5">
                <a:extLst>
                  <a:ext uri="{FF2B5EF4-FFF2-40B4-BE49-F238E27FC236}">
                    <a16:creationId xmlns:a16="http://schemas.microsoft.com/office/drawing/2014/main" id="{7D19BE1B-030A-4AD9-8423-E7A5F49208E6}"/>
                  </a:ext>
                </a:extLst>
              </p:cNvPr>
              <p:cNvGraphicFramePr>
                <a:graphicFrameLocks noGrp="1"/>
              </p:cNvGraphicFramePr>
              <p:nvPr>
                <p:extLst>
                  <p:ext uri="{D42A27DB-BD31-4B8C-83A1-F6EECF244321}">
                    <p14:modId xmlns:p14="http://schemas.microsoft.com/office/powerpoint/2010/main" val="3247745859"/>
                  </p:ext>
                </p:extLst>
              </p:nvPr>
            </p:nvGraphicFramePr>
            <p:xfrm>
              <a:off x="336521" y="1573639"/>
              <a:ext cx="8460000" cy="4249002"/>
            </p:xfrm>
            <a:graphic>
              <a:graphicData uri="http://schemas.openxmlformats.org/drawingml/2006/table">
                <a:tbl>
                  <a:tblPr firstRow="1" bandRow="1">
                    <a:tableStyleId>{5940675A-B579-460E-94D1-54222C63F5DA}</a:tableStyleId>
                  </a:tblPr>
                  <a:tblGrid>
                    <a:gridCol w="1139135">
                      <a:extLst>
                        <a:ext uri="{9D8B030D-6E8A-4147-A177-3AD203B41FA5}">
                          <a16:colId xmlns:a16="http://schemas.microsoft.com/office/drawing/2014/main" val="20000"/>
                        </a:ext>
                      </a:extLst>
                    </a:gridCol>
                    <a:gridCol w="1008112">
                      <a:extLst>
                        <a:ext uri="{9D8B030D-6E8A-4147-A177-3AD203B41FA5}">
                          <a16:colId xmlns:a16="http://schemas.microsoft.com/office/drawing/2014/main" val="1090817593"/>
                        </a:ext>
                      </a:extLst>
                    </a:gridCol>
                    <a:gridCol w="1080120">
                      <a:extLst>
                        <a:ext uri="{9D8B030D-6E8A-4147-A177-3AD203B41FA5}">
                          <a16:colId xmlns:a16="http://schemas.microsoft.com/office/drawing/2014/main" val="20001"/>
                        </a:ext>
                      </a:extLst>
                    </a:gridCol>
                    <a:gridCol w="917977">
                      <a:extLst>
                        <a:ext uri="{9D8B030D-6E8A-4147-A177-3AD203B41FA5}">
                          <a16:colId xmlns:a16="http://schemas.microsoft.com/office/drawing/2014/main" val="3242960352"/>
                        </a:ext>
                      </a:extLst>
                    </a:gridCol>
                    <a:gridCol w="1120992">
                      <a:extLst>
                        <a:ext uri="{9D8B030D-6E8A-4147-A177-3AD203B41FA5}">
                          <a16:colId xmlns:a16="http://schemas.microsoft.com/office/drawing/2014/main" val="176215867"/>
                        </a:ext>
                      </a:extLst>
                    </a:gridCol>
                    <a:gridCol w="1120992">
                      <a:extLst>
                        <a:ext uri="{9D8B030D-6E8A-4147-A177-3AD203B41FA5}">
                          <a16:colId xmlns:a16="http://schemas.microsoft.com/office/drawing/2014/main" val="2859968244"/>
                        </a:ext>
                      </a:extLst>
                    </a:gridCol>
                    <a:gridCol w="1160519">
                      <a:extLst>
                        <a:ext uri="{9D8B030D-6E8A-4147-A177-3AD203B41FA5}">
                          <a16:colId xmlns:a16="http://schemas.microsoft.com/office/drawing/2014/main" val="669471148"/>
                        </a:ext>
                      </a:extLst>
                    </a:gridCol>
                    <a:gridCol w="912153">
                      <a:extLst>
                        <a:ext uri="{9D8B030D-6E8A-4147-A177-3AD203B41FA5}">
                          <a16:colId xmlns:a16="http://schemas.microsoft.com/office/drawing/2014/main" val="324101211"/>
                        </a:ext>
                      </a:extLst>
                    </a:gridCol>
                  </a:tblGrid>
                  <a:tr h="749800">
                    <a:tc gridSpan="2">
                      <a:txBody>
                        <a:bodyPr/>
                        <a:lstStyle/>
                        <a:p>
                          <a:pPr algn="ctr"/>
                          <a:endParaRPr lang="zh-TW" altLang="en-US" sz="16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TlToBr w="12700" cap="flat" cmpd="sng" algn="ctr">
                          <a:solidFill>
                            <a:schemeClr val="tx1"/>
                          </a:solidFill>
                          <a:prstDash val="solid"/>
                          <a:round/>
                          <a:headEnd type="none" w="med" len="med"/>
                          <a:tailEnd type="none" w="med" len="med"/>
                        </a:lnTlToBr>
                        <a:solidFill>
                          <a:schemeClr val="accent2">
                            <a:lumMod val="20000"/>
                            <a:lumOff val="80000"/>
                          </a:schemeClr>
                        </a:solidFill>
                      </a:tcPr>
                    </a:tc>
                    <a:tc hMerge="1">
                      <a:txBody>
                        <a:bodyPr/>
                        <a:lstStyle/>
                        <a:p>
                          <a:pPr algn="ctr"/>
                          <a:endParaRPr lang="zh-TW" altLang="en-US" sz="2000"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tc>
                    <a:tc>
                      <a:txBody>
                        <a:bodyPr/>
                        <a:lstStyle/>
                        <a:p>
                          <a:pPr algn="ctr"/>
                          <a:r>
                            <a:rPr lang="en-US" altLang="zh-TW" sz="1600" b="1" dirty="0">
                              <a:latin typeface="Times New Roman" panose="02020603050405020304" pitchFamily="18" charset="0"/>
                              <a:ea typeface="新細明體" panose="02020500000000000000" pitchFamily="18" charset="-120"/>
                              <a:cs typeface="Times New Roman" panose="02020603050405020304" pitchFamily="18" charset="0"/>
                            </a:rPr>
                            <a:t>BLOSUM62</a:t>
                          </a:r>
                          <a:endParaRPr lang="zh-TW" altLang="en-US" sz="16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solidFill>
                          <a:schemeClr val="accent2">
                            <a:lumMod val="20000"/>
                            <a:lumOff val="80000"/>
                          </a:schemeClr>
                        </a:solidFill>
                      </a:tcPr>
                    </a:tc>
                    <a:tc>
                      <a:txBody>
                        <a:bodyPr/>
                        <a:lstStyle/>
                        <a:p>
                          <a:pPr algn="ctr"/>
                          <a:r>
                            <a:rPr lang="en-US" altLang="zh-TW" sz="1600" b="1" dirty="0">
                              <a:latin typeface="Times New Roman" panose="02020603050405020304" pitchFamily="18" charset="0"/>
                              <a:ea typeface="新細明體" panose="02020500000000000000" pitchFamily="18" charset="-120"/>
                              <a:cs typeface="Times New Roman" panose="02020603050405020304" pitchFamily="18" charset="0"/>
                            </a:rPr>
                            <a:t>PAM</a:t>
                          </a:r>
                        </a:p>
                        <a:p>
                          <a:pPr algn="ctr"/>
                          <a:r>
                            <a:rPr lang="en-US" altLang="zh-TW" sz="1600" b="1" dirty="0">
                              <a:latin typeface="Times New Roman" panose="02020603050405020304" pitchFamily="18" charset="0"/>
                              <a:ea typeface="新細明體" panose="02020500000000000000" pitchFamily="18" charset="-120"/>
                              <a:cs typeface="Times New Roman" panose="02020603050405020304" pitchFamily="18" charset="0"/>
                            </a:rPr>
                            <a:t>250</a:t>
                          </a:r>
                          <a:endParaRPr lang="zh-TW" altLang="en-US" sz="16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solidFill>
                          <a:schemeClr val="accent2">
                            <a:lumMod val="20000"/>
                            <a:lumOff val="80000"/>
                          </a:schemeClr>
                        </a:solidFill>
                      </a:tcPr>
                    </a:tc>
                    <a:tc>
                      <a:txBody>
                        <a:bodyPr/>
                        <a:lstStyle/>
                        <a:p>
                          <a:pPr algn="ctr"/>
                          <a:r>
                            <a:rPr lang="en-US" altLang="zh-TW" sz="1600" b="1" dirty="0">
                              <a:latin typeface="Times New Roman" panose="02020603050405020304" pitchFamily="18" charset="0"/>
                              <a:ea typeface="+mn-ea"/>
                              <a:cs typeface="Times New Roman" panose="02020603050405020304" pitchFamily="18" charset="0"/>
                            </a:rPr>
                            <a:t>MDM</a:t>
                          </a: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1" dirty="0">
                              <a:latin typeface="Times New Roman" panose="02020603050405020304" pitchFamily="18" charset="0"/>
                              <a:ea typeface="+mn-ea"/>
                              <a:cs typeface="Times New Roman" panose="02020603050405020304" pitchFamily="18" charset="0"/>
                            </a:rPr>
                            <a:t>20</a:t>
                          </a:r>
                          <a:endParaRPr lang="zh-TW" altLang="en-US" sz="16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solidFill>
                          <a:schemeClr val="accent2">
                            <a:lumMod val="20000"/>
                            <a:lumOff val="80000"/>
                          </a:schemeClr>
                        </a:solidFill>
                      </a:tcPr>
                    </a:tc>
                    <a:tc>
                      <a:txBody>
                        <a:bodyPr/>
                        <a:lstStyle/>
                        <a:p>
                          <a:pPr algn="ctr"/>
                          <a:r>
                            <a:rPr lang="en-US" altLang="zh-TW" sz="1600" b="1" dirty="0">
                              <a:latin typeface="Times New Roman" panose="02020603050405020304" pitchFamily="18" charset="0"/>
                              <a:ea typeface="新細明體" panose="02020500000000000000" pitchFamily="18" charset="-120"/>
                              <a:cs typeface="Times New Roman" panose="02020603050405020304" pitchFamily="18" charset="0"/>
                            </a:rPr>
                            <a:t>VTML</a:t>
                          </a:r>
                        </a:p>
                        <a:p>
                          <a:pPr algn="ctr"/>
                          <a:r>
                            <a:rPr lang="en-US" altLang="zh-TW" sz="1600" b="1" dirty="0">
                              <a:latin typeface="Times New Roman" panose="02020603050405020304" pitchFamily="18" charset="0"/>
                              <a:ea typeface="新細明體" panose="02020500000000000000" pitchFamily="18" charset="-120"/>
                              <a:cs typeface="Times New Roman" panose="02020603050405020304" pitchFamily="18" charset="0"/>
                            </a:rPr>
                            <a:t>120</a:t>
                          </a:r>
                          <a:endParaRPr lang="zh-TW" altLang="en-US" sz="16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solidFill>
                          <a:schemeClr val="accent2">
                            <a:lumMod val="20000"/>
                            <a:lumOff val="80000"/>
                          </a:schemeClr>
                        </a:solidFill>
                      </a:tcPr>
                    </a:tc>
                    <a:tc>
                      <a:txBody>
                        <a:bodyPr/>
                        <a:lstStyle/>
                        <a:p>
                          <a:pPr algn="ctr"/>
                          <a:r>
                            <a:rPr lang="en-US" altLang="zh-TW" sz="1600" b="1" dirty="0" err="1" smtClean="0">
                              <a:latin typeface="Times New Roman" panose="02020603050405020304" pitchFamily="18" charset="0"/>
                              <a:cs typeface="Times New Roman" panose="02020603050405020304" pitchFamily="18" charset="0"/>
                            </a:rPr>
                            <a:t>EDSSMat</a:t>
                          </a:r>
                          <a:endParaRPr lang="en-US" altLang="zh-TW" sz="1600" b="1" dirty="0" smtClean="0">
                            <a:latin typeface="Times New Roman" panose="02020603050405020304" pitchFamily="18" charset="0"/>
                            <a:cs typeface="Times New Roman" panose="02020603050405020304" pitchFamily="18" charset="0"/>
                          </a:endParaRPr>
                        </a:p>
                        <a:p>
                          <a:pPr algn="ctr"/>
                          <a:r>
                            <a:rPr lang="en-US" altLang="zh-TW" sz="1600" b="1" dirty="0" smtClean="0">
                              <a:latin typeface="Times New Roman" panose="02020603050405020304" pitchFamily="18" charset="0"/>
                              <a:cs typeface="Times New Roman" panose="02020603050405020304" pitchFamily="18" charset="0"/>
                            </a:rPr>
                            <a:t>62</a:t>
                          </a:r>
                          <a:endParaRPr lang="zh-TW" altLang="en-US" sz="1600" b="1" dirty="0">
                            <a:latin typeface="Times New Roman" panose="02020603050405020304" pitchFamily="18" charset="0"/>
                            <a:ea typeface="+mn-ea"/>
                            <a:cs typeface="Times New Roman" panose="02020603050405020304" pitchFamily="18" charset="0"/>
                          </a:endParaRPr>
                        </a:p>
                      </a:txBody>
                      <a:tcPr anchor="ctr">
                        <a:solidFill>
                          <a:schemeClr val="accent2">
                            <a:lumMod val="20000"/>
                            <a:lumOff val="80000"/>
                          </a:schemeClr>
                        </a:solidFill>
                      </a:tcPr>
                    </a:tc>
                    <a:tc>
                      <a:txBody>
                        <a:bodyPr/>
                        <a:lstStyle/>
                        <a:p>
                          <a:pPr algn="ctr"/>
                          <a:r>
                            <a:rPr lang="en-US" altLang="zh-TW" sz="1600" b="1" dirty="0">
                              <a:latin typeface="Times New Roman" panose="02020603050405020304" pitchFamily="18" charset="0"/>
                              <a:ea typeface="新細明體" panose="02020500000000000000" pitchFamily="18" charset="-120"/>
                              <a:cs typeface="Times New Roman" panose="02020603050405020304" pitchFamily="18" charset="0"/>
                            </a:rPr>
                            <a:t>GAHS</a:t>
                          </a:r>
                        </a:p>
                        <a:p>
                          <a:pPr algn="ctr"/>
                          <a:r>
                            <a:rPr lang="en-US" altLang="zh-TW" sz="1600" b="1" dirty="0">
                              <a:latin typeface="Times New Roman" panose="02020603050405020304" pitchFamily="18" charset="0"/>
                              <a:ea typeface="新細明體" panose="02020500000000000000" pitchFamily="18" charset="-120"/>
                              <a:cs typeface="Times New Roman" panose="02020603050405020304" pitchFamily="18" charset="0"/>
                            </a:rPr>
                            <a:t>27</a:t>
                          </a:r>
                          <a:endParaRPr lang="zh-TW" altLang="en-US" sz="16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solidFill>
                          <a:schemeClr val="accent2">
                            <a:lumMod val="20000"/>
                            <a:lumOff val="80000"/>
                          </a:schemeClr>
                        </a:solidFill>
                      </a:tcPr>
                    </a:tc>
                    <a:extLst>
                      <a:ext uri="{0D108BD9-81ED-4DB2-BD59-A6C34878D82A}">
                        <a16:rowId xmlns:a16="http://schemas.microsoft.com/office/drawing/2014/main" val="10000"/>
                      </a:ext>
                    </a:extLst>
                  </a:tr>
                  <a:tr h="749800">
                    <a:tc rowSpan="5">
                      <a:txBody>
                        <a:bodyPr/>
                        <a:lstStyle/>
                        <a:p>
                          <a:pPr algn="ctr"/>
                          <a:r>
                            <a:rPr lang="en-US" altLang="zh-TW" sz="1600" b="1" dirty="0">
                              <a:latin typeface="Times New Roman" panose="02020603050405020304" pitchFamily="18" charset="0"/>
                              <a:ea typeface="+mn-ea"/>
                              <a:cs typeface="Times New Roman" panose="02020603050405020304" pitchFamily="18" charset="0"/>
                            </a:rPr>
                            <a:t> Highly disordered </a:t>
                          </a:r>
                          <a:r>
                            <a:rPr lang="en-US" altLang="zh-TW" sz="2400" b="1" dirty="0">
                              <a:latin typeface="Times New Roman" panose="02020603050405020304" pitchFamily="18" charset="0"/>
                              <a:ea typeface="+mn-ea"/>
                              <a:cs typeface="Times New Roman" panose="02020603050405020304" pitchFamily="18" charset="0"/>
                            </a:rPr>
                            <a:t>(HD)</a:t>
                          </a:r>
                          <a:endParaRPr lang="zh-TW" altLang="en-US" sz="24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solidFill>
                          <a:schemeClr val="accent2">
                            <a:lumMod val="20000"/>
                            <a:lumOff val="80000"/>
                          </a:schemeClr>
                        </a:solidFill>
                      </a:tcPr>
                    </a:tc>
                    <a:tc>
                      <a:txBody>
                        <a:bodyPr/>
                        <a:lstStyle/>
                        <a:p>
                          <a:pPr algn="ctr"/>
                          <a:r>
                            <a:rPr lang="en-US" altLang="zh-TW" sz="1400" b="1" dirty="0">
                              <a:latin typeface="Times New Roman" panose="02020603050405020304" pitchFamily="18" charset="0"/>
                              <a:cs typeface="Times New Roman" panose="02020603050405020304" pitchFamily="18" charset="0"/>
                            </a:rPr>
                            <a:t>Gap </a:t>
                          </a:r>
                        </a:p>
                        <a:p>
                          <a:pPr algn="ctr"/>
                          <a:r>
                            <a:rPr lang="en-US" altLang="zh-TW" sz="1400" b="1" dirty="0">
                              <a:latin typeface="Times New Roman" panose="02020603050405020304" pitchFamily="18" charset="0"/>
                              <a:cs typeface="Times New Roman" panose="02020603050405020304" pitchFamily="18" charset="0"/>
                            </a:rPr>
                            <a:t>Open </a:t>
                          </a:r>
                          <a:endParaRPr lang="en-US" altLang="zh-TW" sz="1400" b="1"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-14</a:t>
                          </a:r>
                          <a:endParaRPr lang="en-US" altLang="zh-TW" sz="24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-19</a:t>
                          </a:r>
                          <a:endParaRPr lang="en-US" altLang="zh-TW" sz="24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-20</a:t>
                          </a:r>
                          <a:endParaRPr lang="en-US" altLang="zh-TW" sz="24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sz="24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-13</a:t>
                          </a:r>
                        </a:p>
                      </a:txBody>
                      <a:tcPr anchor="ctr"/>
                    </a:tc>
                    <a:tc>
                      <a:txBody>
                        <a:bodyPr/>
                        <a:lstStyle/>
                        <a:p>
                          <a:pPr algn="ctr"/>
                          <a:r>
                            <a:rPr lang="en-US" altLang="zh-TW" sz="24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-20</a:t>
                          </a:r>
                        </a:p>
                      </a:txBody>
                      <a:tcPr anchor="ctr"/>
                    </a:tc>
                    <a:tc>
                      <a:txBody>
                        <a:bodyPr/>
                        <a:lstStyle/>
                        <a:p>
                          <a:pPr algn="ctr"/>
                          <a:r>
                            <a:rPr lang="en-US" altLang="zh-TW" sz="24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-17</a:t>
                          </a:r>
                        </a:p>
                      </a:txBody>
                      <a:tcPr anchor="ctr"/>
                    </a:tc>
                    <a:extLst>
                      <a:ext uri="{0D108BD9-81ED-4DB2-BD59-A6C34878D82A}">
                        <a16:rowId xmlns:a16="http://schemas.microsoft.com/office/drawing/2014/main" val="10001"/>
                      </a:ext>
                    </a:extLst>
                  </a:tr>
                  <a:tr h="749800">
                    <a:tc vMerge="1">
                      <a:txBody>
                        <a:bodyPr/>
                        <a:lstStyle/>
                        <a:p>
                          <a:endParaRPr lang="zh-TW" altLang="en-US"/>
                        </a:p>
                      </a:txBody>
                      <a:tcPr/>
                    </a:tc>
                    <a:tc>
                      <a:txBody>
                        <a:bodyPr/>
                        <a:lstStyle/>
                        <a:p>
                          <a:pPr algn="ctr"/>
                          <a:r>
                            <a:rPr lang="en-US" altLang="zh-TW" sz="1400" b="1" dirty="0">
                              <a:latin typeface="Times New Roman" panose="02020603050405020304" pitchFamily="18" charset="0"/>
                              <a:cs typeface="Times New Roman" panose="02020603050405020304" pitchFamily="18" charset="0"/>
                            </a:rPr>
                            <a:t>Gap Extension</a:t>
                          </a:r>
                          <a:endParaRPr lang="en-US" altLang="zh-TW" sz="1400" b="1"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en-US" altLang="zh-TW" sz="24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en-US" altLang="zh-TW" sz="24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-1 </a:t>
                          </a:r>
                          <a:endParaRPr lang="en-US" altLang="zh-TW" sz="24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sz="24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-3</a:t>
                          </a:r>
                        </a:p>
                      </a:txBody>
                      <a:tcPr anchor="ctr"/>
                    </a:tc>
                    <a:tc>
                      <a:txBody>
                        <a:bodyPr/>
                        <a:lstStyle/>
                        <a:p>
                          <a:pPr algn="ctr"/>
                          <a:r>
                            <a:rPr lang="en-US" altLang="zh-TW" sz="24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a:t>
                          </a:r>
                        </a:p>
                      </a:txBody>
                      <a:tcPr anchor="ctr"/>
                    </a:tc>
                    <a:tc>
                      <a:txBody>
                        <a:bodyPr/>
                        <a:lstStyle/>
                        <a:p>
                          <a:pPr algn="ctr"/>
                          <a:r>
                            <a:rPr lang="en-US" altLang="zh-TW" sz="24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a:t>
                          </a:r>
                        </a:p>
                      </a:txBody>
                      <a:tcPr anchor="ctr"/>
                    </a:tc>
                    <a:extLst>
                      <a:ext uri="{0D108BD9-81ED-4DB2-BD59-A6C34878D82A}">
                        <a16:rowId xmlns:a16="http://schemas.microsoft.com/office/drawing/2014/main" val="3566930230"/>
                      </a:ext>
                    </a:extLst>
                  </a:tr>
                  <a:tr h="847602">
                    <a:tc vMerge="1">
                      <a:txBody>
                        <a:bodyPr/>
                        <a:lstStyle/>
                        <a:p>
                          <a:endParaRPr lang="zh-TW" altLang="en-US"/>
                        </a:p>
                      </a:txBody>
                      <a:tcPr/>
                    </a:tc>
                    <a:tc>
                      <a:txBody>
                        <a:bodyPr/>
                        <a:lstStyle/>
                        <a:p>
                          <a:pPr algn="ctr"/>
                          <a:r>
                            <a:rPr lang="en-US" altLang="zh-TW" sz="1400" b="1" dirty="0">
                              <a:latin typeface="Times New Roman" panose="02020603050405020304" pitchFamily="18" charset="0"/>
                              <a:cs typeface="Times New Roman" panose="02020603050405020304" pitchFamily="18" charset="0"/>
                            </a:rPr>
                            <a:t>Coverage</a:t>
                          </a:r>
                          <a:endParaRPr lang="en-US" altLang="zh-TW" sz="1400" b="1"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sz="2000" dirty="0">
                              <a:latin typeface="Times New Roman" panose="02020603050405020304" pitchFamily="18" charset="0"/>
                              <a:cs typeface="Times New Roman" panose="02020603050405020304" pitchFamily="18" charset="0"/>
                            </a:rPr>
                            <a:t>0.5922</a:t>
                          </a:r>
                        </a:p>
                        <a:p>
                          <a:pPr algn="ctr"/>
                          <a14:m>
                            <m:oMath xmlns:m="http://schemas.openxmlformats.org/officeDocument/2006/math">
                              <m:r>
                                <a:rPr lang="en-US" altLang="zh-TW" sz="2000" dirty="0" smtClean="0">
                                  <a:ln w="0"/>
                                  <a:solidFill>
                                    <a:schemeClr val="tx1"/>
                                  </a:solidFill>
                                  <a:effectLst/>
                                  <a:latin typeface="Cambria Math" panose="02040503050406030204" pitchFamily="18" charset="0"/>
                                </a:rPr>
                                <m:t>±</m:t>
                              </m:r>
                            </m:oMath>
                          </a14:m>
                          <a:r>
                            <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0.07</a:t>
                          </a:r>
                        </a:p>
                      </a:txBody>
                      <a:tcPr anchor="ctr"/>
                    </a:tc>
                    <a:tc>
                      <a:txBody>
                        <a:bodyPr/>
                        <a:lstStyle/>
                        <a:p>
                          <a:pPr algn="ctr"/>
                          <a:r>
                            <a:rPr lang="en-US" altLang="zh-TW" sz="2000" dirty="0">
                              <a:latin typeface="Times New Roman" panose="02020603050405020304" pitchFamily="18" charset="0"/>
                              <a:cs typeface="Times New Roman" panose="02020603050405020304" pitchFamily="18" charset="0"/>
                            </a:rPr>
                            <a:t>0.6084</a:t>
                          </a:r>
                        </a:p>
                        <a:p>
                          <a:pPr algn="ctr"/>
                          <a14:m>
                            <m:oMath xmlns:m="http://schemas.openxmlformats.org/officeDocument/2006/math">
                              <m:r>
                                <a:rPr lang="en-US" altLang="zh-TW" sz="2000" dirty="0" smtClean="0">
                                  <a:ln w="0"/>
                                  <a:solidFill>
                                    <a:schemeClr val="tx1"/>
                                  </a:solidFill>
                                  <a:effectLst/>
                                  <a:latin typeface="Cambria Math" panose="02040503050406030204" pitchFamily="18" charset="0"/>
                                </a:rPr>
                                <m:t>±</m:t>
                              </m:r>
                            </m:oMath>
                          </a14:m>
                          <a:r>
                            <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0.07</a:t>
                          </a:r>
                        </a:p>
                      </a:txBody>
                      <a:tcPr anchor="ctr"/>
                    </a:tc>
                    <a:tc>
                      <a:txBody>
                        <a:bodyPr/>
                        <a:lstStyle/>
                        <a:p>
                          <a:pPr algn="ctr"/>
                          <a:r>
                            <a:rPr lang="en-US" altLang="zh-TW" sz="2000" dirty="0">
                              <a:latin typeface="Times New Roman" panose="02020603050405020304" pitchFamily="18" charset="0"/>
                              <a:cs typeface="Times New Roman" panose="02020603050405020304" pitchFamily="18" charset="0"/>
                            </a:rPr>
                            <a:t>0.6027</a:t>
                          </a:r>
                        </a:p>
                        <a:p>
                          <a:pPr algn="ctr"/>
                          <a14:m>
                            <m:oMath xmlns:m="http://schemas.openxmlformats.org/officeDocument/2006/math">
                              <m:r>
                                <a:rPr lang="en-US" altLang="zh-TW" sz="2000" dirty="0" smtClean="0">
                                  <a:ln w="0"/>
                                  <a:solidFill>
                                    <a:schemeClr val="tx1"/>
                                  </a:solidFill>
                                  <a:effectLst/>
                                  <a:latin typeface="Cambria Math" panose="02040503050406030204" pitchFamily="18" charset="0"/>
                                </a:rPr>
                                <m:t>±</m:t>
                              </m:r>
                            </m:oMath>
                          </a14:m>
                          <a:r>
                            <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0.06</a:t>
                          </a:r>
                        </a:p>
                      </a:txBody>
                      <a:tcPr anchor="ctr"/>
                    </a:tc>
                    <a:tc>
                      <a:txBody>
                        <a:bodyPr/>
                        <a:lstStyle/>
                        <a:p>
                          <a:pPr algn="ctr"/>
                          <a:r>
                            <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0.6074</a:t>
                          </a:r>
                        </a:p>
                        <a:p>
                          <a:pPr marL="0" marR="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altLang="zh-TW" sz="2000" dirty="0" smtClean="0">
                                  <a:ln w="0"/>
                                  <a:solidFill>
                                    <a:schemeClr val="tx1"/>
                                  </a:solidFill>
                                  <a:effectLst/>
                                  <a:latin typeface="Cambria Math" panose="02040503050406030204" pitchFamily="18" charset="0"/>
                                </a:rPr>
                                <m:t>±</m:t>
                              </m:r>
                            </m:oMath>
                          </a14:m>
                          <a:r>
                            <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0.07</a:t>
                          </a:r>
                        </a:p>
                      </a:txBody>
                      <a:tcPr anchor="ctr"/>
                    </a:tc>
                    <a:tc>
                      <a:txBody>
                        <a:bodyPr/>
                        <a:lstStyle/>
                        <a:p>
                          <a:pPr algn="ctr"/>
                          <a:r>
                            <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0.6138</a:t>
                          </a:r>
                        </a:p>
                        <a:p>
                          <a:pPr marL="0" marR="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altLang="zh-TW" sz="2000" dirty="0" smtClean="0">
                                  <a:ln w="0"/>
                                  <a:solidFill>
                                    <a:schemeClr val="tx1"/>
                                  </a:solidFill>
                                  <a:effectLst/>
                                  <a:latin typeface="Cambria Math" panose="02040503050406030204" pitchFamily="18" charset="0"/>
                                </a:rPr>
                                <m:t>±</m:t>
                              </m:r>
                            </m:oMath>
                          </a14:m>
                          <a:r>
                            <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0.07</a:t>
                          </a:r>
                        </a:p>
                      </a:txBody>
                      <a:tcPr anchor="ctr"/>
                    </a:tc>
                    <a:tc>
                      <a:txBody>
                        <a:bodyPr/>
                        <a:lstStyle/>
                        <a:p>
                          <a:pPr algn="ctr"/>
                          <a:r>
                            <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0.6528</a:t>
                          </a:r>
                        </a:p>
                        <a:p>
                          <a:pPr algn="ctr"/>
                          <a14:m>
                            <m:oMath xmlns:m="http://schemas.openxmlformats.org/officeDocument/2006/math">
                              <m:r>
                                <a:rPr lang="en-US" altLang="zh-TW" sz="2000" dirty="0" smtClean="0">
                                  <a:ln w="0"/>
                                  <a:solidFill>
                                    <a:schemeClr val="tx1"/>
                                  </a:solidFill>
                                  <a:effectLst/>
                                  <a:latin typeface="Cambria Math" panose="02040503050406030204" pitchFamily="18" charset="0"/>
                                </a:rPr>
                                <m:t>±</m:t>
                              </m:r>
                            </m:oMath>
                          </a14:m>
                          <a:r>
                            <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0.07</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6564253"/>
                      </a:ext>
                    </a:extLst>
                  </a:tr>
                  <a:tr h="576000">
                    <a:tc vMerge="1">
                      <a:txBody>
                        <a:bodyPr/>
                        <a:lstStyle/>
                        <a:p>
                          <a:pPr algn="ctr"/>
                          <a:endParaRPr lang="zh-TW" altLang="en-US" sz="20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solidFill>
                          <a:schemeClr val="accent2">
                            <a:lumMod val="20000"/>
                            <a:lumOff val="80000"/>
                          </a:schemeClr>
                        </a:solidFill>
                      </a:tcPr>
                    </a:tc>
                    <a:tc>
                      <a:txBody>
                        <a:bodyPr/>
                        <a:lstStyle/>
                        <a:p>
                          <a:pPr algn="ctr"/>
                          <a:r>
                            <a:rPr lang="en-US" altLang="zh-TW" sz="2400" b="0" i="1" dirty="0">
                              <a:latin typeface="Times New Roman" panose="02020603050405020304" pitchFamily="18" charset="0"/>
                              <a:cs typeface="Times New Roman" panose="02020603050405020304" pitchFamily="18" charset="0"/>
                            </a:rPr>
                            <a:t>t</a:t>
                          </a:r>
                          <a:r>
                            <a:rPr lang="en-US" altLang="zh-TW" sz="2000" b="0" dirty="0">
                              <a:latin typeface="Times New Roman" panose="02020603050405020304" pitchFamily="18" charset="0"/>
                              <a:cs typeface="Times New Roman" panose="02020603050405020304" pitchFamily="18" charset="0"/>
                            </a:rPr>
                            <a:t>-value</a:t>
                          </a:r>
                          <a:endPar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4.793</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6.702</a:t>
                          </a:r>
                        </a:p>
                      </a:txBody>
                      <a:tcPr anchor="ctr"/>
                    </a:tc>
                    <a:tc>
                      <a:txBody>
                        <a:bodyPr/>
                        <a:lstStyle/>
                        <a:p>
                          <a:pPr algn="ctr"/>
                          <a:r>
                            <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4.748</a:t>
                          </a:r>
                        </a:p>
                      </a:txBody>
                      <a:tcPr anchor="ctr">
                        <a:lnR w="12700" cap="flat" cmpd="sng" algn="ctr">
                          <a:solidFill>
                            <a:schemeClr val="tx1"/>
                          </a:solidFill>
                          <a:prstDash val="solid"/>
                          <a:round/>
                          <a:headEnd type="none" w="med" len="med"/>
                          <a:tailEnd type="none" w="med" len="med"/>
                        </a:lnR>
                      </a:tcPr>
                    </a:tc>
                    <a:tc>
                      <a:txBody>
                        <a:bodyPr/>
                        <a:lstStyle/>
                        <a:p>
                          <a:pPr algn="ctr"/>
                          <a:r>
                            <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3.708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2.908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15458573"/>
                      </a:ext>
                    </a:extLst>
                  </a:tr>
                  <a:tr h="576000">
                    <a:tc vMerge="1">
                      <a:txBody>
                        <a:bodyPr/>
                        <a:lstStyle/>
                        <a:p>
                          <a:pPr algn="ctr"/>
                          <a:endParaRPr lang="zh-TW" altLang="en-US" sz="20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solidFill>
                          <a:schemeClr val="accent2">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2400" b="0" i="1" dirty="0">
                              <a:latin typeface="Times New Roman" panose="02020603050405020304" pitchFamily="18" charset="0"/>
                              <a:cs typeface="Times New Roman" panose="02020603050405020304" pitchFamily="18" charset="0"/>
                            </a:rPr>
                            <a:t>p</a:t>
                          </a:r>
                          <a:r>
                            <a:rPr lang="en-US" altLang="zh-TW" sz="2000" b="0" dirty="0">
                              <a:latin typeface="Times New Roman" panose="02020603050405020304" pitchFamily="18" charset="0"/>
                              <a:cs typeface="Times New Roman" panose="02020603050405020304" pitchFamily="18" charset="0"/>
                            </a:rPr>
                            <a:t>-value</a:t>
                          </a:r>
                          <a:endPar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1.6e-5</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1.9e-8</a:t>
                          </a:r>
                        </a:p>
                      </a:txBody>
                      <a:tcPr anchor="ctr"/>
                    </a:tc>
                    <a:tc>
                      <a:txBody>
                        <a:bodyPr/>
                        <a:lstStyle/>
                        <a:p>
                          <a:pPr algn="ctr"/>
                          <a:r>
                            <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1.8e-5</a:t>
                          </a:r>
                        </a:p>
                      </a:txBody>
                      <a:tcPr anchor="ctr">
                        <a:lnR w="12700" cap="flat" cmpd="sng" algn="ctr">
                          <a:solidFill>
                            <a:schemeClr val="tx1"/>
                          </a:solidFill>
                          <a:prstDash val="solid"/>
                          <a:round/>
                          <a:headEnd type="none" w="med" len="med"/>
                          <a:tailEnd type="none" w="med" len="med"/>
                        </a:lnR>
                      </a:tcPr>
                    </a:tc>
                    <a:tc>
                      <a:txBody>
                        <a:bodyPr/>
                        <a:lstStyle/>
                        <a:p>
                          <a:pPr algn="ctr"/>
                          <a:r>
                            <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5.3e-4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5.4e-3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42617769"/>
                      </a:ext>
                    </a:extLst>
                  </a:tr>
                </a:tbl>
              </a:graphicData>
            </a:graphic>
          </p:graphicFrame>
        </mc:Choice>
        <mc:Fallback xmlns="">
          <p:graphicFrame>
            <p:nvGraphicFramePr>
              <p:cNvPr id="6" name="表格 5">
                <a:extLst>
                  <a:ext uri="{FF2B5EF4-FFF2-40B4-BE49-F238E27FC236}">
                    <a16:creationId xmlns:a16="http://schemas.microsoft.com/office/drawing/2014/main" id="{7D19BE1B-030A-4AD9-8423-E7A5F49208E6}"/>
                  </a:ext>
                </a:extLst>
              </p:cNvPr>
              <p:cNvGraphicFramePr>
                <a:graphicFrameLocks noGrp="1"/>
              </p:cNvGraphicFramePr>
              <p:nvPr>
                <p:extLst>
                  <p:ext uri="{D42A27DB-BD31-4B8C-83A1-F6EECF244321}">
                    <p14:modId xmlns:p14="http://schemas.microsoft.com/office/powerpoint/2010/main" val="3247745859"/>
                  </p:ext>
                </p:extLst>
              </p:nvPr>
            </p:nvGraphicFramePr>
            <p:xfrm>
              <a:off x="336521" y="1573639"/>
              <a:ext cx="8460000" cy="4249002"/>
            </p:xfrm>
            <a:graphic>
              <a:graphicData uri="http://schemas.openxmlformats.org/drawingml/2006/table">
                <a:tbl>
                  <a:tblPr firstRow="1" bandRow="1">
                    <a:tableStyleId>{5940675A-B579-460E-94D1-54222C63F5DA}</a:tableStyleId>
                  </a:tblPr>
                  <a:tblGrid>
                    <a:gridCol w="1139135">
                      <a:extLst>
                        <a:ext uri="{9D8B030D-6E8A-4147-A177-3AD203B41FA5}">
                          <a16:colId xmlns:a16="http://schemas.microsoft.com/office/drawing/2014/main" val="20000"/>
                        </a:ext>
                      </a:extLst>
                    </a:gridCol>
                    <a:gridCol w="1008112">
                      <a:extLst>
                        <a:ext uri="{9D8B030D-6E8A-4147-A177-3AD203B41FA5}">
                          <a16:colId xmlns:a16="http://schemas.microsoft.com/office/drawing/2014/main" val="1090817593"/>
                        </a:ext>
                      </a:extLst>
                    </a:gridCol>
                    <a:gridCol w="1080120">
                      <a:extLst>
                        <a:ext uri="{9D8B030D-6E8A-4147-A177-3AD203B41FA5}">
                          <a16:colId xmlns:a16="http://schemas.microsoft.com/office/drawing/2014/main" val="20001"/>
                        </a:ext>
                      </a:extLst>
                    </a:gridCol>
                    <a:gridCol w="917977">
                      <a:extLst>
                        <a:ext uri="{9D8B030D-6E8A-4147-A177-3AD203B41FA5}">
                          <a16:colId xmlns:a16="http://schemas.microsoft.com/office/drawing/2014/main" val="3242960352"/>
                        </a:ext>
                      </a:extLst>
                    </a:gridCol>
                    <a:gridCol w="1120992">
                      <a:extLst>
                        <a:ext uri="{9D8B030D-6E8A-4147-A177-3AD203B41FA5}">
                          <a16:colId xmlns:a16="http://schemas.microsoft.com/office/drawing/2014/main" val="176215867"/>
                        </a:ext>
                      </a:extLst>
                    </a:gridCol>
                    <a:gridCol w="1120992">
                      <a:extLst>
                        <a:ext uri="{9D8B030D-6E8A-4147-A177-3AD203B41FA5}">
                          <a16:colId xmlns:a16="http://schemas.microsoft.com/office/drawing/2014/main" val="2859968244"/>
                        </a:ext>
                      </a:extLst>
                    </a:gridCol>
                    <a:gridCol w="1160519">
                      <a:extLst>
                        <a:ext uri="{9D8B030D-6E8A-4147-A177-3AD203B41FA5}">
                          <a16:colId xmlns:a16="http://schemas.microsoft.com/office/drawing/2014/main" val="669471148"/>
                        </a:ext>
                      </a:extLst>
                    </a:gridCol>
                    <a:gridCol w="912153">
                      <a:extLst>
                        <a:ext uri="{9D8B030D-6E8A-4147-A177-3AD203B41FA5}">
                          <a16:colId xmlns:a16="http://schemas.microsoft.com/office/drawing/2014/main" val="324101211"/>
                        </a:ext>
                      </a:extLst>
                    </a:gridCol>
                  </a:tblGrid>
                  <a:tr h="749800">
                    <a:tc gridSpan="2">
                      <a:txBody>
                        <a:bodyPr/>
                        <a:lstStyle/>
                        <a:p>
                          <a:pPr algn="ctr"/>
                          <a:endParaRPr lang="zh-TW" altLang="en-US" sz="16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TlToBr w="12700" cap="flat" cmpd="sng" algn="ctr">
                          <a:solidFill>
                            <a:schemeClr val="tx1"/>
                          </a:solidFill>
                          <a:prstDash val="solid"/>
                          <a:round/>
                          <a:headEnd type="none" w="med" len="med"/>
                          <a:tailEnd type="none" w="med" len="med"/>
                        </a:lnTlToBr>
                        <a:solidFill>
                          <a:schemeClr val="accent2">
                            <a:lumMod val="20000"/>
                            <a:lumOff val="80000"/>
                          </a:schemeClr>
                        </a:solidFill>
                      </a:tcPr>
                    </a:tc>
                    <a:tc hMerge="1">
                      <a:txBody>
                        <a:bodyPr/>
                        <a:lstStyle/>
                        <a:p>
                          <a:pPr algn="ctr"/>
                          <a:endParaRPr lang="zh-TW" altLang="en-US" sz="2000"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tc>
                    <a:tc>
                      <a:txBody>
                        <a:bodyPr/>
                        <a:lstStyle/>
                        <a:p>
                          <a:pPr algn="ctr"/>
                          <a:r>
                            <a:rPr lang="en-US" altLang="zh-TW" sz="1600" b="1" dirty="0">
                              <a:latin typeface="Times New Roman" panose="02020603050405020304" pitchFamily="18" charset="0"/>
                              <a:ea typeface="新細明體" panose="02020500000000000000" pitchFamily="18" charset="-120"/>
                              <a:cs typeface="Times New Roman" panose="02020603050405020304" pitchFamily="18" charset="0"/>
                            </a:rPr>
                            <a:t>BLOSUM62</a:t>
                          </a:r>
                          <a:endParaRPr lang="zh-TW" altLang="en-US" sz="16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solidFill>
                          <a:schemeClr val="accent2">
                            <a:lumMod val="20000"/>
                            <a:lumOff val="80000"/>
                          </a:schemeClr>
                        </a:solidFill>
                      </a:tcPr>
                    </a:tc>
                    <a:tc>
                      <a:txBody>
                        <a:bodyPr/>
                        <a:lstStyle/>
                        <a:p>
                          <a:pPr algn="ctr"/>
                          <a:r>
                            <a:rPr lang="en-US" altLang="zh-TW" sz="1600" b="1" dirty="0">
                              <a:latin typeface="Times New Roman" panose="02020603050405020304" pitchFamily="18" charset="0"/>
                              <a:ea typeface="新細明體" panose="02020500000000000000" pitchFamily="18" charset="-120"/>
                              <a:cs typeface="Times New Roman" panose="02020603050405020304" pitchFamily="18" charset="0"/>
                            </a:rPr>
                            <a:t>PAM</a:t>
                          </a:r>
                        </a:p>
                        <a:p>
                          <a:pPr algn="ctr"/>
                          <a:r>
                            <a:rPr lang="en-US" altLang="zh-TW" sz="1600" b="1" dirty="0">
                              <a:latin typeface="Times New Roman" panose="02020603050405020304" pitchFamily="18" charset="0"/>
                              <a:ea typeface="新細明體" panose="02020500000000000000" pitchFamily="18" charset="-120"/>
                              <a:cs typeface="Times New Roman" panose="02020603050405020304" pitchFamily="18" charset="0"/>
                            </a:rPr>
                            <a:t>250</a:t>
                          </a:r>
                          <a:endParaRPr lang="zh-TW" altLang="en-US" sz="16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solidFill>
                          <a:schemeClr val="accent2">
                            <a:lumMod val="20000"/>
                            <a:lumOff val="80000"/>
                          </a:schemeClr>
                        </a:solidFill>
                      </a:tcPr>
                    </a:tc>
                    <a:tc>
                      <a:txBody>
                        <a:bodyPr/>
                        <a:lstStyle/>
                        <a:p>
                          <a:pPr algn="ctr"/>
                          <a:r>
                            <a:rPr lang="en-US" altLang="zh-TW" sz="1600" b="1" dirty="0">
                              <a:latin typeface="Times New Roman" panose="02020603050405020304" pitchFamily="18" charset="0"/>
                              <a:ea typeface="+mn-ea"/>
                              <a:cs typeface="Times New Roman" panose="02020603050405020304" pitchFamily="18" charset="0"/>
                            </a:rPr>
                            <a:t>MDM</a:t>
                          </a: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1" dirty="0">
                              <a:latin typeface="Times New Roman" panose="02020603050405020304" pitchFamily="18" charset="0"/>
                              <a:ea typeface="+mn-ea"/>
                              <a:cs typeface="Times New Roman" panose="02020603050405020304" pitchFamily="18" charset="0"/>
                            </a:rPr>
                            <a:t>20</a:t>
                          </a:r>
                          <a:endParaRPr lang="zh-TW" altLang="en-US" sz="16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solidFill>
                          <a:schemeClr val="accent2">
                            <a:lumMod val="20000"/>
                            <a:lumOff val="80000"/>
                          </a:schemeClr>
                        </a:solidFill>
                      </a:tcPr>
                    </a:tc>
                    <a:tc>
                      <a:txBody>
                        <a:bodyPr/>
                        <a:lstStyle/>
                        <a:p>
                          <a:pPr algn="ctr"/>
                          <a:r>
                            <a:rPr lang="en-US" altLang="zh-TW" sz="1600" b="1" dirty="0">
                              <a:latin typeface="Times New Roman" panose="02020603050405020304" pitchFamily="18" charset="0"/>
                              <a:ea typeface="新細明體" panose="02020500000000000000" pitchFamily="18" charset="-120"/>
                              <a:cs typeface="Times New Roman" panose="02020603050405020304" pitchFamily="18" charset="0"/>
                            </a:rPr>
                            <a:t>VTML</a:t>
                          </a:r>
                        </a:p>
                        <a:p>
                          <a:pPr algn="ctr"/>
                          <a:r>
                            <a:rPr lang="en-US" altLang="zh-TW" sz="1600" b="1" dirty="0">
                              <a:latin typeface="Times New Roman" panose="02020603050405020304" pitchFamily="18" charset="0"/>
                              <a:ea typeface="新細明體" panose="02020500000000000000" pitchFamily="18" charset="-120"/>
                              <a:cs typeface="Times New Roman" panose="02020603050405020304" pitchFamily="18" charset="0"/>
                            </a:rPr>
                            <a:t>120</a:t>
                          </a:r>
                          <a:endParaRPr lang="zh-TW" altLang="en-US" sz="16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solidFill>
                          <a:schemeClr val="accent2">
                            <a:lumMod val="20000"/>
                            <a:lumOff val="80000"/>
                          </a:schemeClr>
                        </a:solidFill>
                      </a:tcPr>
                    </a:tc>
                    <a:tc>
                      <a:txBody>
                        <a:bodyPr/>
                        <a:lstStyle/>
                        <a:p>
                          <a:pPr algn="ctr"/>
                          <a:r>
                            <a:rPr lang="en-US" altLang="zh-TW" sz="1600" b="1" dirty="0" err="1" smtClean="0">
                              <a:latin typeface="Times New Roman" panose="02020603050405020304" pitchFamily="18" charset="0"/>
                              <a:cs typeface="Times New Roman" panose="02020603050405020304" pitchFamily="18" charset="0"/>
                            </a:rPr>
                            <a:t>EDSSMat</a:t>
                          </a:r>
                          <a:endParaRPr lang="en-US" altLang="zh-TW" sz="1600" b="1" dirty="0" smtClean="0">
                            <a:latin typeface="Times New Roman" panose="02020603050405020304" pitchFamily="18" charset="0"/>
                            <a:cs typeface="Times New Roman" panose="02020603050405020304" pitchFamily="18" charset="0"/>
                          </a:endParaRPr>
                        </a:p>
                        <a:p>
                          <a:pPr algn="ctr"/>
                          <a:r>
                            <a:rPr lang="en-US" altLang="zh-TW" sz="1600" b="1" dirty="0" smtClean="0">
                              <a:latin typeface="Times New Roman" panose="02020603050405020304" pitchFamily="18" charset="0"/>
                              <a:cs typeface="Times New Roman" panose="02020603050405020304" pitchFamily="18" charset="0"/>
                            </a:rPr>
                            <a:t>62</a:t>
                          </a:r>
                          <a:endParaRPr lang="zh-TW" altLang="en-US" sz="1600" b="1" dirty="0">
                            <a:latin typeface="Times New Roman" panose="02020603050405020304" pitchFamily="18" charset="0"/>
                            <a:ea typeface="+mn-ea"/>
                            <a:cs typeface="Times New Roman" panose="02020603050405020304" pitchFamily="18" charset="0"/>
                          </a:endParaRPr>
                        </a:p>
                      </a:txBody>
                      <a:tcPr anchor="ctr">
                        <a:solidFill>
                          <a:schemeClr val="accent2">
                            <a:lumMod val="20000"/>
                            <a:lumOff val="80000"/>
                          </a:schemeClr>
                        </a:solidFill>
                      </a:tcPr>
                    </a:tc>
                    <a:tc>
                      <a:txBody>
                        <a:bodyPr/>
                        <a:lstStyle/>
                        <a:p>
                          <a:pPr algn="ctr"/>
                          <a:r>
                            <a:rPr lang="en-US" altLang="zh-TW" sz="1600" b="1" dirty="0">
                              <a:latin typeface="Times New Roman" panose="02020603050405020304" pitchFamily="18" charset="0"/>
                              <a:ea typeface="新細明體" panose="02020500000000000000" pitchFamily="18" charset="-120"/>
                              <a:cs typeface="Times New Roman" panose="02020603050405020304" pitchFamily="18" charset="0"/>
                            </a:rPr>
                            <a:t>GAHS</a:t>
                          </a:r>
                        </a:p>
                        <a:p>
                          <a:pPr algn="ctr"/>
                          <a:r>
                            <a:rPr lang="en-US" altLang="zh-TW" sz="1600" b="1" dirty="0">
                              <a:latin typeface="Times New Roman" panose="02020603050405020304" pitchFamily="18" charset="0"/>
                              <a:ea typeface="新細明體" panose="02020500000000000000" pitchFamily="18" charset="-120"/>
                              <a:cs typeface="Times New Roman" panose="02020603050405020304" pitchFamily="18" charset="0"/>
                            </a:rPr>
                            <a:t>27</a:t>
                          </a:r>
                          <a:endParaRPr lang="zh-TW" altLang="en-US" sz="16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solidFill>
                          <a:schemeClr val="accent2">
                            <a:lumMod val="20000"/>
                            <a:lumOff val="80000"/>
                          </a:schemeClr>
                        </a:solidFill>
                      </a:tcPr>
                    </a:tc>
                    <a:extLst>
                      <a:ext uri="{0D108BD9-81ED-4DB2-BD59-A6C34878D82A}">
                        <a16:rowId xmlns:a16="http://schemas.microsoft.com/office/drawing/2014/main" val="10000"/>
                      </a:ext>
                    </a:extLst>
                  </a:tr>
                  <a:tr h="749800">
                    <a:tc rowSpan="5">
                      <a:txBody>
                        <a:bodyPr/>
                        <a:lstStyle/>
                        <a:p>
                          <a:pPr algn="ctr"/>
                          <a:r>
                            <a:rPr lang="en-US" altLang="zh-TW" sz="1600" b="1" dirty="0">
                              <a:latin typeface="Times New Roman" panose="02020603050405020304" pitchFamily="18" charset="0"/>
                              <a:ea typeface="+mn-ea"/>
                              <a:cs typeface="Times New Roman" panose="02020603050405020304" pitchFamily="18" charset="0"/>
                            </a:rPr>
                            <a:t> Highly disordered </a:t>
                          </a:r>
                          <a:r>
                            <a:rPr lang="en-US" altLang="zh-TW" sz="2400" b="1" dirty="0">
                              <a:latin typeface="Times New Roman" panose="02020603050405020304" pitchFamily="18" charset="0"/>
                              <a:ea typeface="+mn-ea"/>
                              <a:cs typeface="Times New Roman" panose="02020603050405020304" pitchFamily="18" charset="0"/>
                            </a:rPr>
                            <a:t>(HD)</a:t>
                          </a:r>
                          <a:endParaRPr lang="zh-TW" altLang="en-US" sz="24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solidFill>
                          <a:schemeClr val="accent2">
                            <a:lumMod val="20000"/>
                            <a:lumOff val="80000"/>
                          </a:schemeClr>
                        </a:solidFill>
                      </a:tcPr>
                    </a:tc>
                    <a:tc>
                      <a:txBody>
                        <a:bodyPr/>
                        <a:lstStyle/>
                        <a:p>
                          <a:pPr algn="ctr"/>
                          <a:r>
                            <a:rPr lang="en-US" altLang="zh-TW" sz="1400" b="1" dirty="0">
                              <a:latin typeface="Times New Roman" panose="02020603050405020304" pitchFamily="18" charset="0"/>
                              <a:cs typeface="Times New Roman" panose="02020603050405020304" pitchFamily="18" charset="0"/>
                            </a:rPr>
                            <a:t>Gap </a:t>
                          </a:r>
                        </a:p>
                        <a:p>
                          <a:pPr algn="ctr"/>
                          <a:r>
                            <a:rPr lang="en-US" altLang="zh-TW" sz="1400" b="1" dirty="0">
                              <a:latin typeface="Times New Roman" panose="02020603050405020304" pitchFamily="18" charset="0"/>
                              <a:cs typeface="Times New Roman" panose="02020603050405020304" pitchFamily="18" charset="0"/>
                            </a:rPr>
                            <a:t>Open </a:t>
                          </a:r>
                          <a:endParaRPr lang="en-US" altLang="zh-TW" sz="1400" b="1"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-14</a:t>
                          </a:r>
                          <a:endParaRPr lang="en-US" altLang="zh-TW" sz="24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-19</a:t>
                          </a:r>
                          <a:endParaRPr lang="en-US" altLang="zh-TW" sz="24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-20</a:t>
                          </a:r>
                          <a:endParaRPr lang="en-US" altLang="zh-TW" sz="24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sz="24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-13</a:t>
                          </a:r>
                        </a:p>
                      </a:txBody>
                      <a:tcPr anchor="ctr"/>
                    </a:tc>
                    <a:tc>
                      <a:txBody>
                        <a:bodyPr/>
                        <a:lstStyle/>
                        <a:p>
                          <a:pPr algn="ctr"/>
                          <a:r>
                            <a:rPr lang="en-US" altLang="zh-TW" sz="24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-20</a:t>
                          </a:r>
                        </a:p>
                      </a:txBody>
                      <a:tcPr anchor="ctr"/>
                    </a:tc>
                    <a:tc>
                      <a:txBody>
                        <a:bodyPr/>
                        <a:lstStyle/>
                        <a:p>
                          <a:pPr algn="ctr"/>
                          <a:r>
                            <a:rPr lang="en-US" altLang="zh-TW" sz="24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-17</a:t>
                          </a:r>
                        </a:p>
                      </a:txBody>
                      <a:tcPr anchor="ctr"/>
                    </a:tc>
                    <a:extLst>
                      <a:ext uri="{0D108BD9-81ED-4DB2-BD59-A6C34878D82A}">
                        <a16:rowId xmlns:a16="http://schemas.microsoft.com/office/drawing/2014/main" val="10001"/>
                      </a:ext>
                    </a:extLst>
                  </a:tr>
                  <a:tr h="749800">
                    <a:tc vMerge="1">
                      <a:txBody>
                        <a:bodyPr/>
                        <a:lstStyle/>
                        <a:p>
                          <a:endParaRPr lang="zh-TW" altLang="en-US"/>
                        </a:p>
                      </a:txBody>
                      <a:tcPr/>
                    </a:tc>
                    <a:tc>
                      <a:txBody>
                        <a:bodyPr/>
                        <a:lstStyle/>
                        <a:p>
                          <a:pPr algn="ctr"/>
                          <a:r>
                            <a:rPr lang="en-US" altLang="zh-TW" sz="1400" b="1" dirty="0">
                              <a:latin typeface="Times New Roman" panose="02020603050405020304" pitchFamily="18" charset="0"/>
                              <a:cs typeface="Times New Roman" panose="02020603050405020304" pitchFamily="18" charset="0"/>
                            </a:rPr>
                            <a:t>Gap Extension</a:t>
                          </a:r>
                          <a:endParaRPr lang="en-US" altLang="zh-TW" sz="1400" b="1"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en-US" altLang="zh-TW" sz="24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en-US" altLang="zh-TW" sz="24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-1 </a:t>
                          </a:r>
                          <a:endParaRPr lang="en-US" altLang="zh-TW" sz="24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sz="24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-3</a:t>
                          </a:r>
                        </a:p>
                      </a:txBody>
                      <a:tcPr anchor="ctr"/>
                    </a:tc>
                    <a:tc>
                      <a:txBody>
                        <a:bodyPr/>
                        <a:lstStyle/>
                        <a:p>
                          <a:pPr algn="ctr"/>
                          <a:r>
                            <a:rPr lang="en-US" altLang="zh-TW" sz="24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a:t>
                          </a:r>
                        </a:p>
                      </a:txBody>
                      <a:tcPr anchor="ctr"/>
                    </a:tc>
                    <a:tc>
                      <a:txBody>
                        <a:bodyPr/>
                        <a:lstStyle/>
                        <a:p>
                          <a:pPr algn="ctr"/>
                          <a:r>
                            <a:rPr lang="en-US" altLang="zh-TW" sz="24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a:t>
                          </a:r>
                        </a:p>
                      </a:txBody>
                      <a:tcPr anchor="ctr"/>
                    </a:tc>
                    <a:extLst>
                      <a:ext uri="{0D108BD9-81ED-4DB2-BD59-A6C34878D82A}">
                        <a16:rowId xmlns:a16="http://schemas.microsoft.com/office/drawing/2014/main" val="3566930230"/>
                      </a:ext>
                    </a:extLst>
                  </a:tr>
                  <a:tr h="847602">
                    <a:tc vMerge="1">
                      <a:txBody>
                        <a:bodyPr/>
                        <a:lstStyle/>
                        <a:p>
                          <a:endParaRPr lang="zh-TW" altLang="en-US"/>
                        </a:p>
                      </a:txBody>
                      <a:tcPr/>
                    </a:tc>
                    <a:tc>
                      <a:txBody>
                        <a:bodyPr/>
                        <a:lstStyle/>
                        <a:p>
                          <a:pPr algn="ctr"/>
                          <a:r>
                            <a:rPr lang="en-US" altLang="zh-TW" sz="1400" b="1" dirty="0">
                              <a:latin typeface="Times New Roman" panose="02020603050405020304" pitchFamily="18" charset="0"/>
                              <a:cs typeface="Times New Roman" panose="02020603050405020304" pitchFamily="18" charset="0"/>
                            </a:rPr>
                            <a:t>Coverage</a:t>
                          </a:r>
                          <a:endParaRPr lang="en-US" altLang="zh-TW" sz="1400" b="1"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endParaRPr lang="zh-TW"/>
                        </a:p>
                      </a:txBody>
                      <a:tcPr anchor="ctr">
                        <a:blipFill>
                          <a:blip r:embed="rId3"/>
                          <a:stretch>
                            <a:fillRect l="-198315" t="-266906" r="-483708" b="-144604"/>
                          </a:stretch>
                        </a:blipFill>
                      </a:tcPr>
                    </a:tc>
                    <a:tc>
                      <a:txBody>
                        <a:bodyPr/>
                        <a:lstStyle/>
                        <a:p>
                          <a:endParaRPr lang="zh-TW"/>
                        </a:p>
                      </a:txBody>
                      <a:tcPr anchor="ctr">
                        <a:blipFill>
                          <a:blip r:embed="rId3"/>
                          <a:stretch>
                            <a:fillRect l="-354000" t="-266906" r="-474000" b="-144604"/>
                          </a:stretch>
                        </a:blipFill>
                      </a:tcPr>
                    </a:tc>
                    <a:tc>
                      <a:txBody>
                        <a:bodyPr/>
                        <a:lstStyle/>
                        <a:p>
                          <a:endParaRPr lang="zh-TW"/>
                        </a:p>
                      </a:txBody>
                      <a:tcPr anchor="ctr">
                        <a:blipFill>
                          <a:blip r:embed="rId3"/>
                          <a:stretch>
                            <a:fillRect l="-370109" t="-266906" r="-286413" b="-144604"/>
                          </a:stretch>
                        </a:blipFill>
                      </a:tcPr>
                    </a:tc>
                    <a:tc>
                      <a:txBody>
                        <a:bodyPr/>
                        <a:lstStyle/>
                        <a:p>
                          <a:endParaRPr lang="zh-TW"/>
                        </a:p>
                      </a:txBody>
                      <a:tcPr anchor="ctr">
                        <a:blipFill>
                          <a:blip r:embed="rId3"/>
                          <a:stretch>
                            <a:fillRect l="-470109" t="-266906" r="-186413" b="-144604"/>
                          </a:stretch>
                        </a:blipFill>
                      </a:tcPr>
                    </a:tc>
                    <a:tc>
                      <a:txBody>
                        <a:bodyPr/>
                        <a:lstStyle/>
                        <a:p>
                          <a:endParaRPr lang="zh-TW"/>
                        </a:p>
                      </a:txBody>
                      <a:tcPr anchor="ctr">
                        <a:blipFill>
                          <a:blip r:embed="rId3"/>
                          <a:stretch>
                            <a:fillRect l="-552105" t="-266906" r="-80526" b="-144604"/>
                          </a:stretch>
                        </a:blipFill>
                      </a:tcPr>
                    </a:tc>
                    <a:tc>
                      <a:txBody>
                        <a:bodyPr/>
                        <a:lstStyle/>
                        <a:p>
                          <a:endParaRPr lang="zh-TW"/>
                        </a:p>
                      </a:txBody>
                      <a:tcPr anchor="ctr">
                        <a:lnB w="12700" cap="flat" cmpd="sng" algn="ctr">
                          <a:solidFill>
                            <a:schemeClr val="tx1"/>
                          </a:solidFill>
                          <a:prstDash val="solid"/>
                          <a:round/>
                          <a:headEnd type="none" w="med" len="med"/>
                          <a:tailEnd type="none" w="med" len="med"/>
                        </a:lnB>
                        <a:blipFill>
                          <a:blip r:embed="rId3"/>
                          <a:stretch>
                            <a:fillRect l="-826000" t="-266906" r="-2000" b="-144604"/>
                          </a:stretch>
                        </a:blipFill>
                      </a:tcPr>
                    </a:tc>
                    <a:extLst>
                      <a:ext uri="{0D108BD9-81ED-4DB2-BD59-A6C34878D82A}">
                        <a16:rowId xmlns:a16="http://schemas.microsoft.com/office/drawing/2014/main" val="2276564253"/>
                      </a:ext>
                    </a:extLst>
                  </a:tr>
                  <a:tr h="576000">
                    <a:tc vMerge="1">
                      <a:txBody>
                        <a:bodyPr/>
                        <a:lstStyle/>
                        <a:p>
                          <a:pPr algn="ctr"/>
                          <a:endParaRPr lang="zh-TW" altLang="en-US" sz="20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solidFill>
                          <a:schemeClr val="accent2">
                            <a:lumMod val="20000"/>
                            <a:lumOff val="80000"/>
                          </a:schemeClr>
                        </a:solidFill>
                      </a:tcPr>
                    </a:tc>
                    <a:tc>
                      <a:txBody>
                        <a:bodyPr/>
                        <a:lstStyle/>
                        <a:p>
                          <a:pPr algn="ctr"/>
                          <a:r>
                            <a:rPr lang="en-US" altLang="zh-TW" sz="2400" b="0" i="1" dirty="0">
                              <a:latin typeface="Times New Roman" panose="02020603050405020304" pitchFamily="18" charset="0"/>
                              <a:cs typeface="Times New Roman" panose="02020603050405020304" pitchFamily="18" charset="0"/>
                            </a:rPr>
                            <a:t>t</a:t>
                          </a:r>
                          <a:r>
                            <a:rPr lang="en-US" altLang="zh-TW" sz="2000" b="0" dirty="0">
                              <a:latin typeface="Times New Roman" panose="02020603050405020304" pitchFamily="18" charset="0"/>
                              <a:cs typeface="Times New Roman" panose="02020603050405020304" pitchFamily="18" charset="0"/>
                            </a:rPr>
                            <a:t>-value</a:t>
                          </a:r>
                          <a:endPar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4.793</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6.702</a:t>
                          </a:r>
                        </a:p>
                      </a:txBody>
                      <a:tcPr anchor="ctr"/>
                    </a:tc>
                    <a:tc>
                      <a:txBody>
                        <a:bodyPr/>
                        <a:lstStyle/>
                        <a:p>
                          <a:pPr algn="ctr"/>
                          <a:r>
                            <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4.748</a:t>
                          </a:r>
                        </a:p>
                      </a:txBody>
                      <a:tcPr anchor="ctr">
                        <a:lnR w="12700" cap="flat" cmpd="sng" algn="ctr">
                          <a:solidFill>
                            <a:schemeClr val="tx1"/>
                          </a:solidFill>
                          <a:prstDash val="solid"/>
                          <a:round/>
                          <a:headEnd type="none" w="med" len="med"/>
                          <a:tailEnd type="none" w="med" len="med"/>
                        </a:lnR>
                      </a:tcPr>
                    </a:tc>
                    <a:tc>
                      <a:txBody>
                        <a:bodyPr/>
                        <a:lstStyle/>
                        <a:p>
                          <a:pPr algn="ctr"/>
                          <a:r>
                            <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3.708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2.908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15458573"/>
                      </a:ext>
                    </a:extLst>
                  </a:tr>
                  <a:tr h="576000">
                    <a:tc vMerge="1">
                      <a:txBody>
                        <a:bodyPr/>
                        <a:lstStyle/>
                        <a:p>
                          <a:pPr algn="ctr"/>
                          <a:endParaRPr lang="zh-TW" altLang="en-US" sz="20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solidFill>
                          <a:schemeClr val="accent2">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2400" b="0" i="1" dirty="0">
                              <a:latin typeface="Times New Roman" panose="02020603050405020304" pitchFamily="18" charset="0"/>
                              <a:cs typeface="Times New Roman" panose="02020603050405020304" pitchFamily="18" charset="0"/>
                            </a:rPr>
                            <a:t>p</a:t>
                          </a:r>
                          <a:r>
                            <a:rPr lang="en-US" altLang="zh-TW" sz="2000" b="0" dirty="0">
                              <a:latin typeface="Times New Roman" panose="02020603050405020304" pitchFamily="18" charset="0"/>
                              <a:cs typeface="Times New Roman" panose="02020603050405020304" pitchFamily="18" charset="0"/>
                            </a:rPr>
                            <a:t>-value</a:t>
                          </a:r>
                          <a:endPar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tc>
                    <a:tc>
                      <a:txBody>
                        <a:bodyPr/>
                        <a:lstStyle/>
                        <a:p>
                          <a:pPr algn="ctr"/>
                          <a:r>
                            <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1.6e-5</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1.9e-8</a:t>
                          </a:r>
                        </a:p>
                      </a:txBody>
                      <a:tcPr anchor="ctr"/>
                    </a:tc>
                    <a:tc>
                      <a:txBody>
                        <a:bodyPr/>
                        <a:lstStyle/>
                        <a:p>
                          <a:pPr algn="ctr"/>
                          <a:r>
                            <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1.8e-5</a:t>
                          </a:r>
                        </a:p>
                      </a:txBody>
                      <a:tcPr anchor="ctr">
                        <a:lnR w="12700" cap="flat" cmpd="sng" algn="ctr">
                          <a:solidFill>
                            <a:schemeClr val="tx1"/>
                          </a:solidFill>
                          <a:prstDash val="solid"/>
                          <a:round/>
                          <a:headEnd type="none" w="med" len="med"/>
                          <a:tailEnd type="none" w="med" len="med"/>
                        </a:lnR>
                      </a:tcPr>
                    </a:tc>
                    <a:tc>
                      <a:txBody>
                        <a:bodyPr/>
                        <a:lstStyle/>
                        <a:p>
                          <a:pPr algn="ctr"/>
                          <a:r>
                            <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5.3e-4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5.4e-3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altLang="zh-TW" sz="200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42617769"/>
                      </a:ext>
                    </a:extLst>
                  </a:tr>
                </a:tbl>
              </a:graphicData>
            </a:graphic>
          </p:graphicFrame>
        </mc:Fallback>
      </mc:AlternateContent>
      <p:sp>
        <p:nvSpPr>
          <p:cNvPr id="7" name="文字方塊 6">
            <a:extLst>
              <a:ext uri="{FF2B5EF4-FFF2-40B4-BE49-F238E27FC236}">
                <a16:creationId xmlns:a16="http://schemas.microsoft.com/office/drawing/2014/main" id="{E2170470-876A-4D37-A2B0-3CABF61B5CB6}"/>
              </a:ext>
            </a:extLst>
          </p:cNvPr>
          <p:cNvSpPr txBox="1"/>
          <p:nvPr/>
        </p:nvSpPr>
        <p:spPr>
          <a:xfrm>
            <a:off x="354961" y="1932540"/>
            <a:ext cx="1010213" cy="400110"/>
          </a:xfrm>
          <a:prstGeom prst="rect">
            <a:avLst/>
          </a:prstGeom>
          <a:noFill/>
        </p:spPr>
        <p:txBody>
          <a:bodyPr wrap="none" rtlCol="0">
            <a:spAutoFit/>
          </a:bodyPr>
          <a:lstStyle/>
          <a:p>
            <a:r>
              <a:rPr lang="en-US" altLang="zh-TW" sz="2000" b="1" dirty="0">
                <a:latin typeface="Times New Roman" panose="02020603050405020304" pitchFamily="18" charset="0"/>
                <a:cs typeface="Times New Roman" panose="02020603050405020304" pitchFamily="18" charset="0"/>
              </a:rPr>
              <a:t>Dataset</a:t>
            </a:r>
            <a:endParaRPr lang="zh-TW" altLang="en-US" sz="2000" b="1" dirty="0">
              <a:latin typeface="Times New Roman" panose="02020603050405020304" pitchFamily="18" charset="0"/>
              <a:cs typeface="Times New Roman" panose="02020603050405020304" pitchFamily="18" charset="0"/>
            </a:endParaRPr>
          </a:p>
        </p:txBody>
      </p:sp>
      <p:sp>
        <p:nvSpPr>
          <p:cNvPr id="9" name="文字方塊 8">
            <a:extLst>
              <a:ext uri="{FF2B5EF4-FFF2-40B4-BE49-F238E27FC236}">
                <a16:creationId xmlns:a16="http://schemas.microsoft.com/office/drawing/2014/main" id="{D0DB1442-A8AA-470C-8088-5A0A9382FE47}"/>
              </a:ext>
            </a:extLst>
          </p:cNvPr>
          <p:cNvSpPr txBox="1"/>
          <p:nvPr/>
        </p:nvSpPr>
        <p:spPr>
          <a:xfrm>
            <a:off x="1331640" y="1557184"/>
            <a:ext cx="952505" cy="400110"/>
          </a:xfrm>
          <a:prstGeom prst="rect">
            <a:avLst/>
          </a:prstGeom>
          <a:noFill/>
        </p:spPr>
        <p:txBody>
          <a:bodyPr wrap="none" rtlCol="0">
            <a:spAutoFit/>
          </a:bodyPr>
          <a:lstStyle/>
          <a:p>
            <a:r>
              <a:rPr lang="en-US" altLang="zh-TW" sz="2000" b="1" dirty="0">
                <a:latin typeface="Times New Roman" panose="02020603050405020304" pitchFamily="18" charset="0"/>
                <a:cs typeface="Times New Roman" panose="02020603050405020304" pitchFamily="18" charset="0"/>
              </a:rPr>
              <a:t>Matrix</a:t>
            </a:r>
            <a:endParaRPr lang="zh-TW" altLang="en-US" sz="1600" b="1" dirty="0">
              <a:latin typeface="Times New Roman" panose="02020603050405020304" pitchFamily="18" charset="0"/>
              <a:cs typeface="Times New Roman" panose="02020603050405020304" pitchFamily="18" charset="0"/>
            </a:endParaRPr>
          </a:p>
        </p:txBody>
      </p:sp>
      <p:sp>
        <p:nvSpPr>
          <p:cNvPr id="2" name="矩形 1"/>
          <p:cNvSpPr/>
          <p:nvPr/>
        </p:nvSpPr>
        <p:spPr>
          <a:xfrm>
            <a:off x="1315748" y="6073347"/>
            <a:ext cx="6640627" cy="369332"/>
          </a:xfrm>
          <a:prstGeom prst="rect">
            <a:avLst/>
          </a:prstGeom>
        </p:spPr>
        <p:txBody>
          <a:bodyPr wrap="square">
            <a:spAutoFit/>
          </a:bodyPr>
          <a:lstStyle/>
          <a:p>
            <a:r>
              <a:rPr lang="zh-TW" altLang="en-US" i="1" dirty="0">
                <a:latin typeface="Times New Roman" panose="02020603050405020304" pitchFamily="18" charset="0"/>
                <a:cs typeface="Times New Roman" panose="02020603050405020304" pitchFamily="18" charset="0"/>
              </a:rPr>
              <a:t>t</a:t>
            </a:r>
            <a:r>
              <a:rPr lang="zh-TW" altLang="en-US" dirty="0">
                <a:latin typeface="Times New Roman" panose="02020603050405020304" pitchFamily="18" charset="0"/>
                <a:cs typeface="Times New Roman" panose="02020603050405020304" pitchFamily="18" charset="0"/>
              </a:rPr>
              <a:t>-value &gt; 2.0096 and </a:t>
            </a:r>
            <a:r>
              <a:rPr lang="zh-TW" altLang="en-US" i="1" dirty="0">
                <a:latin typeface="Times New Roman" panose="02020603050405020304" pitchFamily="18" charset="0"/>
                <a:cs typeface="Times New Roman" panose="02020603050405020304" pitchFamily="18" charset="0"/>
              </a:rPr>
              <a:t>p</a:t>
            </a:r>
            <a:r>
              <a:rPr lang="zh-TW" altLang="en-US" dirty="0">
                <a:latin typeface="Times New Roman" panose="02020603050405020304" pitchFamily="18" charset="0"/>
                <a:cs typeface="Times New Roman" panose="02020603050405020304" pitchFamily="18" charset="0"/>
              </a:rPr>
              <a:t>-value &lt; 0.05 correspond to a 95% conﬁdence.</a:t>
            </a:r>
          </a:p>
        </p:txBody>
      </p:sp>
    </p:spTree>
    <p:extLst>
      <p:ext uri="{BB962C8B-B14F-4D97-AF65-F5344CB8AC3E}">
        <p14:creationId xmlns:p14="http://schemas.microsoft.com/office/powerpoint/2010/main" val="95317845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字方塊 10">
            <a:extLst>
              <a:ext uri="{FF2B5EF4-FFF2-40B4-BE49-F238E27FC236}">
                <a16:creationId xmlns:a16="http://schemas.microsoft.com/office/drawing/2014/main" id="{F7024DF5-78FF-4A3F-B7F4-E9879D39926E}"/>
              </a:ext>
            </a:extLst>
          </p:cNvPr>
          <p:cNvSpPr txBox="1"/>
          <p:nvPr/>
        </p:nvSpPr>
        <p:spPr>
          <a:xfrm>
            <a:off x="188616" y="91827"/>
            <a:ext cx="8755811" cy="707886"/>
          </a:xfrm>
          <a:prstGeom prst="rect">
            <a:avLst/>
          </a:prstGeom>
          <a:noFill/>
        </p:spPr>
        <p:txBody>
          <a:bodyPr wrap="square" rtlCol="0">
            <a:spAutoFit/>
          </a:bodyPr>
          <a:lstStyle/>
          <a:p>
            <a:r>
              <a:rPr lang="en-US" altLang="zh-TW" sz="4000" b="1" dirty="0">
                <a:latin typeface="Times New Roman" panose="02020603050405020304" pitchFamily="18" charset="0"/>
                <a:cs typeface="Times New Roman" panose="02020603050405020304" pitchFamily="18" charset="0"/>
              </a:rPr>
              <a:t>Experimental Results</a:t>
            </a:r>
            <a:endParaRPr lang="zh-TW" altLang="en-US" sz="4000" b="1" dirty="0">
              <a:latin typeface="Times New Roman" panose="02020603050405020304" pitchFamily="18" charset="0"/>
              <a:cs typeface="Times New Roman" panose="02020603050405020304" pitchFamily="18" charset="0"/>
            </a:endParaRPr>
          </a:p>
        </p:txBody>
      </p:sp>
      <p:sp>
        <p:nvSpPr>
          <p:cNvPr id="4" name="矩形 3">
            <a:extLst>
              <a:ext uri="{FF2B5EF4-FFF2-40B4-BE49-F238E27FC236}">
                <a16:creationId xmlns:a16="http://schemas.microsoft.com/office/drawing/2014/main" id="{EDF849AA-C470-472D-9D07-237105DCD10A}"/>
              </a:ext>
            </a:extLst>
          </p:cNvPr>
          <p:cNvSpPr/>
          <p:nvPr/>
        </p:nvSpPr>
        <p:spPr>
          <a:xfrm>
            <a:off x="683568" y="799713"/>
            <a:ext cx="7128792" cy="461665"/>
          </a:xfrm>
          <a:prstGeom prst="rect">
            <a:avLst/>
          </a:prstGeom>
        </p:spPr>
        <p:txBody>
          <a:bodyPr wrap="square">
            <a:spAutoFit/>
          </a:bodyPr>
          <a:lstStyle/>
          <a:p>
            <a:r>
              <a:rPr lang="en-US" altLang="zh-TW" sz="2400" b="1" dirty="0">
                <a:latin typeface="Times New Roman" panose="02020603050405020304" pitchFamily="18" charset="0"/>
                <a:cs typeface="Times New Roman" panose="02020603050405020304" pitchFamily="18" charset="0"/>
              </a:rPr>
              <a:t>Score diﬀerence(GAHS27 minus BLOSUM62):</a:t>
            </a:r>
          </a:p>
        </p:txBody>
      </p:sp>
      <p:sp>
        <p:nvSpPr>
          <p:cNvPr id="8" name="投影片編號版面配置區 3">
            <a:extLst>
              <a:ext uri="{FF2B5EF4-FFF2-40B4-BE49-F238E27FC236}">
                <a16:creationId xmlns:a16="http://schemas.microsoft.com/office/drawing/2014/main" id="{196121B8-8C83-4F9A-A1F1-F830409FB2C1}"/>
              </a:ext>
            </a:extLst>
          </p:cNvPr>
          <p:cNvSpPr>
            <a:spLocks noGrp="1"/>
          </p:cNvSpPr>
          <p:nvPr>
            <p:ph type="sldNum" sz="quarter" idx="12"/>
          </p:nvPr>
        </p:nvSpPr>
        <p:spPr>
          <a:xfrm>
            <a:off x="6553200" y="6356350"/>
            <a:ext cx="2133600" cy="365125"/>
          </a:xfrm>
        </p:spPr>
        <p:txBody>
          <a:bodyPr/>
          <a:lstStyle/>
          <a:p>
            <a:fld id="{04C04D6A-2E29-441A-A244-9F1014899F6D}" type="slidenum">
              <a:rPr lang="zh-TW" altLang="en-US" sz="1600" smtClean="0"/>
              <a:pPr/>
              <a:t>30</a:t>
            </a:fld>
            <a:endParaRPr lang="zh-TW" altLang="en-US" dirty="0"/>
          </a:p>
        </p:txBody>
      </p:sp>
      <p:pic>
        <p:nvPicPr>
          <p:cNvPr id="2" name="圖片 1">
            <a:extLst>
              <a:ext uri="{FF2B5EF4-FFF2-40B4-BE49-F238E27FC236}">
                <a16:creationId xmlns:a16="http://schemas.microsoft.com/office/drawing/2014/main" id="{593D2D02-6D7D-4BD3-BBBF-5C2C6BEA226F}"/>
              </a:ext>
            </a:extLst>
          </p:cNvPr>
          <p:cNvPicPr>
            <a:picLocks noChangeAspect="1"/>
          </p:cNvPicPr>
          <p:nvPr/>
        </p:nvPicPr>
        <p:blipFill>
          <a:blip r:embed="rId3"/>
          <a:stretch>
            <a:fillRect/>
          </a:stretch>
        </p:blipFill>
        <p:spPr>
          <a:xfrm>
            <a:off x="650085" y="1376363"/>
            <a:ext cx="7832872" cy="4926557"/>
          </a:xfrm>
          <a:prstGeom prst="rect">
            <a:avLst/>
          </a:prstGeom>
        </p:spPr>
      </p:pic>
    </p:spTree>
    <p:extLst>
      <p:ext uri="{BB962C8B-B14F-4D97-AF65-F5344CB8AC3E}">
        <p14:creationId xmlns:p14="http://schemas.microsoft.com/office/powerpoint/2010/main" val="267869843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字方塊 10">
            <a:extLst>
              <a:ext uri="{FF2B5EF4-FFF2-40B4-BE49-F238E27FC236}">
                <a16:creationId xmlns:a16="http://schemas.microsoft.com/office/drawing/2014/main" id="{F7024DF5-78FF-4A3F-B7F4-E9879D39926E}"/>
              </a:ext>
            </a:extLst>
          </p:cNvPr>
          <p:cNvSpPr txBox="1"/>
          <p:nvPr/>
        </p:nvSpPr>
        <p:spPr>
          <a:xfrm>
            <a:off x="188616" y="91827"/>
            <a:ext cx="8755811" cy="707886"/>
          </a:xfrm>
          <a:prstGeom prst="rect">
            <a:avLst/>
          </a:prstGeom>
          <a:noFill/>
        </p:spPr>
        <p:txBody>
          <a:bodyPr wrap="square" rtlCol="0">
            <a:spAutoFit/>
          </a:bodyPr>
          <a:lstStyle/>
          <a:p>
            <a:r>
              <a:rPr lang="en-US" altLang="zh-TW" sz="4000" b="1" dirty="0">
                <a:latin typeface="Times New Roman" panose="02020603050405020304" pitchFamily="18" charset="0"/>
                <a:cs typeface="Times New Roman" panose="02020603050405020304" pitchFamily="18" charset="0"/>
              </a:rPr>
              <a:t>Experimental Results</a:t>
            </a:r>
            <a:endParaRPr lang="zh-TW" altLang="en-US" sz="4000" b="1" dirty="0">
              <a:latin typeface="Times New Roman" panose="02020603050405020304" pitchFamily="18" charset="0"/>
              <a:cs typeface="Times New Roman" panose="02020603050405020304" pitchFamily="18" charset="0"/>
            </a:endParaRPr>
          </a:p>
        </p:txBody>
      </p:sp>
      <p:sp>
        <p:nvSpPr>
          <p:cNvPr id="8" name="投影片編號版面配置區 3">
            <a:extLst>
              <a:ext uri="{FF2B5EF4-FFF2-40B4-BE49-F238E27FC236}">
                <a16:creationId xmlns:a16="http://schemas.microsoft.com/office/drawing/2014/main" id="{196121B8-8C83-4F9A-A1F1-F830409FB2C1}"/>
              </a:ext>
            </a:extLst>
          </p:cNvPr>
          <p:cNvSpPr>
            <a:spLocks noGrp="1"/>
          </p:cNvSpPr>
          <p:nvPr>
            <p:ph type="sldNum" sz="quarter" idx="12"/>
          </p:nvPr>
        </p:nvSpPr>
        <p:spPr>
          <a:xfrm>
            <a:off x="6553200" y="6356350"/>
            <a:ext cx="2133600" cy="365125"/>
          </a:xfrm>
        </p:spPr>
        <p:txBody>
          <a:bodyPr/>
          <a:lstStyle/>
          <a:p>
            <a:fld id="{04C04D6A-2E29-441A-A244-9F1014899F6D}" type="slidenum">
              <a:rPr lang="zh-TW" altLang="en-US" sz="1600" smtClean="0"/>
              <a:pPr/>
              <a:t>31</a:t>
            </a:fld>
            <a:endParaRPr lang="zh-TW" altLang="en-US" dirty="0"/>
          </a:p>
        </p:txBody>
      </p:sp>
      <p:sp>
        <p:nvSpPr>
          <p:cNvPr id="3" name="矩形 2">
            <a:extLst>
              <a:ext uri="{FF2B5EF4-FFF2-40B4-BE49-F238E27FC236}">
                <a16:creationId xmlns:a16="http://schemas.microsoft.com/office/drawing/2014/main" id="{493636E1-7582-434E-B740-A60C47804232}"/>
              </a:ext>
            </a:extLst>
          </p:cNvPr>
          <p:cNvSpPr/>
          <p:nvPr/>
        </p:nvSpPr>
        <p:spPr>
          <a:xfrm>
            <a:off x="683568" y="799713"/>
            <a:ext cx="7128792" cy="461665"/>
          </a:xfrm>
          <a:prstGeom prst="rect">
            <a:avLst/>
          </a:prstGeom>
        </p:spPr>
        <p:txBody>
          <a:bodyPr wrap="square">
            <a:spAutoFit/>
          </a:bodyPr>
          <a:lstStyle/>
          <a:p>
            <a:r>
              <a:rPr lang="en-US" altLang="zh-TW" sz="2400" b="1" dirty="0">
                <a:latin typeface="Times New Roman" panose="02020603050405020304" pitchFamily="18" charset="0"/>
                <a:cs typeface="Times New Roman" panose="02020603050405020304" pitchFamily="18" charset="0"/>
              </a:rPr>
              <a:t>Score diﬀerence(GAHS27 minus PAM250):</a:t>
            </a:r>
          </a:p>
        </p:txBody>
      </p:sp>
      <p:pic>
        <p:nvPicPr>
          <p:cNvPr id="6" name="圖片 5">
            <a:extLst>
              <a:ext uri="{FF2B5EF4-FFF2-40B4-BE49-F238E27FC236}">
                <a16:creationId xmlns:a16="http://schemas.microsoft.com/office/drawing/2014/main" id="{3A341517-8A31-49F1-B85E-C46BA6238D37}"/>
              </a:ext>
            </a:extLst>
          </p:cNvPr>
          <p:cNvPicPr>
            <a:picLocks noChangeAspect="1"/>
          </p:cNvPicPr>
          <p:nvPr/>
        </p:nvPicPr>
        <p:blipFill>
          <a:blip r:embed="rId3"/>
          <a:stretch>
            <a:fillRect/>
          </a:stretch>
        </p:blipFill>
        <p:spPr>
          <a:xfrm>
            <a:off x="827585" y="1430038"/>
            <a:ext cx="7560828" cy="4628249"/>
          </a:xfrm>
          <a:prstGeom prst="rect">
            <a:avLst/>
          </a:prstGeom>
        </p:spPr>
      </p:pic>
    </p:spTree>
    <p:extLst>
      <p:ext uri="{BB962C8B-B14F-4D97-AF65-F5344CB8AC3E}">
        <p14:creationId xmlns:p14="http://schemas.microsoft.com/office/powerpoint/2010/main" val="194884736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字方塊 10">
            <a:extLst>
              <a:ext uri="{FF2B5EF4-FFF2-40B4-BE49-F238E27FC236}">
                <a16:creationId xmlns:a16="http://schemas.microsoft.com/office/drawing/2014/main" id="{F7024DF5-78FF-4A3F-B7F4-E9879D39926E}"/>
              </a:ext>
            </a:extLst>
          </p:cNvPr>
          <p:cNvSpPr txBox="1"/>
          <p:nvPr/>
        </p:nvSpPr>
        <p:spPr>
          <a:xfrm>
            <a:off x="188616" y="91827"/>
            <a:ext cx="8755811" cy="707886"/>
          </a:xfrm>
          <a:prstGeom prst="rect">
            <a:avLst/>
          </a:prstGeom>
          <a:noFill/>
        </p:spPr>
        <p:txBody>
          <a:bodyPr wrap="square" rtlCol="0">
            <a:spAutoFit/>
          </a:bodyPr>
          <a:lstStyle/>
          <a:p>
            <a:r>
              <a:rPr lang="en-US" altLang="zh-TW" sz="4000" b="1" dirty="0">
                <a:latin typeface="Times New Roman" panose="02020603050405020304" pitchFamily="18" charset="0"/>
                <a:cs typeface="Times New Roman" panose="02020603050405020304" pitchFamily="18" charset="0"/>
              </a:rPr>
              <a:t>Experimental Results</a:t>
            </a:r>
            <a:endParaRPr lang="zh-TW" altLang="en-US" sz="4000" b="1" dirty="0">
              <a:latin typeface="Times New Roman" panose="02020603050405020304" pitchFamily="18" charset="0"/>
              <a:cs typeface="Times New Roman" panose="02020603050405020304" pitchFamily="18" charset="0"/>
            </a:endParaRPr>
          </a:p>
        </p:txBody>
      </p:sp>
      <p:sp>
        <p:nvSpPr>
          <p:cNvPr id="8" name="投影片編號版面配置區 3">
            <a:extLst>
              <a:ext uri="{FF2B5EF4-FFF2-40B4-BE49-F238E27FC236}">
                <a16:creationId xmlns:a16="http://schemas.microsoft.com/office/drawing/2014/main" id="{196121B8-8C83-4F9A-A1F1-F830409FB2C1}"/>
              </a:ext>
            </a:extLst>
          </p:cNvPr>
          <p:cNvSpPr>
            <a:spLocks noGrp="1"/>
          </p:cNvSpPr>
          <p:nvPr>
            <p:ph type="sldNum" sz="quarter" idx="12"/>
          </p:nvPr>
        </p:nvSpPr>
        <p:spPr>
          <a:xfrm>
            <a:off x="6553200" y="6356350"/>
            <a:ext cx="2133600" cy="365125"/>
          </a:xfrm>
        </p:spPr>
        <p:txBody>
          <a:bodyPr/>
          <a:lstStyle/>
          <a:p>
            <a:fld id="{04C04D6A-2E29-441A-A244-9F1014899F6D}" type="slidenum">
              <a:rPr lang="zh-TW" altLang="en-US" sz="1600" smtClean="0"/>
              <a:pPr/>
              <a:t>32</a:t>
            </a:fld>
            <a:endParaRPr lang="zh-TW" altLang="en-US" dirty="0"/>
          </a:p>
        </p:txBody>
      </p:sp>
      <p:sp>
        <p:nvSpPr>
          <p:cNvPr id="2" name="矩形 1">
            <a:extLst>
              <a:ext uri="{FF2B5EF4-FFF2-40B4-BE49-F238E27FC236}">
                <a16:creationId xmlns:a16="http://schemas.microsoft.com/office/drawing/2014/main" id="{E54FD29E-2B5B-4A48-9909-F212B7FFC871}"/>
              </a:ext>
            </a:extLst>
          </p:cNvPr>
          <p:cNvSpPr/>
          <p:nvPr/>
        </p:nvSpPr>
        <p:spPr>
          <a:xfrm>
            <a:off x="683568" y="799713"/>
            <a:ext cx="7128792" cy="461665"/>
          </a:xfrm>
          <a:prstGeom prst="rect">
            <a:avLst/>
          </a:prstGeom>
        </p:spPr>
        <p:txBody>
          <a:bodyPr wrap="square">
            <a:spAutoFit/>
          </a:bodyPr>
          <a:lstStyle/>
          <a:p>
            <a:r>
              <a:rPr lang="en-US" altLang="zh-TW" sz="2400" b="1" dirty="0">
                <a:latin typeface="Times New Roman" panose="02020603050405020304" pitchFamily="18" charset="0"/>
                <a:cs typeface="Times New Roman" panose="02020603050405020304" pitchFamily="18" charset="0"/>
              </a:rPr>
              <a:t>Score diﬀerence(GAHS27 minus EDSSMAT62):</a:t>
            </a:r>
          </a:p>
        </p:txBody>
      </p:sp>
      <p:pic>
        <p:nvPicPr>
          <p:cNvPr id="3" name="圖片 2">
            <a:extLst>
              <a:ext uri="{FF2B5EF4-FFF2-40B4-BE49-F238E27FC236}">
                <a16:creationId xmlns:a16="http://schemas.microsoft.com/office/drawing/2014/main" id="{1A0ABAB8-BEBF-4B82-AFD2-6084A9099802}"/>
              </a:ext>
            </a:extLst>
          </p:cNvPr>
          <p:cNvPicPr>
            <a:picLocks noChangeAspect="1"/>
          </p:cNvPicPr>
          <p:nvPr/>
        </p:nvPicPr>
        <p:blipFill>
          <a:blip r:embed="rId3"/>
          <a:stretch>
            <a:fillRect/>
          </a:stretch>
        </p:blipFill>
        <p:spPr>
          <a:xfrm>
            <a:off x="788162" y="1412776"/>
            <a:ext cx="7567676" cy="4750941"/>
          </a:xfrm>
          <a:prstGeom prst="rect">
            <a:avLst/>
          </a:prstGeom>
        </p:spPr>
      </p:pic>
    </p:spTree>
    <p:extLst>
      <p:ext uri="{BB962C8B-B14F-4D97-AF65-F5344CB8AC3E}">
        <p14:creationId xmlns:p14="http://schemas.microsoft.com/office/powerpoint/2010/main" val="360849285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字方塊 10">
            <a:extLst>
              <a:ext uri="{FF2B5EF4-FFF2-40B4-BE49-F238E27FC236}">
                <a16:creationId xmlns:a16="http://schemas.microsoft.com/office/drawing/2014/main" id="{F7024DF5-78FF-4A3F-B7F4-E9879D39926E}"/>
              </a:ext>
            </a:extLst>
          </p:cNvPr>
          <p:cNvSpPr txBox="1"/>
          <p:nvPr/>
        </p:nvSpPr>
        <p:spPr>
          <a:xfrm>
            <a:off x="188616" y="91827"/>
            <a:ext cx="8755811" cy="707886"/>
          </a:xfrm>
          <a:prstGeom prst="rect">
            <a:avLst/>
          </a:prstGeom>
          <a:noFill/>
        </p:spPr>
        <p:txBody>
          <a:bodyPr wrap="square" rtlCol="0">
            <a:spAutoFit/>
          </a:bodyPr>
          <a:lstStyle/>
          <a:p>
            <a:r>
              <a:rPr lang="en-US" altLang="zh-TW" sz="4000" b="1" dirty="0">
                <a:latin typeface="Times New Roman" panose="02020603050405020304" pitchFamily="18" charset="0"/>
                <a:cs typeface="Times New Roman" panose="02020603050405020304" pitchFamily="18" charset="0"/>
              </a:rPr>
              <a:t>Experimental Results</a:t>
            </a:r>
            <a:endParaRPr lang="zh-TW" altLang="en-US" sz="4000" b="1" dirty="0">
              <a:latin typeface="Times New Roman" panose="02020603050405020304" pitchFamily="18" charset="0"/>
              <a:cs typeface="Times New Roman" panose="02020603050405020304" pitchFamily="18" charset="0"/>
            </a:endParaRPr>
          </a:p>
        </p:txBody>
      </p:sp>
      <p:sp>
        <p:nvSpPr>
          <p:cNvPr id="8" name="投影片編號版面配置區 3">
            <a:extLst>
              <a:ext uri="{FF2B5EF4-FFF2-40B4-BE49-F238E27FC236}">
                <a16:creationId xmlns:a16="http://schemas.microsoft.com/office/drawing/2014/main" id="{196121B8-8C83-4F9A-A1F1-F830409FB2C1}"/>
              </a:ext>
            </a:extLst>
          </p:cNvPr>
          <p:cNvSpPr>
            <a:spLocks noGrp="1"/>
          </p:cNvSpPr>
          <p:nvPr>
            <p:ph type="sldNum" sz="quarter" idx="12"/>
          </p:nvPr>
        </p:nvSpPr>
        <p:spPr>
          <a:xfrm>
            <a:off x="6553200" y="6356350"/>
            <a:ext cx="2133600" cy="365125"/>
          </a:xfrm>
        </p:spPr>
        <p:txBody>
          <a:bodyPr/>
          <a:lstStyle/>
          <a:p>
            <a:fld id="{04C04D6A-2E29-441A-A244-9F1014899F6D}" type="slidenum">
              <a:rPr lang="zh-TW" altLang="en-US" sz="1600" smtClean="0"/>
              <a:pPr/>
              <a:t>33</a:t>
            </a:fld>
            <a:endParaRPr lang="zh-TW" altLang="en-US" dirty="0"/>
          </a:p>
        </p:txBody>
      </p:sp>
      <mc:AlternateContent xmlns:mc="http://schemas.openxmlformats.org/markup-compatibility/2006" xmlns:a14="http://schemas.microsoft.com/office/drawing/2010/main">
        <mc:Choice Requires="a14">
          <p:graphicFrame>
            <p:nvGraphicFramePr>
              <p:cNvPr id="2" name="表格 1">
                <a:extLst>
                  <a:ext uri="{FF2B5EF4-FFF2-40B4-BE49-F238E27FC236}">
                    <a16:creationId xmlns:a16="http://schemas.microsoft.com/office/drawing/2014/main" id="{C4059E80-F570-44D1-B588-4719D5A2C4E4}"/>
                  </a:ext>
                </a:extLst>
              </p:cNvPr>
              <p:cNvGraphicFramePr>
                <a:graphicFrameLocks noGrp="1"/>
              </p:cNvGraphicFramePr>
              <p:nvPr>
                <p:extLst>
                  <p:ext uri="{D42A27DB-BD31-4B8C-83A1-F6EECF244321}">
                    <p14:modId xmlns:p14="http://schemas.microsoft.com/office/powerpoint/2010/main" val="2668904289"/>
                  </p:ext>
                </p:extLst>
              </p:nvPr>
            </p:nvGraphicFramePr>
            <p:xfrm>
              <a:off x="402048" y="1849284"/>
              <a:ext cx="8382582" cy="3840480"/>
            </p:xfrm>
            <a:graphic>
              <a:graphicData uri="http://schemas.openxmlformats.org/drawingml/2006/table">
                <a:tbl>
                  <a:tblPr firstRow="1" bandRow="1">
                    <a:tableStyleId>{5940675A-B579-460E-94D1-54222C63F5DA}</a:tableStyleId>
                  </a:tblPr>
                  <a:tblGrid>
                    <a:gridCol w="1397097">
                      <a:extLst>
                        <a:ext uri="{9D8B030D-6E8A-4147-A177-3AD203B41FA5}">
                          <a16:colId xmlns:a16="http://schemas.microsoft.com/office/drawing/2014/main" val="20000"/>
                        </a:ext>
                      </a:extLst>
                    </a:gridCol>
                    <a:gridCol w="1397097">
                      <a:extLst>
                        <a:ext uri="{9D8B030D-6E8A-4147-A177-3AD203B41FA5}">
                          <a16:colId xmlns:a16="http://schemas.microsoft.com/office/drawing/2014/main" val="20001"/>
                        </a:ext>
                      </a:extLst>
                    </a:gridCol>
                    <a:gridCol w="1397097">
                      <a:extLst>
                        <a:ext uri="{9D8B030D-6E8A-4147-A177-3AD203B41FA5}">
                          <a16:colId xmlns:a16="http://schemas.microsoft.com/office/drawing/2014/main" val="176215867"/>
                        </a:ext>
                      </a:extLst>
                    </a:gridCol>
                    <a:gridCol w="1490829">
                      <a:extLst>
                        <a:ext uri="{9D8B030D-6E8A-4147-A177-3AD203B41FA5}">
                          <a16:colId xmlns:a16="http://schemas.microsoft.com/office/drawing/2014/main" val="324101211"/>
                        </a:ext>
                      </a:extLst>
                    </a:gridCol>
                    <a:gridCol w="1296144">
                      <a:extLst>
                        <a:ext uri="{9D8B030D-6E8A-4147-A177-3AD203B41FA5}">
                          <a16:colId xmlns:a16="http://schemas.microsoft.com/office/drawing/2014/main" val="165982674"/>
                        </a:ext>
                      </a:extLst>
                    </a:gridCol>
                    <a:gridCol w="1404318">
                      <a:extLst>
                        <a:ext uri="{9D8B030D-6E8A-4147-A177-3AD203B41FA5}">
                          <a16:colId xmlns:a16="http://schemas.microsoft.com/office/drawing/2014/main" val="2636327347"/>
                        </a:ext>
                      </a:extLst>
                    </a:gridCol>
                  </a:tblGrid>
                  <a:tr h="0">
                    <a:tc rowSpan="2">
                      <a:txBody>
                        <a:bodyPr/>
                        <a:lstStyle/>
                        <a:p>
                          <a:pPr algn="ctr"/>
                          <a:r>
                            <a:rPr lang="en-US" altLang="zh-TW" sz="2000" b="1" dirty="0">
                              <a:latin typeface="Times New Roman" panose="02020603050405020304" pitchFamily="18" charset="0"/>
                              <a:ea typeface="+mn-ea"/>
                              <a:cs typeface="Times New Roman" panose="02020603050405020304" pitchFamily="18" charset="0"/>
                            </a:rPr>
                            <a:t>Amino acid</a:t>
                          </a:r>
                        </a:p>
                        <a:p>
                          <a:pPr algn="ctr"/>
                          <a:r>
                            <a:rPr lang="en-US" altLang="zh-TW" sz="2000" b="1" dirty="0">
                              <a:latin typeface="Times New Roman" panose="02020603050405020304" pitchFamily="18" charset="0"/>
                              <a:ea typeface="+mn-ea"/>
                              <a:cs typeface="Times New Roman" panose="02020603050405020304" pitchFamily="18" charset="0"/>
                            </a:rPr>
                            <a:t>symbols</a:t>
                          </a:r>
                          <a:endParaRPr lang="zh-TW" altLang="en-US" sz="20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solidFill>
                          <a:schemeClr val="accent2">
                            <a:lumMod val="20000"/>
                            <a:lumOff val="80000"/>
                          </a:schemeClr>
                        </a:solidFill>
                      </a:tcPr>
                    </a:tc>
                    <a:tc gridSpan="3">
                      <a:txBody>
                        <a:bodyPr/>
                        <a:lstStyle/>
                        <a:p>
                          <a:pPr algn="ctr"/>
                          <a:r>
                            <a:rPr lang="en-US" altLang="zh-TW" sz="1800" b="1" dirty="0">
                              <a:latin typeface="Times New Roman" panose="02020603050405020304" pitchFamily="18" charset="0"/>
                              <a:cs typeface="Times New Roman" panose="02020603050405020304" pitchFamily="18" charset="0"/>
                            </a:rPr>
                            <a:t>Average differences </a:t>
                          </a:r>
                          <a:endParaRPr lang="zh-TW" altLang="en-US" sz="1800" b="0"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hMerge="1">
                      <a:txBody>
                        <a:bodyPr/>
                        <a:lstStyle/>
                        <a:p>
                          <a:pPr algn="ctr"/>
                          <a:endParaRPr lang="en-US" altLang="zh-TW" sz="1800" b="0" dirty="0">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hMerge="1">
                      <a:txBody>
                        <a:bodyPr/>
                        <a:lstStyle/>
                        <a:p>
                          <a:pPr algn="ctr"/>
                          <a:endParaRPr lang="zh-TW" altLang="en-US" sz="1800" b="0"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gridSpan="2">
                      <a:txBody>
                        <a:bodyPr/>
                        <a:lstStyle/>
                        <a:p>
                          <a:pPr algn="ctr"/>
                          <a:r>
                            <a:rPr lang="en-US" altLang="zh-TW" sz="1800" b="1" dirty="0">
                              <a:latin typeface="Times New Roman" panose="02020603050405020304" pitchFamily="18" charset="0"/>
                              <a:cs typeface="Times New Roman" panose="02020603050405020304" pitchFamily="18" charset="0"/>
                            </a:rPr>
                            <a:t>Average</a:t>
                          </a:r>
                          <a:r>
                            <a:rPr lang="zh-TW" altLang="en-US" sz="1800" b="1" dirty="0">
                              <a:latin typeface="Times New Roman" panose="02020603050405020304" pitchFamily="18" charset="0"/>
                              <a:cs typeface="Times New Roman" panose="02020603050405020304" pitchFamily="18" charset="0"/>
                            </a:rPr>
                            <a:t> </a:t>
                          </a:r>
                          <a:r>
                            <a:rPr lang="en-US" altLang="zh-TW" sz="1800" b="1" dirty="0">
                              <a:latin typeface="Times New Roman" panose="02020603050405020304" pitchFamily="18" charset="0"/>
                              <a:cs typeface="Times New Roman" panose="02020603050405020304" pitchFamily="18" charset="0"/>
                            </a:rPr>
                            <a:t>scores</a:t>
                          </a:r>
                          <a:endParaRPr lang="zh-TW" altLang="en-US" sz="1800" b="0"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0" dirty="0">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655206988"/>
                      </a:ext>
                    </a:extLst>
                  </a:tr>
                  <a:tr h="0">
                    <a:tc vMerge="1">
                      <a:txBody>
                        <a:bodyPr/>
                        <a:lstStyle/>
                        <a:p>
                          <a:pPr algn="ctr"/>
                          <a:endParaRPr lang="zh-TW" altLang="en-US" sz="20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solidFill>
                          <a:schemeClr val="accent2">
                            <a:lumMod val="20000"/>
                            <a:lumOff val="80000"/>
                          </a:schemeClr>
                        </a:solidFill>
                      </a:tcPr>
                    </a:tc>
                    <a:tc>
                      <a:txBody>
                        <a:bodyPr/>
                        <a:lstStyle/>
                        <a:p>
                          <a:pPr algn="ctr"/>
                          <a:r>
                            <a:rPr lang="en-US" altLang="zh-TW" sz="1800" b="0" dirty="0">
                              <a:latin typeface="Times New Roman" panose="02020603050405020304" pitchFamily="18" charset="0"/>
                              <a:ea typeface="+mn-ea"/>
                              <a:cs typeface="Times New Roman" panose="02020603050405020304" pitchFamily="18" charset="0"/>
                            </a:rPr>
                            <a:t>GAHS27 VS BLOSUM62 </a:t>
                          </a:r>
                          <a:endParaRPr lang="zh-TW" altLang="en-US" sz="1800" b="0"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altLang="zh-TW" sz="1800" b="0" dirty="0">
                              <a:latin typeface="Times New Roman" panose="02020603050405020304" pitchFamily="18" charset="0"/>
                              <a:ea typeface="+mn-ea"/>
                              <a:cs typeface="Times New Roman" panose="02020603050405020304" pitchFamily="18" charset="0"/>
                            </a:rPr>
                            <a:t>GAHS27 VS PAM250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altLang="zh-TW" sz="1800" b="0" dirty="0">
                              <a:latin typeface="Times New Roman" panose="02020603050405020304" pitchFamily="18" charset="0"/>
                              <a:ea typeface="+mn-ea"/>
                              <a:cs typeface="Times New Roman" panose="02020603050405020304" pitchFamily="18" charset="0"/>
                            </a:rPr>
                            <a:t>GAHS27 VS EDSSMAT62</a:t>
                          </a:r>
                          <a:endParaRPr lang="zh-TW" altLang="en-US" sz="1800" b="0"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altLang="zh-TW" sz="1800" b="0" dirty="0">
                              <a:latin typeface="Times New Roman" panose="02020603050405020304" pitchFamily="18" charset="0"/>
                              <a:ea typeface="新細明體" panose="02020500000000000000" pitchFamily="18" charset="-120"/>
                              <a:cs typeface="Times New Roman" panose="02020603050405020304" pitchFamily="18" charset="0"/>
                            </a:rPr>
                            <a:t>EDSSMAT62</a:t>
                          </a:r>
                          <a:endParaRPr lang="zh-TW" altLang="en-US" sz="1800" b="0"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000" b="0" dirty="0">
                              <a:latin typeface="Times New Roman" panose="02020603050405020304" pitchFamily="18" charset="0"/>
                              <a:ea typeface="+mn-ea"/>
                              <a:cs typeface="Times New Roman" panose="02020603050405020304" pitchFamily="18" charset="0"/>
                            </a:rPr>
                            <a:t>GAHS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000" b="0" dirty="0">
                              <a:latin typeface="Times New Roman" panose="02020603050405020304" pitchFamily="18" charset="0"/>
                              <a:ea typeface="+mn-ea"/>
                              <a:cs typeface="Times New Roman" panose="02020603050405020304" pitchFamily="18" charset="0"/>
                            </a:rPr>
                            <a:t>27</a:t>
                          </a:r>
                          <a:endParaRPr lang="zh-TW" altLang="en-US" sz="2000" b="0" dirty="0">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0"/>
                      </a:ext>
                    </a:extLst>
                  </a:tr>
                  <a:tr h="0">
                    <a:tc>
                      <a:txBody>
                        <a:bodyPr/>
                        <a:lstStyle/>
                        <a:p>
                          <a:pPr algn="ctr"/>
                          <a:r>
                            <a:rPr lang="en-US" altLang="zh-TW" sz="2000" b="1" dirty="0">
                              <a:latin typeface="Courier"/>
                              <a:ea typeface="+mn-ea"/>
                              <a:cs typeface="Times New Roman" panose="02020603050405020304" pitchFamily="18" charset="0"/>
                            </a:rPr>
                            <a:t>A</a:t>
                          </a:r>
                          <a:endParaRPr lang="zh-TW" altLang="en-US" sz="2000" b="1" dirty="0">
                            <a:latin typeface="Courier"/>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0.6</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0.4</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1.0</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−1.3</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1.7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−0.3</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algn="ctr"/>
                          <a:r>
                            <a:rPr lang="en-US" altLang="zh-TW" sz="2000" b="1" dirty="0">
                              <a:latin typeface="Courier"/>
                              <a:cs typeface="Times New Roman" panose="02020603050405020304" pitchFamily="18" charset="0"/>
                            </a:rPr>
                            <a:t>G</a:t>
                          </a:r>
                          <a:endParaRPr lang="zh-TW" altLang="en-US" sz="2000" b="1" dirty="0">
                            <a:latin typeface="Courier"/>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atin typeface="Times New Roman" panose="02020603050405020304" pitchFamily="18" charset="0"/>
                              <a:cs typeface="Times New Roman" panose="02020603050405020304" pitchFamily="18" charset="0"/>
                            </a:rPr>
                            <a:t>0.6</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atin typeface="Times New Roman" panose="02020603050405020304" pitchFamily="18" charset="0"/>
                              <a:cs typeface="Times New Roman" panose="02020603050405020304" pitchFamily="18" charset="0"/>
                            </a:rPr>
                            <a:t>1.6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atin typeface="Times New Roman" panose="02020603050405020304" pitchFamily="18" charset="0"/>
                              <a:cs typeface="Times New Roman" panose="02020603050405020304" pitchFamily="18" charset="0"/>
                            </a:rPr>
                            <a:t>0.3</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atin typeface="Times New Roman" panose="02020603050405020304" pitchFamily="18" charset="0"/>
                              <a:cs typeface="Times New Roman" panose="02020603050405020304" pitchFamily="18" charset="0"/>
                            </a:rPr>
                            <a:t>2.4</a:t>
                          </a:r>
                          <a:endPar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0.7</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−1.8</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1.9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−1.1</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6564253"/>
                      </a:ext>
                    </a:extLst>
                  </a:tr>
                  <a:tr h="0">
                    <a:tc>
                      <a:txBody>
                        <a:bodyPr/>
                        <a:lstStyle/>
                        <a:p>
                          <a:pPr algn="ctr"/>
                          <a:r>
                            <a:rPr lang="en-US" altLang="zh-TW" sz="2000" b="1" dirty="0">
                              <a:latin typeface="Courier"/>
                              <a:cs typeface="Times New Roman" panose="02020603050405020304" pitchFamily="18" charset="0"/>
                            </a:rPr>
                            <a:t>Q</a:t>
                          </a:r>
                          <a:endParaRPr lang="zh-TW" altLang="en-US" sz="2000" b="1" dirty="0">
                            <a:latin typeface="Courier"/>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−0.4</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−0.3</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0.1</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−1.0</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−0.9</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29913141"/>
                      </a:ext>
                    </a:extLst>
                  </a:tr>
                  <a:tr h="0">
                    <a:tc>
                      <a:txBody>
                        <a:bodyPr/>
                        <a:lstStyle/>
                        <a:p>
                          <a:pPr algn="ctr"/>
                          <a:r>
                            <a:rPr lang="en-US" altLang="zh-TW" sz="2000" b="1" dirty="0">
                              <a:latin typeface="Courier"/>
                              <a:cs typeface="Times New Roman" panose="02020603050405020304" pitchFamily="18" charset="0"/>
                            </a:rPr>
                            <a:t>S</a:t>
                          </a:r>
                          <a:endParaRPr lang="zh-TW" altLang="en-US" sz="2000" b="1" dirty="0">
                            <a:latin typeface="Courier"/>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−0.2</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1.3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−0.3</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0.7</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−1.3</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1.5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−0.7</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5458619"/>
                      </a:ext>
                    </a:extLst>
                  </a:tr>
                  <a:tr h="0">
                    <a:tc>
                      <a:txBody>
                        <a:bodyPr/>
                        <a:lstStyle/>
                        <a:p>
                          <a:pPr algn="ctr"/>
                          <a:r>
                            <a:rPr lang="en-US" altLang="zh-TW" sz="2000" b="1" dirty="0">
                              <a:latin typeface="Courier"/>
                              <a:cs typeface="Times New Roman" panose="02020603050405020304" pitchFamily="18" charset="0"/>
                            </a:rPr>
                            <a:t>P</a:t>
                          </a:r>
                          <a:endParaRPr lang="zh-TW" altLang="en-US" sz="2000" b="1" dirty="0">
                            <a:latin typeface="Courier"/>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0.7</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0.1</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2.6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1.2</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−2.1</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−1.0</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518905"/>
                      </a:ext>
                    </a:extLst>
                  </a:tr>
                  <a:tr h="0">
                    <a:tc>
                      <a:txBody>
                        <a:bodyPr/>
                        <a:lstStyle/>
                        <a:p>
                          <a:pPr algn="ctr"/>
                          <a:r>
                            <a:rPr lang="en-US" altLang="zh-TW" sz="2000" b="1" dirty="0">
                              <a:latin typeface="Courier"/>
                              <a:cs typeface="Times New Roman" panose="02020603050405020304" pitchFamily="18" charset="0"/>
                            </a:rPr>
                            <a:t>E</a:t>
                          </a:r>
                          <a:endParaRPr lang="zh-TW" altLang="en-US" sz="2000" b="1" dirty="0">
                            <a:latin typeface="Courier"/>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−0.5</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−0.3</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0.8</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−1.9</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−1.0</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71890145"/>
                      </a:ext>
                    </a:extLst>
                  </a:tr>
                  <a:tr h="0">
                    <a:tc>
                      <a:txBody>
                        <a:bodyPr/>
                        <a:lstStyle/>
                        <a:p>
                          <a:pPr algn="ctr"/>
                          <a:r>
                            <a:rPr lang="en-US" altLang="zh-TW" sz="2000" b="1" dirty="0">
                              <a:latin typeface="Courier"/>
                              <a:cs typeface="Times New Roman" panose="02020603050405020304" pitchFamily="18" charset="0"/>
                            </a:rPr>
                            <a:t>K</a:t>
                          </a:r>
                          <a:endParaRPr lang="zh-TW" altLang="en-US" sz="2000" b="1" dirty="0">
                            <a:latin typeface="Courier"/>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−0.2</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1.4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−0.1</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1.7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1.0</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−1.9</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−0.9</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8558697"/>
                      </a:ext>
                    </a:extLst>
                  </a:tr>
                </a:tbl>
              </a:graphicData>
            </a:graphic>
          </p:graphicFrame>
        </mc:Choice>
        <mc:Fallback xmlns="">
          <p:graphicFrame>
            <p:nvGraphicFramePr>
              <p:cNvPr id="2" name="表格 1">
                <a:extLst>
                  <a:ext uri="{FF2B5EF4-FFF2-40B4-BE49-F238E27FC236}">
                    <a16:creationId xmlns:a16="http://schemas.microsoft.com/office/drawing/2014/main" id="{C4059E80-F570-44D1-B588-4719D5A2C4E4}"/>
                  </a:ext>
                </a:extLst>
              </p:cNvPr>
              <p:cNvGraphicFramePr>
                <a:graphicFrameLocks noGrp="1"/>
              </p:cNvGraphicFramePr>
              <p:nvPr>
                <p:extLst>
                  <p:ext uri="{D42A27DB-BD31-4B8C-83A1-F6EECF244321}">
                    <p14:modId xmlns:p14="http://schemas.microsoft.com/office/powerpoint/2010/main" val="2668904289"/>
                  </p:ext>
                </p:extLst>
              </p:nvPr>
            </p:nvGraphicFramePr>
            <p:xfrm>
              <a:off x="402048" y="1849284"/>
              <a:ext cx="8382582" cy="3840480"/>
            </p:xfrm>
            <a:graphic>
              <a:graphicData uri="http://schemas.openxmlformats.org/drawingml/2006/table">
                <a:tbl>
                  <a:tblPr firstRow="1" bandRow="1">
                    <a:tableStyleId>{5940675A-B579-460E-94D1-54222C63F5DA}</a:tableStyleId>
                  </a:tblPr>
                  <a:tblGrid>
                    <a:gridCol w="1397097">
                      <a:extLst>
                        <a:ext uri="{9D8B030D-6E8A-4147-A177-3AD203B41FA5}">
                          <a16:colId xmlns:a16="http://schemas.microsoft.com/office/drawing/2014/main" val="20000"/>
                        </a:ext>
                      </a:extLst>
                    </a:gridCol>
                    <a:gridCol w="1397097">
                      <a:extLst>
                        <a:ext uri="{9D8B030D-6E8A-4147-A177-3AD203B41FA5}">
                          <a16:colId xmlns:a16="http://schemas.microsoft.com/office/drawing/2014/main" val="20001"/>
                        </a:ext>
                      </a:extLst>
                    </a:gridCol>
                    <a:gridCol w="1397097">
                      <a:extLst>
                        <a:ext uri="{9D8B030D-6E8A-4147-A177-3AD203B41FA5}">
                          <a16:colId xmlns:a16="http://schemas.microsoft.com/office/drawing/2014/main" val="176215867"/>
                        </a:ext>
                      </a:extLst>
                    </a:gridCol>
                    <a:gridCol w="1490829">
                      <a:extLst>
                        <a:ext uri="{9D8B030D-6E8A-4147-A177-3AD203B41FA5}">
                          <a16:colId xmlns:a16="http://schemas.microsoft.com/office/drawing/2014/main" val="324101211"/>
                        </a:ext>
                      </a:extLst>
                    </a:gridCol>
                    <a:gridCol w="1296144">
                      <a:extLst>
                        <a:ext uri="{9D8B030D-6E8A-4147-A177-3AD203B41FA5}">
                          <a16:colId xmlns:a16="http://schemas.microsoft.com/office/drawing/2014/main" val="165982674"/>
                        </a:ext>
                      </a:extLst>
                    </a:gridCol>
                    <a:gridCol w="1404318">
                      <a:extLst>
                        <a:ext uri="{9D8B030D-6E8A-4147-A177-3AD203B41FA5}">
                          <a16:colId xmlns:a16="http://schemas.microsoft.com/office/drawing/2014/main" val="2636327347"/>
                        </a:ext>
                      </a:extLst>
                    </a:gridCol>
                  </a:tblGrid>
                  <a:tr h="365760">
                    <a:tc rowSpan="2">
                      <a:txBody>
                        <a:bodyPr/>
                        <a:lstStyle/>
                        <a:p>
                          <a:pPr algn="ctr"/>
                          <a:r>
                            <a:rPr lang="en-US" altLang="zh-TW" sz="2000" b="1" dirty="0">
                              <a:latin typeface="Times New Roman" panose="02020603050405020304" pitchFamily="18" charset="0"/>
                              <a:ea typeface="+mn-ea"/>
                              <a:cs typeface="Times New Roman" panose="02020603050405020304" pitchFamily="18" charset="0"/>
                            </a:rPr>
                            <a:t>Amino acid</a:t>
                          </a:r>
                        </a:p>
                        <a:p>
                          <a:pPr algn="ctr"/>
                          <a:r>
                            <a:rPr lang="en-US" altLang="zh-TW" sz="2000" b="1" dirty="0">
                              <a:latin typeface="Times New Roman" panose="02020603050405020304" pitchFamily="18" charset="0"/>
                              <a:ea typeface="+mn-ea"/>
                              <a:cs typeface="Times New Roman" panose="02020603050405020304" pitchFamily="18" charset="0"/>
                            </a:rPr>
                            <a:t>symbols</a:t>
                          </a:r>
                          <a:endParaRPr lang="zh-TW" altLang="en-US" sz="20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solidFill>
                          <a:schemeClr val="accent2">
                            <a:lumMod val="20000"/>
                            <a:lumOff val="80000"/>
                          </a:schemeClr>
                        </a:solidFill>
                      </a:tcPr>
                    </a:tc>
                    <a:tc gridSpan="3">
                      <a:txBody>
                        <a:bodyPr/>
                        <a:lstStyle/>
                        <a:p>
                          <a:pPr algn="ctr"/>
                          <a:r>
                            <a:rPr lang="en-US" altLang="zh-TW" sz="1800" b="1" dirty="0">
                              <a:latin typeface="Times New Roman" panose="02020603050405020304" pitchFamily="18" charset="0"/>
                              <a:cs typeface="Times New Roman" panose="02020603050405020304" pitchFamily="18" charset="0"/>
                            </a:rPr>
                            <a:t>Average differences </a:t>
                          </a:r>
                          <a:endParaRPr lang="zh-TW" altLang="en-US" sz="1800" b="0"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hMerge="1">
                      <a:txBody>
                        <a:bodyPr/>
                        <a:lstStyle/>
                        <a:p>
                          <a:pPr algn="ctr"/>
                          <a:endParaRPr lang="en-US" altLang="zh-TW" sz="1800" b="0" dirty="0">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hMerge="1">
                      <a:txBody>
                        <a:bodyPr/>
                        <a:lstStyle/>
                        <a:p>
                          <a:pPr algn="ctr"/>
                          <a:endParaRPr lang="zh-TW" altLang="en-US" sz="1800" b="0"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gridSpan="2">
                      <a:txBody>
                        <a:bodyPr/>
                        <a:lstStyle/>
                        <a:p>
                          <a:pPr algn="ctr"/>
                          <a:r>
                            <a:rPr lang="en-US" altLang="zh-TW" sz="1800" b="1" dirty="0">
                              <a:latin typeface="Times New Roman" panose="02020603050405020304" pitchFamily="18" charset="0"/>
                              <a:cs typeface="Times New Roman" panose="02020603050405020304" pitchFamily="18" charset="0"/>
                            </a:rPr>
                            <a:t>Average</a:t>
                          </a:r>
                          <a:r>
                            <a:rPr lang="zh-TW" altLang="en-US" sz="1800" b="1" dirty="0">
                              <a:latin typeface="Times New Roman" panose="02020603050405020304" pitchFamily="18" charset="0"/>
                              <a:cs typeface="Times New Roman" panose="02020603050405020304" pitchFamily="18" charset="0"/>
                            </a:rPr>
                            <a:t> </a:t>
                          </a:r>
                          <a:r>
                            <a:rPr lang="en-US" altLang="zh-TW" sz="1800" b="1" dirty="0">
                              <a:latin typeface="Times New Roman" panose="02020603050405020304" pitchFamily="18" charset="0"/>
                              <a:cs typeface="Times New Roman" panose="02020603050405020304" pitchFamily="18" charset="0"/>
                            </a:rPr>
                            <a:t>scores</a:t>
                          </a:r>
                          <a:endParaRPr lang="zh-TW" altLang="en-US" sz="1800" b="0"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0" dirty="0">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655206988"/>
                      </a:ext>
                    </a:extLst>
                  </a:tr>
                  <a:tr h="701040">
                    <a:tc vMerge="1">
                      <a:txBody>
                        <a:bodyPr/>
                        <a:lstStyle/>
                        <a:p>
                          <a:pPr algn="ctr"/>
                          <a:endParaRPr lang="zh-TW" altLang="en-US" sz="20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solidFill>
                          <a:schemeClr val="accent2">
                            <a:lumMod val="20000"/>
                            <a:lumOff val="80000"/>
                          </a:schemeClr>
                        </a:solidFill>
                      </a:tcPr>
                    </a:tc>
                    <a:tc>
                      <a:txBody>
                        <a:bodyPr/>
                        <a:lstStyle/>
                        <a:p>
                          <a:pPr algn="ctr"/>
                          <a:r>
                            <a:rPr lang="en-US" altLang="zh-TW" sz="1800" b="0" dirty="0">
                              <a:latin typeface="Times New Roman" panose="02020603050405020304" pitchFamily="18" charset="0"/>
                              <a:ea typeface="+mn-ea"/>
                              <a:cs typeface="Times New Roman" panose="02020603050405020304" pitchFamily="18" charset="0"/>
                            </a:rPr>
                            <a:t>GAHS27 VS BLOSUM62 </a:t>
                          </a:r>
                          <a:endParaRPr lang="zh-TW" altLang="en-US" sz="1800" b="0"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altLang="zh-TW" sz="1800" b="0" dirty="0">
                              <a:latin typeface="Times New Roman" panose="02020603050405020304" pitchFamily="18" charset="0"/>
                              <a:ea typeface="+mn-ea"/>
                              <a:cs typeface="Times New Roman" panose="02020603050405020304" pitchFamily="18" charset="0"/>
                            </a:rPr>
                            <a:t>GAHS27 VS PAM250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altLang="zh-TW" sz="1800" b="0" dirty="0">
                              <a:latin typeface="Times New Roman" panose="02020603050405020304" pitchFamily="18" charset="0"/>
                              <a:ea typeface="+mn-ea"/>
                              <a:cs typeface="Times New Roman" panose="02020603050405020304" pitchFamily="18" charset="0"/>
                            </a:rPr>
                            <a:t>GAHS27 VS EDSSMAT62</a:t>
                          </a:r>
                          <a:endParaRPr lang="zh-TW" altLang="en-US" sz="1800" b="0"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altLang="zh-TW" sz="1800" b="0" dirty="0">
                              <a:latin typeface="Times New Roman" panose="02020603050405020304" pitchFamily="18" charset="0"/>
                              <a:ea typeface="新細明體" panose="02020500000000000000" pitchFamily="18" charset="-120"/>
                              <a:cs typeface="Times New Roman" panose="02020603050405020304" pitchFamily="18" charset="0"/>
                            </a:rPr>
                            <a:t>EDSSMAT62</a:t>
                          </a:r>
                          <a:endParaRPr lang="zh-TW" altLang="en-US" sz="1800" b="0"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000" b="0" dirty="0">
                              <a:latin typeface="Times New Roman" panose="02020603050405020304" pitchFamily="18" charset="0"/>
                              <a:ea typeface="+mn-ea"/>
                              <a:cs typeface="Times New Roman" panose="02020603050405020304" pitchFamily="18" charset="0"/>
                            </a:rPr>
                            <a:t>GAHS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000" b="0" dirty="0">
                              <a:latin typeface="Times New Roman" panose="02020603050405020304" pitchFamily="18" charset="0"/>
                              <a:ea typeface="+mn-ea"/>
                              <a:cs typeface="Times New Roman" panose="02020603050405020304" pitchFamily="18" charset="0"/>
                            </a:rPr>
                            <a:t>27</a:t>
                          </a:r>
                          <a:endParaRPr lang="zh-TW" altLang="en-US" sz="2000" b="0" dirty="0">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0"/>
                      </a:ext>
                    </a:extLst>
                  </a:tr>
                  <a:tr h="396240">
                    <a:tc>
                      <a:txBody>
                        <a:bodyPr/>
                        <a:lstStyle/>
                        <a:p>
                          <a:pPr algn="ctr"/>
                          <a:r>
                            <a:rPr lang="en-US" altLang="zh-TW" sz="2000" b="1" dirty="0">
                              <a:latin typeface="Courier"/>
                              <a:ea typeface="+mn-ea"/>
                              <a:cs typeface="Times New Roman" panose="02020603050405020304" pitchFamily="18" charset="0"/>
                            </a:rPr>
                            <a:t>A</a:t>
                          </a:r>
                          <a:endParaRPr lang="zh-TW" altLang="en-US" sz="2000" b="1" dirty="0">
                            <a:latin typeface="Courier"/>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873" t="-276923" r="-401747" b="-62923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000" t="-276923" r="-300000" b="-62923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82787" t="-276923" r="-182787" b="-62923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38498" t="-276923" r="-109390" b="-62923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96537" t="-276923" r="-866" b="-629231"/>
                          </a:stretch>
                        </a:blipFill>
                      </a:tcPr>
                    </a:tc>
                    <a:extLst>
                      <a:ext uri="{0D108BD9-81ED-4DB2-BD59-A6C34878D82A}">
                        <a16:rowId xmlns:a16="http://schemas.microsoft.com/office/drawing/2014/main" val="10001"/>
                      </a:ext>
                    </a:extLst>
                  </a:tr>
                  <a:tr h="396240">
                    <a:tc>
                      <a:txBody>
                        <a:bodyPr/>
                        <a:lstStyle/>
                        <a:p>
                          <a:pPr algn="ctr"/>
                          <a:r>
                            <a:rPr lang="en-US" altLang="zh-TW" sz="2000" b="1" dirty="0">
                              <a:latin typeface="Courier"/>
                              <a:cs typeface="Times New Roman" panose="02020603050405020304" pitchFamily="18" charset="0"/>
                            </a:rPr>
                            <a:t>G</a:t>
                          </a:r>
                          <a:endParaRPr lang="zh-TW" altLang="en-US" sz="2000" b="1" dirty="0">
                            <a:latin typeface="Courier"/>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873" t="-376923" r="-401747" b="-52923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000" t="-376923" r="-300000" b="-52923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82787" t="-376923" r="-182787" b="-52923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38498" t="-376923" r="-109390" b="-52923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96537" t="-376923" r="-866" b="-529231"/>
                          </a:stretch>
                        </a:blipFill>
                      </a:tcPr>
                    </a:tc>
                    <a:extLst>
                      <a:ext uri="{0D108BD9-81ED-4DB2-BD59-A6C34878D82A}">
                        <a16:rowId xmlns:a16="http://schemas.microsoft.com/office/drawing/2014/main" val="2276564253"/>
                      </a:ext>
                    </a:extLst>
                  </a:tr>
                  <a:tr h="396240">
                    <a:tc>
                      <a:txBody>
                        <a:bodyPr/>
                        <a:lstStyle/>
                        <a:p>
                          <a:pPr algn="ctr"/>
                          <a:r>
                            <a:rPr lang="en-US" altLang="zh-TW" sz="2000" b="1" dirty="0">
                              <a:latin typeface="Courier"/>
                              <a:cs typeface="Times New Roman" panose="02020603050405020304" pitchFamily="18" charset="0"/>
                            </a:rPr>
                            <a:t>Q</a:t>
                          </a:r>
                          <a:endParaRPr lang="zh-TW" altLang="en-US" sz="2000" b="1" dirty="0">
                            <a:latin typeface="Courier"/>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873" t="-469697" r="-401747" b="-42121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000" t="-469697" r="-300000" b="-42121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82787" t="-469697" r="-182787" b="-42121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38498" t="-469697" r="-109390" b="-42121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96537" t="-469697" r="-866" b="-421212"/>
                          </a:stretch>
                        </a:blipFill>
                      </a:tcPr>
                    </a:tc>
                    <a:extLst>
                      <a:ext uri="{0D108BD9-81ED-4DB2-BD59-A6C34878D82A}">
                        <a16:rowId xmlns:a16="http://schemas.microsoft.com/office/drawing/2014/main" val="4129913141"/>
                      </a:ext>
                    </a:extLst>
                  </a:tr>
                  <a:tr h="396240">
                    <a:tc>
                      <a:txBody>
                        <a:bodyPr/>
                        <a:lstStyle/>
                        <a:p>
                          <a:pPr algn="ctr"/>
                          <a:r>
                            <a:rPr lang="en-US" altLang="zh-TW" sz="2000" b="1" dirty="0">
                              <a:latin typeface="Courier"/>
                              <a:cs typeface="Times New Roman" panose="02020603050405020304" pitchFamily="18" charset="0"/>
                            </a:rPr>
                            <a:t>S</a:t>
                          </a:r>
                          <a:endParaRPr lang="zh-TW" altLang="en-US" sz="2000" b="1" dirty="0">
                            <a:latin typeface="Courier"/>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873" t="-578462" r="-401747" b="-3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000" t="-578462" r="-300000" b="-3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82787" t="-578462" r="-182787" b="-3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38498" t="-578462" r="-109390" b="-3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96537" t="-578462" r="-866" b="-327692"/>
                          </a:stretch>
                        </a:blipFill>
                      </a:tcPr>
                    </a:tc>
                    <a:extLst>
                      <a:ext uri="{0D108BD9-81ED-4DB2-BD59-A6C34878D82A}">
                        <a16:rowId xmlns:a16="http://schemas.microsoft.com/office/drawing/2014/main" val="1235458619"/>
                      </a:ext>
                    </a:extLst>
                  </a:tr>
                  <a:tr h="396240">
                    <a:tc>
                      <a:txBody>
                        <a:bodyPr/>
                        <a:lstStyle/>
                        <a:p>
                          <a:pPr algn="ctr"/>
                          <a:r>
                            <a:rPr lang="en-US" altLang="zh-TW" sz="2000" b="1" dirty="0">
                              <a:latin typeface="Courier"/>
                              <a:cs typeface="Times New Roman" panose="02020603050405020304" pitchFamily="18" charset="0"/>
                            </a:rPr>
                            <a:t>P</a:t>
                          </a:r>
                          <a:endParaRPr lang="zh-TW" altLang="en-US" sz="2000" b="1" dirty="0">
                            <a:latin typeface="Courier"/>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873" t="-678462" r="-401747" b="-2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000" t="-678462" r="-300000" b="-2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82787" t="-678462" r="-182787" b="-2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38498" t="-678462" r="-109390" b="-2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96537" t="-678462" r="-866" b="-227692"/>
                          </a:stretch>
                        </a:blipFill>
                      </a:tcPr>
                    </a:tc>
                    <a:extLst>
                      <a:ext uri="{0D108BD9-81ED-4DB2-BD59-A6C34878D82A}">
                        <a16:rowId xmlns:a16="http://schemas.microsoft.com/office/drawing/2014/main" val="354518905"/>
                      </a:ext>
                    </a:extLst>
                  </a:tr>
                  <a:tr h="396240">
                    <a:tc>
                      <a:txBody>
                        <a:bodyPr/>
                        <a:lstStyle/>
                        <a:p>
                          <a:pPr algn="ctr"/>
                          <a:r>
                            <a:rPr lang="en-US" altLang="zh-TW" sz="2000" b="1" dirty="0">
                              <a:latin typeface="Courier"/>
                              <a:cs typeface="Times New Roman" panose="02020603050405020304" pitchFamily="18" charset="0"/>
                            </a:rPr>
                            <a:t>E</a:t>
                          </a:r>
                          <a:endParaRPr lang="zh-TW" altLang="en-US" sz="2000" b="1" dirty="0">
                            <a:latin typeface="Courier"/>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873" t="-778462" r="-401747" b="-1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000" t="-778462" r="-300000" b="-1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82787" t="-778462" r="-182787" b="-1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38498" t="-778462" r="-109390" b="-1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96537" t="-778462" r="-866" b="-127692"/>
                          </a:stretch>
                        </a:blipFill>
                      </a:tcPr>
                    </a:tc>
                    <a:extLst>
                      <a:ext uri="{0D108BD9-81ED-4DB2-BD59-A6C34878D82A}">
                        <a16:rowId xmlns:a16="http://schemas.microsoft.com/office/drawing/2014/main" val="4271890145"/>
                      </a:ext>
                    </a:extLst>
                  </a:tr>
                  <a:tr h="396240">
                    <a:tc>
                      <a:txBody>
                        <a:bodyPr/>
                        <a:lstStyle/>
                        <a:p>
                          <a:pPr algn="ctr"/>
                          <a:r>
                            <a:rPr lang="en-US" altLang="zh-TW" sz="2000" b="1" dirty="0">
                              <a:latin typeface="Courier"/>
                              <a:cs typeface="Times New Roman" panose="02020603050405020304" pitchFamily="18" charset="0"/>
                            </a:rPr>
                            <a:t>K</a:t>
                          </a:r>
                          <a:endParaRPr lang="zh-TW" altLang="en-US" sz="2000" b="1" dirty="0">
                            <a:latin typeface="Courier"/>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873" t="-878462" r="-401747" b="-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000" t="-878462" r="-300000" b="-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82787" t="-878462" r="-182787" b="-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38498" t="-878462" r="-109390" b="-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96537" t="-878462" r="-866" b="-27692"/>
                          </a:stretch>
                        </a:blipFill>
                      </a:tcPr>
                    </a:tc>
                    <a:extLst>
                      <a:ext uri="{0D108BD9-81ED-4DB2-BD59-A6C34878D82A}">
                        <a16:rowId xmlns:a16="http://schemas.microsoft.com/office/drawing/2014/main" val="2158558697"/>
                      </a:ext>
                    </a:extLst>
                  </a:tr>
                </a:tbl>
              </a:graphicData>
            </a:graphic>
          </p:graphicFrame>
        </mc:Fallback>
      </mc:AlternateContent>
      <p:sp>
        <p:nvSpPr>
          <p:cNvPr id="3" name="矩形 2"/>
          <p:cNvSpPr/>
          <p:nvPr/>
        </p:nvSpPr>
        <p:spPr>
          <a:xfrm>
            <a:off x="621123" y="908720"/>
            <a:ext cx="3972216" cy="461665"/>
          </a:xfrm>
          <a:prstGeom prst="rect">
            <a:avLst/>
          </a:prstGeom>
        </p:spPr>
        <p:txBody>
          <a:bodyPr wrap="square">
            <a:spAutoFit/>
          </a:bodyPr>
          <a:lstStyle/>
          <a:p>
            <a:r>
              <a:rPr lang="en-US" altLang="zh-TW" sz="2400" dirty="0">
                <a:latin typeface="Times New Roman" panose="02020603050405020304" pitchFamily="18" charset="0"/>
                <a:cs typeface="Times New Roman" panose="02020603050405020304" pitchFamily="18" charset="0"/>
              </a:rPr>
              <a:t>(D</a:t>
            </a:r>
            <a:r>
              <a:rPr lang="zh-TW" altLang="en-US" sz="2400" dirty="0">
                <a:latin typeface="Times New Roman" panose="02020603050405020304" pitchFamily="18" charset="0"/>
                <a:cs typeface="Times New Roman" panose="02020603050405020304" pitchFamily="18" charset="0"/>
              </a:rPr>
              <a:t>isorder-promoting residues</a:t>
            </a:r>
            <a:r>
              <a:rPr lang="en-US" altLang="zh-TW"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87732523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字方塊 10">
            <a:extLst>
              <a:ext uri="{FF2B5EF4-FFF2-40B4-BE49-F238E27FC236}">
                <a16:creationId xmlns:a16="http://schemas.microsoft.com/office/drawing/2014/main" id="{F7024DF5-78FF-4A3F-B7F4-E9879D39926E}"/>
              </a:ext>
            </a:extLst>
          </p:cNvPr>
          <p:cNvSpPr txBox="1"/>
          <p:nvPr/>
        </p:nvSpPr>
        <p:spPr>
          <a:xfrm>
            <a:off x="188616" y="91827"/>
            <a:ext cx="8755811" cy="707886"/>
          </a:xfrm>
          <a:prstGeom prst="rect">
            <a:avLst/>
          </a:prstGeom>
          <a:noFill/>
        </p:spPr>
        <p:txBody>
          <a:bodyPr wrap="square" rtlCol="0">
            <a:spAutoFit/>
          </a:bodyPr>
          <a:lstStyle/>
          <a:p>
            <a:r>
              <a:rPr lang="en-US" altLang="zh-TW" sz="4000" b="1" dirty="0">
                <a:latin typeface="Times New Roman" panose="02020603050405020304" pitchFamily="18" charset="0"/>
                <a:cs typeface="Times New Roman" panose="02020603050405020304" pitchFamily="18" charset="0"/>
              </a:rPr>
              <a:t>Experimental Results</a:t>
            </a:r>
            <a:endParaRPr lang="zh-TW" altLang="en-US" sz="4000" b="1" dirty="0">
              <a:latin typeface="Times New Roman" panose="02020603050405020304" pitchFamily="18" charset="0"/>
              <a:cs typeface="Times New Roman" panose="02020603050405020304" pitchFamily="18" charset="0"/>
            </a:endParaRPr>
          </a:p>
        </p:txBody>
      </p:sp>
      <p:sp>
        <p:nvSpPr>
          <p:cNvPr id="8" name="投影片編號版面配置區 3">
            <a:extLst>
              <a:ext uri="{FF2B5EF4-FFF2-40B4-BE49-F238E27FC236}">
                <a16:creationId xmlns:a16="http://schemas.microsoft.com/office/drawing/2014/main" id="{196121B8-8C83-4F9A-A1F1-F830409FB2C1}"/>
              </a:ext>
            </a:extLst>
          </p:cNvPr>
          <p:cNvSpPr>
            <a:spLocks noGrp="1"/>
          </p:cNvSpPr>
          <p:nvPr>
            <p:ph type="sldNum" sz="quarter" idx="12"/>
          </p:nvPr>
        </p:nvSpPr>
        <p:spPr>
          <a:xfrm>
            <a:off x="6553200" y="6356350"/>
            <a:ext cx="2133600" cy="365125"/>
          </a:xfrm>
        </p:spPr>
        <p:txBody>
          <a:bodyPr/>
          <a:lstStyle/>
          <a:p>
            <a:fld id="{04C04D6A-2E29-441A-A244-9F1014899F6D}" type="slidenum">
              <a:rPr lang="zh-TW" altLang="en-US" sz="1600" smtClean="0"/>
              <a:pPr/>
              <a:t>34</a:t>
            </a:fld>
            <a:endParaRPr lang="zh-TW" altLang="en-US" dirty="0"/>
          </a:p>
        </p:txBody>
      </p:sp>
      <p:sp>
        <p:nvSpPr>
          <p:cNvPr id="7" name="矩形 6"/>
          <p:cNvSpPr/>
          <p:nvPr/>
        </p:nvSpPr>
        <p:spPr>
          <a:xfrm>
            <a:off x="611560" y="980728"/>
            <a:ext cx="3647409" cy="461665"/>
          </a:xfrm>
          <a:prstGeom prst="rect">
            <a:avLst/>
          </a:prstGeom>
        </p:spPr>
        <p:txBody>
          <a:bodyPr wrap="none">
            <a:spAutoFit/>
          </a:bodyPr>
          <a:lstStyle/>
          <a:p>
            <a:r>
              <a:rPr lang="en-US" altLang="zh-TW" sz="2400" dirty="0">
                <a:latin typeface="Times New Roman" panose="02020603050405020304" pitchFamily="18" charset="0"/>
                <a:cs typeface="Times New Roman" panose="02020603050405020304" pitchFamily="18" charset="0"/>
              </a:rPr>
              <a:t>(O</a:t>
            </a:r>
            <a:r>
              <a:rPr lang="zh-TW" altLang="en-US" sz="2400" dirty="0">
                <a:latin typeface="Times New Roman" panose="02020603050405020304" pitchFamily="18" charset="0"/>
                <a:cs typeface="Times New Roman" panose="02020603050405020304" pitchFamily="18" charset="0"/>
              </a:rPr>
              <a:t>rder-promoting residues</a:t>
            </a:r>
            <a:r>
              <a:rPr lang="en-US" altLang="zh-TW" sz="2400" dirty="0">
                <a:latin typeface="Times New Roman" panose="02020603050405020304" pitchFamily="18" charset="0"/>
                <a:cs typeface="Times New Roman" panose="02020603050405020304" pitchFamily="18" charset="0"/>
              </a:rPr>
              <a:t>)</a:t>
            </a:r>
          </a:p>
        </p:txBody>
      </p:sp>
      <mc:AlternateContent xmlns:mc="http://schemas.openxmlformats.org/markup-compatibility/2006" xmlns:a14="http://schemas.microsoft.com/office/drawing/2010/main">
        <mc:Choice Requires="a14">
          <p:graphicFrame>
            <p:nvGraphicFramePr>
              <p:cNvPr id="3" name="表格 2">
                <a:extLst>
                  <a:ext uri="{FF2B5EF4-FFF2-40B4-BE49-F238E27FC236}">
                    <a16:creationId xmlns:a16="http://schemas.microsoft.com/office/drawing/2014/main" id="{162D5DC2-2E10-4F24-B064-3E12100F2DDE}"/>
                  </a:ext>
                </a:extLst>
              </p:cNvPr>
              <p:cNvGraphicFramePr>
                <a:graphicFrameLocks noGrp="1"/>
              </p:cNvGraphicFramePr>
              <p:nvPr>
                <p:extLst>
                  <p:ext uri="{D42A27DB-BD31-4B8C-83A1-F6EECF244321}">
                    <p14:modId xmlns:p14="http://schemas.microsoft.com/office/powerpoint/2010/main" val="2411565296"/>
                  </p:ext>
                </p:extLst>
              </p:nvPr>
            </p:nvGraphicFramePr>
            <p:xfrm>
              <a:off x="375230" y="1429234"/>
              <a:ext cx="8382582" cy="5029200"/>
            </p:xfrm>
            <a:graphic>
              <a:graphicData uri="http://schemas.openxmlformats.org/drawingml/2006/table">
                <a:tbl>
                  <a:tblPr firstRow="1" bandRow="1">
                    <a:tableStyleId>{5940675A-B579-460E-94D1-54222C63F5DA}</a:tableStyleId>
                  </a:tblPr>
                  <a:tblGrid>
                    <a:gridCol w="1397097">
                      <a:extLst>
                        <a:ext uri="{9D8B030D-6E8A-4147-A177-3AD203B41FA5}">
                          <a16:colId xmlns:a16="http://schemas.microsoft.com/office/drawing/2014/main" val="20000"/>
                        </a:ext>
                      </a:extLst>
                    </a:gridCol>
                    <a:gridCol w="1397097">
                      <a:extLst>
                        <a:ext uri="{9D8B030D-6E8A-4147-A177-3AD203B41FA5}">
                          <a16:colId xmlns:a16="http://schemas.microsoft.com/office/drawing/2014/main" val="20001"/>
                        </a:ext>
                      </a:extLst>
                    </a:gridCol>
                    <a:gridCol w="1397097">
                      <a:extLst>
                        <a:ext uri="{9D8B030D-6E8A-4147-A177-3AD203B41FA5}">
                          <a16:colId xmlns:a16="http://schemas.microsoft.com/office/drawing/2014/main" val="176215867"/>
                        </a:ext>
                      </a:extLst>
                    </a:gridCol>
                    <a:gridCol w="1490829">
                      <a:extLst>
                        <a:ext uri="{9D8B030D-6E8A-4147-A177-3AD203B41FA5}">
                          <a16:colId xmlns:a16="http://schemas.microsoft.com/office/drawing/2014/main" val="324101211"/>
                        </a:ext>
                      </a:extLst>
                    </a:gridCol>
                    <a:gridCol w="1296144">
                      <a:extLst>
                        <a:ext uri="{9D8B030D-6E8A-4147-A177-3AD203B41FA5}">
                          <a16:colId xmlns:a16="http://schemas.microsoft.com/office/drawing/2014/main" val="165982674"/>
                        </a:ext>
                      </a:extLst>
                    </a:gridCol>
                    <a:gridCol w="1404318">
                      <a:extLst>
                        <a:ext uri="{9D8B030D-6E8A-4147-A177-3AD203B41FA5}">
                          <a16:colId xmlns:a16="http://schemas.microsoft.com/office/drawing/2014/main" val="2636327347"/>
                        </a:ext>
                      </a:extLst>
                    </a:gridCol>
                  </a:tblGrid>
                  <a:tr h="0">
                    <a:tc rowSpan="2">
                      <a:txBody>
                        <a:bodyPr/>
                        <a:lstStyle/>
                        <a:p>
                          <a:pPr algn="ctr"/>
                          <a:r>
                            <a:rPr lang="en-US" altLang="zh-TW" sz="2000" b="1" dirty="0">
                              <a:latin typeface="Times New Roman" panose="02020603050405020304" pitchFamily="18" charset="0"/>
                              <a:ea typeface="+mn-ea"/>
                              <a:cs typeface="Times New Roman" panose="02020603050405020304" pitchFamily="18" charset="0"/>
                            </a:rPr>
                            <a:t>Amino acid</a:t>
                          </a:r>
                        </a:p>
                        <a:p>
                          <a:pPr algn="ctr"/>
                          <a:r>
                            <a:rPr lang="en-US" altLang="zh-TW" sz="2000" b="1" dirty="0">
                              <a:latin typeface="Times New Roman" panose="02020603050405020304" pitchFamily="18" charset="0"/>
                              <a:ea typeface="+mn-ea"/>
                              <a:cs typeface="Times New Roman" panose="02020603050405020304" pitchFamily="18" charset="0"/>
                            </a:rPr>
                            <a:t>symbols</a:t>
                          </a:r>
                          <a:endParaRPr lang="zh-TW" altLang="en-US" sz="20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solidFill>
                          <a:schemeClr val="accent2">
                            <a:lumMod val="20000"/>
                            <a:lumOff val="80000"/>
                          </a:schemeClr>
                        </a:solidFill>
                      </a:tcPr>
                    </a:tc>
                    <a:tc gridSpan="3">
                      <a:txBody>
                        <a:bodyPr/>
                        <a:lstStyle/>
                        <a:p>
                          <a:pPr algn="ctr"/>
                          <a:r>
                            <a:rPr lang="en-US" altLang="zh-TW" sz="1800" b="1" dirty="0">
                              <a:latin typeface="Times New Roman" panose="02020603050405020304" pitchFamily="18" charset="0"/>
                              <a:cs typeface="Times New Roman" panose="02020603050405020304" pitchFamily="18" charset="0"/>
                            </a:rPr>
                            <a:t>Average differences </a:t>
                          </a:r>
                          <a:endParaRPr lang="zh-TW" altLang="en-US" sz="1800" b="0"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hMerge="1">
                      <a:txBody>
                        <a:bodyPr/>
                        <a:lstStyle/>
                        <a:p>
                          <a:pPr algn="ctr"/>
                          <a:endParaRPr lang="en-US" altLang="zh-TW" sz="1800" b="0" dirty="0">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hMerge="1">
                      <a:txBody>
                        <a:bodyPr/>
                        <a:lstStyle/>
                        <a:p>
                          <a:pPr algn="ctr"/>
                          <a:endParaRPr lang="zh-TW" altLang="en-US" sz="1800" b="0"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gridSpan="2">
                      <a:txBody>
                        <a:bodyPr/>
                        <a:lstStyle/>
                        <a:p>
                          <a:pPr algn="ctr"/>
                          <a:r>
                            <a:rPr lang="en-US" altLang="zh-TW" sz="1800" b="1" dirty="0">
                              <a:latin typeface="Times New Roman" panose="02020603050405020304" pitchFamily="18" charset="0"/>
                              <a:cs typeface="Times New Roman" panose="02020603050405020304" pitchFamily="18" charset="0"/>
                            </a:rPr>
                            <a:t>Average</a:t>
                          </a:r>
                          <a:r>
                            <a:rPr lang="zh-TW" altLang="en-US" sz="1800" b="1" dirty="0">
                              <a:latin typeface="Times New Roman" panose="02020603050405020304" pitchFamily="18" charset="0"/>
                              <a:cs typeface="Times New Roman" panose="02020603050405020304" pitchFamily="18" charset="0"/>
                            </a:rPr>
                            <a:t> </a:t>
                          </a:r>
                          <a:r>
                            <a:rPr lang="en-US" altLang="zh-TW" sz="1800" b="1" dirty="0">
                              <a:latin typeface="Times New Roman" panose="02020603050405020304" pitchFamily="18" charset="0"/>
                              <a:cs typeface="Times New Roman" panose="02020603050405020304" pitchFamily="18" charset="0"/>
                            </a:rPr>
                            <a:t>scores</a:t>
                          </a:r>
                          <a:endParaRPr lang="zh-TW" altLang="en-US" sz="1800" b="0"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0" dirty="0">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893087658"/>
                      </a:ext>
                    </a:extLst>
                  </a:tr>
                  <a:tr h="0">
                    <a:tc vMerge="1">
                      <a:txBody>
                        <a:bodyPr/>
                        <a:lstStyle/>
                        <a:p>
                          <a:pPr algn="ctr"/>
                          <a:endParaRPr lang="zh-TW" altLang="en-US" sz="20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solidFill>
                          <a:schemeClr val="accent2">
                            <a:lumMod val="20000"/>
                            <a:lumOff val="80000"/>
                          </a:schemeClr>
                        </a:solidFill>
                      </a:tcPr>
                    </a:tc>
                    <a:tc>
                      <a:txBody>
                        <a:bodyPr/>
                        <a:lstStyle/>
                        <a:p>
                          <a:pPr algn="ctr"/>
                          <a:r>
                            <a:rPr lang="en-US" altLang="zh-TW" sz="1800" b="0" dirty="0">
                              <a:latin typeface="Times New Roman" panose="02020603050405020304" pitchFamily="18" charset="0"/>
                              <a:ea typeface="+mn-ea"/>
                              <a:cs typeface="Times New Roman" panose="02020603050405020304" pitchFamily="18" charset="0"/>
                            </a:rPr>
                            <a:t>GAHS27 VS BLOSUM62 </a:t>
                          </a:r>
                          <a:endParaRPr lang="zh-TW" altLang="en-US" sz="1800" b="0"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altLang="zh-TW" sz="1800" b="0" dirty="0">
                              <a:latin typeface="Times New Roman" panose="02020603050405020304" pitchFamily="18" charset="0"/>
                              <a:ea typeface="+mn-ea"/>
                              <a:cs typeface="Times New Roman" panose="02020603050405020304" pitchFamily="18" charset="0"/>
                            </a:rPr>
                            <a:t>GAHS27 VS PAM250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altLang="zh-TW" sz="1800" b="0" dirty="0">
                              <a:latin typeface="Times New Roman" panose="02020603050405020304" pitchFamily="18" charset="0"/>
                              <a:ea typeface="+mn-ea"/>
                              <a:cs typeface="Times New Roman" panose="02020603050405020304" pitchFamily="18" charset="0"/>
                            </a:rPr>
                            <a:t>GAHS27 VS EDSSMAT62</a:t>
                          </a:r>
                          <a:endParaRPr lang="zh-TW" altLang="en-US" sz="1800" b="0"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altLang="zh-TW" sz="1800" b="0" dirty="0">
                              <a:latin typeface="Times New Roman" panose="02020603050405020304" pitchFamily="18" charset="0"/>
                              <a:ea typeface="新細明體" panose="02020500000000000000" pitchFamily="18" charset="-120"/>
                              <a:cs typeface="Times New Roman" panose="02020603050405020304" pitchFamily="18" charset="0"/>
                            </a:rPr>
                            <a:t>EDSSMAT62</a:t>
                          </a:r>
                          <a:endParaRPr lang="zh-TW" altLang="en-US" sz="1800" b="0"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000" b="0" dirty="0">
                              <a:latin typeface="Times New Roman" panose="02020603050405020304" pitchFamily="18" charset="0"/>
                              <a:ea typeface="+mn-ea"/>
                              <a:cs typeface="Times New Roman" panose="02020603050405020304" pitchFamily="18" charset="0"/>
                            </a:rPr>
                            <a:t>GAHS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000" b="0" dirty="0">
                              <a:latin typeface="Times New Roman" panose="02020603050405020304" pitchFamily="18" charset="0"/>
                              <a:ea typeface="+mn-ea"/>
                              <a:cs typeface="Times New Roman" panose="02020603050405020304" pitchFamily="18" charset="0"/>
                            </a:rPr>
                            <a:t>27</a:t>
                          </a:r>
                          <a:endParaRPr lang="zh-TW" altLang="en-US" sz="2000" b="0" dirty="0">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0"/>
                      </a:ext>
                    </a:extLst>
                  </a:tr>
                  <a:tr h="0">
                    <a:tc>
                      <a:txBody>
                        <a:bodyPr/>
                        <a:lstStyle/>
                        <a:p>
                          <a:pPr algn="ctr"/>
                          <a:r>
                            <a:rPr lang="en-US" altLang="zh-TW" sz="2000" b="1" dirty="0">
                              <a:latin typeface="Courier"/>
                              <a:cs typeface="Times New Roman" panose="02020603050405020304" pitchFamily="18" charset="0"/>
                            </a:rPr>
                            <a:t>C</a:t>
                          </a:r>
                          <a:endParaRPr lang="zh-TW" altLang="en-US" sz="2000" b="1" dirty="0">
                            <a:latin typeface="Courier"/>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1.4</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2.7</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0.3</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−0.6</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3.3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−0.3</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algn="ctr"/>
                          <a:r>
                            <a:rPr lang="en-US" altLang="zh-TW" sz="2000" b="1" dirty="0">
                              <a:latin typeface="Courier"/>
                              <a:cs typeface="Times New Roman" panose="02020603050405020304" pitchFamily="18" charset="0"/>
                            </a:rPr>
                            <a:t>H</a:t>
                          </a:r>
                          <a:endParaRPr lang="zh-TW" altLang="en-US" sz="2000" b="1" dirty="0">
                            <a:latin typeface="Courier"/>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0.4</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−0.2</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2.4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0.2</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−0.6</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−0.3</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85244891"/>
                      </a:ext>
                    </a:extLst>
                  </a:tr>
                  <a:tr h="0">
                    <a:tc>
                      <a:txBody>
                        <a:bodyPr/>
                        <a:lstStyle/>
                        <a:p>
                          <a:pPr algn="ctr"/>
                          <a:r>
                            <a:rPr lang="en-US" altLang="zh-TW" sz="2000" b="1" dirty="0">
                              <a:latin typeface="Courier"/>
                              <a:cs typeface="Times New Roman" panose="02020603050405020304" pitchFamily="18" charset="0"/>
                            </a:rPr>
                            <a:t>M</a:t>
                          </a:r>
                          <a:endParaRPr lang="zh-TW" altLang="en-US" sz="2000" b="1" dirty="0">
                            <a:latin typeface="Courier"/>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b="0" dirty="0">
                              <a:latin typeface="Times New Roman" panose="02020603050405020304" pitchFamily="18" charset="0"/>
                              <a:cs typeface="Times New Roman" panose="02020603050405020304" pitchFamily="18" charset="0"/>
                            </a:rPr>
                            <a:t>0.4</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atin typeface="Times New Roman" panose="02020603050405020304" pitchFamily="18" charset="0"/>
                              <a:cs typeface="Times New Roman" panose="02020603050405020304" pitchFamily="18" charset="0"/>
                            </a:rPr>
                            <a:t>1.6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atin typeface="Times New Roman" panose="02020603050405020304" pitchFamily="18" charset="0"/>
                              <a:cs typeface="Times New Roman" panose="02020603050405020304" pitchFamily="18" charset="0"/>
                            </a:rPr>
                            <a:t>0.5</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atin typeface="Times New Roman" panose="02020603050405020304" pitchFamily="18" charset="0"/>
                              <a:cs typeface="Times New Roman" panose="02020603050405020304" pitchFamily="18" charset="0"/>
                            </a:rPr>
                            <a:t>1.7</a:t>
                          </a:r>
                          <a:endPar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0.7</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1.3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−1.0</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3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−0.4</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6589777"/>
                      </a:ext>
                    </a:extLst>
                  </a:tr>
                  <a:tr h="0">
                    <a:tc>
                      <a:txBody>
                        <a:bodyPr/>
                        <a:lstStyle/>
                        <a:p>
                          <a:pPr algn="ctr"/>
                          <a:r>
                            <a:rPr lang="en-US" altLang="zh-TW" sz="2000" b="1" dirty="0">
                              <a:latin typeface="Courier"/>
                              <a:ea typeface="+mn-ea"/>
                              <a:cs typeface="Times New Roman" panose="02020603050405020304" pitchFamily="18" charset="0"/>
                            </a:rPr>
                            <a:t>W</a:t>
                          </a:r>
                          <a:endParaRPr lang="zh-TW" altLang="en-US" sz="2000" b="1" dirty="0">
                            <a:latin typeface="Courier"/>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1.0</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2.5</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0.6</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−1.4</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3.9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−0.8</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3.8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6930230"/>
                      </a:ext>
                    </a:extLst>
                  </a:tr>
                  <a:tr h="0">
                    <a:tc>
                      <a:txBody>
                        <a:bodyPr/>
                        <a:lstStyle/>
                        <a:p>
                          <a:pPr algn="ctr"/>
                          <a:r>
                            <a:rPr lang="en-US" altLang="zh-TW" sz="2000" b="1" dirty="0">
                              <a:latin typeface="Courier"/>
                              <a:cs typeface="Times New Roman" panose="02020603050405020304" pitchFamily="18" charset="0"/>
                            </a:rPr>
                            <a:t>F</a:t>
                          </a:r>
                          <a:endParaRPr lang="zh-TW" altLang="en-US" sz="2000" b="1" dirty="0">
                            <a:latin typeface="Courier"/>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atin typeface="Times New Roman" panose="02020603050405020304" pitchFamily="18" charset="0"/>
                              <a:cs typeface="Times New Roman" panose="02020603050405020304" pitchFamily="18" charset="0"/>
                            </a:rPr>
                            <a:t>0.5</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atin typeface="Times New Roman" panose="02020603050405020304" pitchFamily="18" charset="0"/>
                              <a:cs typeface="Times New Roman" panose="02020603050405020304" pitchFamily="18" charset="0"/>
                            </a:rPr>
                            <a:t>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atin typeface="Times New Roman" panose="02020603050405020304" pitchFamily="18" charset="0"/>
                              <a:cs typeface="Times New Roman" panose="02020603050405020304" pitchFamily="18" charset="0"/>
                            </a:rPr>
                            <a:t>1.1</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atin typeface="Times New Roman" panose="02020603050405020304" pitchFamily="18" charset="0"/>
                              <a:cs typeface="Times New Roman" panose="02020603050405020304" pitchFamily="18" charset="0"/>
                            </a:rPr>
                            <a:t>2.7</a:t>
                          </a:r>
                          <a:endPar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0.2</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−1.0</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3.3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−0.9</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3.4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6564253"/>
                      </a:ext>
                    </a:extLst>
                  </a:tr>
                  <a:tr h="0">
                    <a:tc>
                      <a:txBody>
                        <a:bodyPr/>
                        <a:lstStyle/>
                        <a:p>
                          <a:pPr algn="ctr"/>
                          <a:r>
                            <a:rPr lang="en-US" altLang="zh-TW" sz="2000" b="1" dirty="0">
                              <a:latin typeface="Courier"/>
                              <a:cs typeface="Times New Roman" panose="02020603050405020304" pitchFamily="18" charset="0"/>
                            </a:rPr>
                            <a:t>I</a:t>
                          </a:r>
                          <a:endParaRPr lang="zh-TW" altLang="en-US" sz="2000" b="1" dirty="0">
                            <a:latin typeface="Courier"/>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0.9</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0.3</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0.3</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−0.9</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2.7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−0.6</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29913141"/>
                      </a:ext>
                    </a:extLst>
                  </a:tr>
                  <a:tr h="0">
                    <a:tc>
                      <a:txBody>
                        <a:bodyPr/>
                        <a:lstStyle/>
                        <a:p>
                          <a:pPr algn="ctr"/>
                          <a:r>
                            <a:rPr lang="en-US" altLang="zh-TW" sz="2000" b="1" dirty="0">
                              <a:latin typeface="Courier"/>
                              <a:cs typeface="Times New Roman" panose="02020603050405020304" pitchFamily="18" charset="0"/>
                            </a:rPr>
                            <a:t>Y</a:t>
                          </a:r>
                          <a:endParaRPr lang="zh-TW" altLang="en-US" sz="2000" b="1" dirty="0">
                            <a:latin typeface="Courier"/>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0.7</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1.4</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0.5</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−0.8</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3.3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−0.3</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5458619"/>
                      </a:ext>
                    </a:extLst>
                  </a:tr>
                  <a:tr h="0">
                    <a:tc>
                      <a:txBody>
                        <a:bodyPr/>
                        <a:lstStyle/>
                        <a:p>
                          <a:pPr algn="ctr"/>
                          <a:r>
                            <a:rPr lang="en-US" altLang="zh-TW" sz="2000" b="1" dirty="0">
                              <a:latin typeface="Courier"/>
                              <a:cs typeface="Times New Roman" panose="02020603050405020304" pitchFamily="18" charset="0"/>
                            </a:rPr>
                            <a:t>V</a:t>
                          </a:r>
                          <a:endParaRPr lang="zh-TW" altLang="en-US" sz="2000" b="1" dirty="0">
                            <a:latin typeface="Courier"/>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1.5</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1.2</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1.1</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−0.8</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0.3</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518905"/>
                      </a:ext>
                    </a:extLst>
                  </a:tr>
                  <a:tr h="0">
                    <a:tc>
                      <a:txBody>
                        <a:bodyPr/>
                        <a:lstStyle/>
                        <a:p>
                          <a:pPr algn="ctr"/>
                          <a:r>
                            <a:rPr lang="en-US" altLang="zh-TW" sz="2000" b="1" dirty="0">
                              <a:latin typeface="Courier"/>
                              <a:cs typeface="Times New Roman" panose="02020603050405020304" pitchFamily="18" charset="0"/>
                            </a:rPr>
                            <a:t>N</a:t>
                          </a:r>
                          <a:endParaRPr lang="zh-TW" altLang="en-US" sz="2000" b="1" dirty="0">
                            <a:latin typeface="Courier"/>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−0.1</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−0.4</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1.9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0.2</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−1.0</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−0.3</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71890145"/>
                      </a:ext>
                    </a:extLst>
                  </a:tr>
                  <a:tr h="0">
                    <a:tc>
                      <a:txBody>
                        <a:bodyPr/>
                        <a:lstStyle/>
                        <a:p>
                          <a:pPr algn="ctr"/>
                          <a:r>
                            <a:rPr lang="en-US" altLang="zh-TW" sz="2000" b="1" dirty="0">
                              <a:latin typeface="Courier"/>
                              <a:cs typeface="Times New Roman" panose="02020603050405020304" pitchFamily="18" charset="0"/>
                            </a:rPr>
                            <a:t>L</a:t>
                          </a:r>
                          <a:endParaRPr lang="zh-TW" altLang="en-US" sz="2000" b="1" dirty="0">
                            <a:latin typeface="Courier"/>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1.1</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1.1</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1.7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0.8</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−1.1</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−0.8</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5285977"/>
                      </a:ext>
                    </a:extLst>
                  </a:tr>
                </a:tbl>
              </a:graphicData>
            </a:graphic>
          </p:graphicFrame>
        </mc:Choice>
        <mc:Fallback xmlns="">
          <p:graphicFrame>
            <p:nvGraphicFramePr>
              <p:cNvPr id="3" name="表格 2">
                <a:extLst>
                  <a:ext uri="{FF2B5EF4-FFF2-40B4-BE49-F238E27FC236}">
                    <a16:creationId xmlns:a16="http://schemas.microsoft.com/office/drawing/2014/main" id="{162D5DC2-2E10-4F24-B064-3E12100F2DDE}"/>
                  </a:ext>
                </a:extLst>
              </p:cNvPr>
              <p:cNvGraphicFramePr>
                <a:graphicFrameLocks noGrp="1"/>
              </p:cNvGraphicFramePr>
              <p:nvPr>
                <p:extLst>
                  <p:ext uri="{D42A27DB-BD31-4B8C-83A1-F6EECF244321}">
                    <p14:modId xmlns:p14="http://schemas.microsoft.com/office/powerpoint/2010/main" val="2411565296"/>
                  </p:ext>
                </p:extLst>
              </p:nvPr>
            </p:nvGraphicFramePr>
            <p:xfrm>
              <a:off x="375230" y="1429234"/>
              <a:ext cx="8382582" cy="5029200"/>
            </p:xfrm>
            <a:graphic>
              <a:graphicData uri="http://schemas.openxmlformats.org/drawingml/2006/table">
                <a:tbl>
                  <a:tblPr firstRow="1" bandRow="1">
                    <a:tableStyleId>{5940675A-B579-460E-94D1-54222C63F5DA}</a:tableStyleId>
                  </a:tblPr>
                  <a:tblGrid>
                    <a:gridCol w="1397097">
                      <a:extLst>
                        <a:ext uri="{9D8B030D-6E8A-4147-A177-3AD203B41FA5}">
                          <a16:colId xmlns:a16="http://schemas.microsoft.com/office/drawing/2014/main" val="20000"/>
                        </a:ext>
                      </a:extLst>
                    </a:gridCol>
                    <a:gridCol w="1397097">
                      <a:extLst>
                        <a:ext uri="{9D8B030D-6E8A-4147-A177-3AD203B41FA5}">
                          <a16:colId xmlns:a16="http://schemas.microsoft.com/office/drawing/2014/main" val="20001"/>
                        </a:ext>
                      </a:extLst>
                    </a:gridCol>
                    <a:gridCol w="1397097">
                      <a:extLst>
                        <a:ext uri="{9D8B030D-6E8A-4147-A177-3AD203B41FA5}">
                          <a16:colId xmlns:a16="http://schemas.microsoft.com/office/drawing/2014/main" val="176215867"/>
                        </a:ext>
                      </a:extLst>
                    </a:gridCol>
                    <a:gridCol w="1490829">
                      <a:extLst>
                        <a:ext uri="{9D8B030D-6E8A-4147-A177-3AD203B41FA5}">
                          <a16:colId xmlns:a16="http://schemas.microsoft.com/office/drawing/2014/main" val="324101211"/>
                        </a:ext>
                      </a:extLst>
                    </a:gridCol>
                    <a:gridCol w="1296144">
                      <a:extLst>
                        <a:ext uri="{9D8B030D-6E8A-4147-A177-3AD203B41FA5}">
                          <a16:colId xmlns:a16="http://schemas.microsoft.com/office/drawing/2014/main" val="165982674"/>
                        </a:ext>
                      </a:extLst>
                    </a:gridCol>
                    <a:gridCol w="1404318">
                      <a:extLst>
                        <a:ext uri="{9D8B030D-6E8A-4147-A177-3AD203B41FA5}">
                          <a16:colId xmlns:a16="http://schemas.microsoft.com/office/drawing/2014/main" val="2636327347"/>
                        </a:ext>
                      </a:extLst>
                    </a:gridCol>
                  </a:tblGrid>
                  <a:tr h="365760">
                    <a:tc rowSpan="2">
                      <a:txBody>
                        <a:bodyPr/>
                        <a:lstStyle/>
                        <a:p>
                          <a:pPr algn="ctr"/>
                          <a:r>
                            <a:rPr lang="en-US" altLang="zh-TW" sz="2000" b="1" dirty="0">
                              <a:latin typeface="Times New Roman" panose="02020603050405020304" pitchFamily="18" charset="0"/>
                              <a:ea typeface="+mn-ea"/>
                              <a:cs typeface="Times New Roman" panose="02020603050405020304" pitchFamily="18" charset="0"/>
                            </a:rPr>
                            <a:t>Amino acid</a:t>
                          </a:r>
                        </a:p>
                        <a:p>
                          <a:pPr algn="ctr"/>
                          <a:r>
                            <a:rPr lang="en-US" altLang="zh-TW" sz="2000" b="1" dirty="0">
                              <a:latin typeface="Times New Roman" panose="02020603050405020304" pitchFamily="18" charset="0"/>
                              <a:ea typeface="+mn-ea"/>
                              <a:cs typeface="Times New Roman" panose="02020603050405020304" pitchFamily="18" charset="0"/>
                            </a:rPr>
                            <a:t>symbols</a:t>
                          </a:r>
                          <a:endParaRPr lang="zh-TW" altLang="en-US" sz="20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solidFill>
                          <a:schemeClr val="accent2">
                            <a:lumMod val="20000"/>
                            <a:lumOff val="80000"/>
                          </a:schemeClr>
                        </a:solidFill>
                      </a:tcPr>
                    </a:tc>
                    <a:tc gridSpan="3">
                      <a:txBody>
                        <a:bodyPr/>
                        <a:lstStyle/>
                        <a:p>
                          <a:pPr algn="ctr"/>
                          <a:r>
                            <a:rPr lang="en-US" altLang="zh-TW" sz="1800" b="1" dirty="0">
                              <a:latin typeface="Times New Roman" panose="02020603050405020304" pitchFamily="18" charset="0"/>
                              <a:cs typeface="Times New Roman" panose="02020603050405020304" pitchFamily="18" charset="0"/>
                            </a:rPr>
                            <a:t>Average differences </a:t>
                          </a:r>
                          <a:endParaRPr lang="zh-TW" altLang="en-US" sz="1800" b="0"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hMerge="1">
                      <a:txBody>
                        <a:bodyPr/>
                        <a:lstStyle/>
                        <a:p>
                          <a:pPr algn="ctr"/>
                          <a:endParaRPr lang="en-US" altLang="zh-TW" sz="1800" b="0" dirty="0">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hMerge="1">
                      <a:txBody>
                        <a:bodyPr/>
                        <a:lstStyle/>
                        <a:p>
                          <a:pPr algn="ctr"/>
                          <a:endParaRPr lang="zh-TW" altLang="en-US" sz="1800" b="0"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gridSpan="2">
                      <a:txBody>
                        <a:bodyPr/>
                        <a:lstStyle/>
                        <a:p>
                          <a:pPr algn="ctr"/>
                          <a:r>
                            <a:rPr lang="en-US" altLang="zh-TW" sz="1800" b="1" dirty="0">
                              <a:latin typeface="Times New Roman" panose="02020603050405020304" pitchFamily="18" charset="0"/>
                              <a:cs typeface="Times New Roman" panose="02020603050405020304" pitchFamily="18" charset="0"/>
                            </a:rPr>
                            <a:t>Average</a:t>
                          </a:r>
                          <a:r>
                            <a:rPr lang="zh-TW" altLang="en-US" sz="1800" b="1" dirty="0">
                              <a:latin typeface="Times New Roman" panose="02020603050405020304" pitchFamily="18" charset="0"/>
                              <a:cs typeface="Times New Roman" panose="02020603050405020304" pitchFamily="18" charset="0"/>
                            </a:rPr>
                            <a:t> </a:t>
                          </a:r>
                          <a:r>
                            <a:rPr lang="en-US" altLang="zh-TW" sz="1800" b="1" dirty="0">
                              <a:latin typeface="Times New Roman" panose="02020603050405020304" pitchFamily="18" charset="0"/>
                              <a:cs typeface="Times New Roman" panose="02020603050405020304" pitchFamily="18" charset="0"/>
                            </a:rPr>
                            <a:t>scores</a:t>
                          </a:r>
                          <a:endParaRPr lang="zh-TW" altLang="en-US" sz="1800" b="0"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0" dirty="0">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893087658"/>
                      </a:ext>
                    </a:extLst>
                  </a:tr>
                  <a:tr h="701040">
                    <a:tc vMerge="1">
                      <a:txBody>
                        <a:bodyPr/>
                        <a:lstStyle/>
                        <a:p>
                          <a:pPr algn="ctr"/>
                          <a:endParaRPr lang="zh-TW" altLang="en-US" sz="20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solidFill>
                          <a:schemeClr val="accent2">
                            <a:lumMod val="20000"/>
                            <a:lumOff val="80000"/>
                          </a:schemeClr>
                        </a:solidFill>
                      </a:tcPr>
                    </a:tc>
                    <a:tc>
                      <a:txBody>
                        <a:bodyPr/>
                        <a:lstStyle/>
                        <a:p>
                          <a:pPr algn="ctr"/>
                          <a:r>
                            <a:rPr lang="en-US" altLang="zh-TW" sz="1800" b="0" dirty="0">
                              <a:latin typeface="Times New Roman" panose="02020603050405020304" pitchFamily="18" charset="0"/>
                              <a:ea typeface="+mn-ea"/>
                              <a:cs typeface="Times New Roman" panose="02020603050405020304" pitchFamily="18" charset="0"/>
                            </a:rPr>
                            <a:t>GAHS27 VS BLOSUM62 </a:t>
                          </a:r>
                          <a:endParaRPr lang="zh-TW" altLang="en-US" sz="1800" b="0"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altLang="zh-TW" sz="1800" b="0" dirty="0">
                              <a:latin typeface="Times New Roman" panose="02020603050405020304" pitchFamily="18" charset="0"/>
                              <a:ea typeface="+mn-ea"/>
                              <a:cs typeface="Times New Roman" panose="02020603050405020304" pitchFamily="18" charset="0"/>
                            </a:rPr>
                            <a:t>GAHS27 VS PAM250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altLang="zh-TW" sz="1800" b="0" dirty="0">
                              <a:latin typeface="Times New Roman" panose="02020603050405020304" pitchFamily="18" charset="0"/>
                              <a:ea typeface="+mn-ea"/>
                              <a:cs typeface="Times New Roman" panose="02020603050405020304" pitchFamily="18" charset="0"/>
                            </a:rPr>
                            <a:t>GAHS27 VS EDSSMAT62</a:t>
                          </a:r>
                          <a:endParaRPr lang="zh-TW" altLang="en-US" sz="1800" b="0"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altLang="zh-TW" sz="1800" b="0" dirty="0">
                              <a:latin typeface="Times New Roman" panose="02020603050405020304" pitchFamily="18" charset="0"/>
                              <a:ea typeface="新細明體" panose="02020500000000000000" pitchFamily="18" charset="-120"/>
                              <a:cs typeface="Times New Roman" panose="02020603050405020304" pitchFamily="18" charset="0"/>
                            </a:rPr>
                            <a:t>EDSSMAT62</a:t>
                          </a:r>
                          <a:endParaRPr lang="zh-TW" altLang="en-US" sz="1800" b="0"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000" b="0" dirty="0">
                              <a:latin typeface="Times New Roman" panose="02020603050405020304" pitchFamily="18" charset="0"/>
                              <a:ea typeface="+mn-ea"/>
                              <a:cs typeface="Times New Roman" panose="02020603050405020304" pitchFamily="18" charset="0"/>
                            </a:rPr>
                            <a:t>GAHS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000" b="0" dirty="0">
                              <a:latin typeface="Times New Roman" panose="02020603050405020304" pitchFamily="18" charset="0"/>
                              <a:ea typeface="+mn-ea"/>
                              <a:cs typeface="Times New Roman" panose="02020603050405020304" pitchFamily="18" charset="0"/>
                            </a:rPr>
                            <a:t>27</a:t>
                          </a:r>
                          <a:endParaRPr lang="zh-TW" altLang="en-US" sz="2000" b="0" dirty="0">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0"/>
                      </a:ext>
                    </a:extLst>
                  </a:tr>
                  <a:tr h="396240">
                    <a:tc>
                      <a:txBody>
                        <a:bodyPr/>
                        <a:lstStyle/>
                        <a:p>
                          <a:pPr algn="ctr"/>
                          <a:r>
                            <a:rPr lang="en-US" altLang="zh-TW" sz="2000" b="1" dirty="0">
                              <a:latin typeface="Courier"/>
                              <a:cs typeface="Times New Roman" panose="02020603050405020304" pitchFamily="18" charset="0"/>
                            </a:rPr>
                            <a:t>C</a:t>
                          </a:r>
                          <a:endParaRPr lang="zh-TW" altLang="en-US" sz="2000" b="1" dirty="0">
                            <a:latin typeface="Courier"/>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000" t="-276923" r="-399565" b="-92923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873" t="-276923" r="-301310" b="-92923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81224" t="-276923" r="-181633" b="-92923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40566" t="-276923" r="-109906" b="-92923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96104" t="-276923" r="-866" b="-929231"/>
                          </a:stretch>
                        </a:blipFill>
                      </a:tcPr>
                    </a:tc>
                    <a:extLst>
                      <a:ext uri="{0D108BD9-81ED-4DB2-BD59-A6C34878D82A}">
                        <a16:rowId xmlns:a16="http://schemas.microsoft.com/office/drawing/2014/main" val="10001"/>
                      </a:ext>
                    </a:extLst>
                  </a:tr>
                  <a:tr h="396240">
                    <a:tc>
                      <a:txBody>
                        <a:bodyPr/>
                        <a:lstStyle/>
                        <a:p>
                          <a:pPr algn="ctr"/>
                          <a:r>
                            <a:rPr lang="en-US" altLang="zh-TW" sz="2000" b="1" dirty="0">
                              <a:latin typeface="Courier"/>
                              <a:cs typeface="Times New Roman" panose="02020603050405020304" pitchFamily="18" charset="0"/>
                            </a:rPr>
                            <a:t>H</a:t>
                          </a:r>
                          <a:endParaRPr lang="zh-TW" altLang="en-US" sz="2000" b="1" dirty="0">
                            <a:latin typeface="Courier"/>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000" t="-376923" r="-399565" b="-82923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873" t="-376923" r="-301310" b="-82923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81224" t="-376923" r="-181633" b="-82923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40566" t="-376923" r="-109906" b="-82923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96104" t="-376923" r="-866" b="-829231"/>
                          </a:stretch>
                        </a:blipFill>
                      </a:tcPr>
                    </a:tc>
                    <a:extLst>
                      <a:ext uri="{0D108BD9-81ED-4DB2-BD59-A6C34878D82A}">
                        <a16:rowId xmlns:a16="http://schemas.microsoft.com/office/drawing/2014/main" val="685244891"/>
                      </a:ext>
                    </a:extLst>
                  </a:tr>
                  <a:tr h="396240">
                    <a:tc>
                      <a:txBody>
                        <a:bodyPr/>
                        <a:lstStyle/>
                        <a:p>
                          <a:pPr algn="ctr"/>
                          <a:r>
                            <a:rPr lang="en-US" altLang="zh-TW" sz="2000" b="1" dirty="0">
                              <a:latin typeface="Courier"/>
                              <a:cs typeface="Times New Roman" panose="02020603050405020304" pitchFamily="18" charset="0"/>
                            </a:rPr>
                            <a:t>M</a:t>
                          </a:r>
                          <a:endParaRPr lang="zh-TW" altLang="en-US" sz="2000" b="1" dirty="0">
                            <a:latin typeface="Courier"/>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000" t="-476923" r="-399565" b="-72923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873" t="-476923" r="-301310" b="-72923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81224" t="-476923" r="-181633" b="-72923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40566" t="-476923" r="-109906" b="-72923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96104" t="-476923" r="-866" b="-729231"/>
                          </a:stretch>
                        </a:blipFill>
                      </a:tcPr>
                    </a:tc>
                    <a:extLst>
                      <a:ext uri="{0D108BD9-81ED-4DB2-BD59-A6C34878D82A}">
                        <a16:rowId xmlns:a16="http://schemas.microsoft.com/office/drawing/2014/main" val="1916589777"/>
                      </a:ext>
                    </a:extLst>
                  </a:tr>
                  <a:tr h="396240">
                    <a:tc>
                      <a:txBody>
                        <a:bodyPr/>
                        <a:lstStyle/>
                        <a:p>
                          <a:pPr algn="ctr"/>
                          <a:r>
                            <a:rPr lang="en-US" altLang="zh-TW" sz="2000" b="1" dirty="0">
                              <a:latin typeface="Courier"/>
                              <a:ea typeface="+mn-ea"/>
                              <a:cs typeface="Times New Roman" panose="02020603050405020304" pitchFamily="18" charset="0"/>
                            </a:rPr>
                            <a:t>W</a:t>
                          </a:r>
                          <a:endParaRPr lang="zh-TW" altLang="en-US" sz="2000" b="1" dirty="0">
                            <a:latin typeface="Courier"/>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000" t="-568182" r="-399565" b="-61818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873" t="-568182" r="-301310" b="-61818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81224" t="-568182" r="-181633" b="-61818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40566" t="-568182" r="-109906" b="-61818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96104" t="-568182" r="-866" b="-618182"/>
                          </a:stretch>
                        </a:blipFill>
                      </a:tcPr>
                    </a:tc>
                    <a:extLst>
                      <a:ext uri="{0D108BD9-81ED-4DB2-BD59-A6C34878D82A}">
                        <a16:rowId xmlns:a16="http://schemas.microsoft.com/office/drawing/2014/main" val="3566930230"/>
                      </a:ext>
                    </a:extLst>
                  </a:tr>
                  <a:tr h="396240">
                    <a:tc>
                      <a:txBody>
                        <a:bodyPr/>
                        <a:lstStyle/>
                        <a:p>
                          <a:pPr algn="ctr"/>
                          <a:r>
                            <a:rPr lang="en-US" altLang="zh-TW" sz="2000" b="1" dirty="0">
                              <a:latin typeface="Courier"/>
                              <a:cs typeface="Times New Roman" panose="02020603050405020304" pitchFamily="18" charset="0"/>
                            </a:rPr>
                            <a:t>F</a:t>
                          </a:r>
                          <a:endParaRPr lang="zh-TW" altLang="en-US" sz="2000" b="1" dirty="0">
                            <a:latin typeface="Courier"/>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000" t="-678462" r="-399565" b="-5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873" t="-678462" r="-301310" b="-5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81224" t="-678462" r="-181633" b="-5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40566" t="-678462" r="-109906" b="-5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96104" t="-678462" r="-866" b="-527692"/>
                          </a:stretch>
                        </a:blipFill>
                      </a:tcPr>
                    </a:tc>
                    <a:extLst>
                      <a:ext uri="{0D108BD9-81ED-4DB2-BD59-A6C34878D82A}">
                        <a16:rowId xmlns:a16="http://schemas.microsoft.com/office/drawing/2014/main" val="2276564253"/>
                      </a:ext>
                    </a:extLst>
                  </a:tr>
                  <a:tr h="396240">
                    <a:tc>
                      <a:txBody>
                        <a:bodyPr/>
                        <a:lstStyle/>
                        <a:p>
                          <a:pPr algn="ctr"/>
                          <a:r>
                            <a:rPr lang="en-US" altLang="zh-TW" sz="2000" b="1" dirty="0">
                              <a:latin typeface="Courier"/>
                              <a:cs typeface="Times New Roman" panose="02020603050405020304" pitchFamily="18" charset="0"/>
                            </a:rPr>
                            <a:t>I</a:t>
                          </a:r>
                          <a:endParaRPr lang="zh-TW" altLang="en-US" sz="2000" b="1" dirty="0">
                            <a:latin typeface="Courier"/>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000" t="-778462" r="-399565" b="-4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873" t="-778462" r="-301310" b="-4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81224" t="-778462" r="-181633" b="-4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40566" t="-778462" r="-109906" b="-4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96104" t="-778462" r="-866" b="-427692"/>
                          </a:stretch>
                        </a:blipFill>
                      </a:tcPr>
                    </a:tc>
                    <a:extLst>
                      <a:ext uri="{0D108BD9-81ED-4DB2-BD59-A6C34878D82A}">
                        <a16:rowId xmlns:a16="http://schemas.microsoft.com/office/drawing/2014/main" val="4129913141"/>
                      </a:ext>
                    </a:extLst>
                  </a:tr>
                  <a:tr h="396240">
                    <a:tc>
                      <a:txBody>
                        <a:bodyPr/>
                        <a:lstStyle/>
                        <a:p>
                          <a:pPr algn="ctr"/>
                          <a:r>
                            <a:rPr lang="en-US" altLang="zh-TW" sz="2000" b="1" dirty="0">
                              <a:latin typeface="Courier"/>
                              <a:cs typeface="Times New Roman" panose="02020603050405020304" pitchFamily="18" charset="0"/>
                            </a:rPr>
                            <a:t>Y</a:t>
                          </a:r>
                          <a:endParaRPr lang="zh-TW" altLang="en-US" sz="2000" b="1" dirty="0">
                            <a:latin typeface="Courier"/>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000" t="-878462" r="-399565" b="-3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873" t="-878462" r="-301310" b="-3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81224" t="-878462" r="-181633" b="-3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40566" t="-878462" r="-109906" b="-3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96104" t="-878462" r="-866" b="-327692"/>
                          </a:stretch>
                        </a:blipFill>
                      </a:tcPr>
                    </a:tc>
                    <a:extLst>
                      <a:ext uri="{0D108BD9-81ED-4DB2-BD59-A6C34878D82A}">
                        <a16:rowId xmlns:a16="http://schemas.microsoft.com/office/drawing/2014/main" val="1235458619"/>
                      </a:ext>
                    </a:extLst>
                  </a:tr>
                  <a:tr h="396240">
                    <a:tc>
                      <a:txBody>
                        <a:bodyPr/>
                        <a:lstStyle/>
                        <a:p>
                          <a:pPr algn="ctr"/>
                          <a:r>
                            <a:rPr lang="en-US" altLang="zh-TW" sz="2000" b="1" dirty="0">
                              <a:latin typeface="Courier"/>
                              <a:cs typeface="Times New Roman" panose="02020603050405020304" pitchFamily="18" charset="0"/>
                            </a:rPr>
                            <a:t>V</a:t>
                          </a:r>
                          <a:endParaRPr lang="zh-TW" altLang="en-US" sz="2000" b="1" dirty="0">
                            <a:latin typeface="Courier"/>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000" t="-978462" r="-399565" b="-2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873" t="-978462" r="-301310" b="-2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81224" t="-978462" r="-181633" b="-2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40566" t="-978462" r="-109906" b="-2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96104" t="-978462" r="-866" b="-227692"/>
                          </a:stretch>
                        </a:blipFill>
                      </a:tcPr>
                    </a:tc>
                    <a:extLst>
                      <a:ext uri="{0D108BD9-81ED-4DB2-BD59-A6C34878D82A}">
                        <a16:rowId xmlns:a16="http://schemas.microsoft.com/office/drawing/2014/main" val="354518905"/>
                      </a:ext>
                    </a:extLst>
                  </a:tr>
                  <a:tr h="396240">
                    <a:tc>
                      <a:txBody>
                        <a:bodyPr/>
                        <a:lstStyle/>
                        <a:p>
                          <a:pPr algn="ctr"/>
                          <a:r>
                            <a:rPr lang="en-US" altLang="zh-TW" sz="2000" b="1" dirty="0">
                              <a:latin typeface="Courier"/>
                              <a:cs typeface="Times New Roman" panose="02020603050405020304" pitchFamily="18" charset="0"/>
                            </a:rPr>
                            <a:t>N</a:t>
                          </a:r>
                          <a:endParaRPr lang="zh-TW" altLang="en-US" sz="2000" b="1" dirty="0">
                            <a:latin typeface="Courier"/>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000" t="-1078462" r="-399565" b="-1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873" t="-1078462" r="-301310" b="-1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81224" t="-1078462" r="-181633" b="-1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40566" t="-1078462" r="-109906" b="-1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96104" t="-1078462" r="-866" b="-127692"/>
                          </a:stretch>
                        </a:blipFill>
                      </a:tcPr>
                    </a:tc>
                    <a:extLst>
                      <a:ext uri="{0D108BD9-81ED-4DB2-BD59-A6C34878D82A}">
                        <a16:rowId xmlns:a16="http://schemas.microsoft.com/office/drawing/2014/main" val="4271890145"/>
                      </a:ext>
                    </a:extLst>
                  </a:tr>
                  <a:tr h="396240">
                    <a:tc>
                      <a:txBody>
                        <a:bodyPr/>
                        <a:lstStyle/>
                        <a:p>
                          <a:pPr algn="ctr"/>
                          <a:r>
                            <a:rPr lang="en-US" altLang="zh-TW" sz="2000" b="1" dirty="0">
                              <a:latin typeface="Courier"/>
                              <a:cs typeface="Times New Roman" panose="02020603050405020304" pitchFamily="18" charset="0"/>
                            </a:rPr>
                            <a:t>L</a:t>
                          </a:r>
                          <a:endParaRPr lang="zh-TW" altLang="en-US" sz="2000" b="1" dirty="0">
                            <a:latin typeface="Courier"/>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000" t="-1178462" r="-399565" b="-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873" t="-1178462" r="-301310" b="-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81224" t="-1178462" r="-181633" b="-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40566" t="-1178462" r="-109906" b="-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96104" t="-1178462" r="-866" b="-27692"/>
                          </a:stretch>
                        </a:blipFill>
                      </a:tcPr>
                    </a:tc>
                    <a:extLst>
                      <a:ext uri="{0D108BD9-81ED-4DB2-BD59-A6C34878D82A}">
                        <a16:rowId xmlns:a16="http://schemas.microsoft.com/office/drawing/2014/main" val="3715285977"/>
                      </a:ext>
                    </a:extLst>
                  </a:tr>
                </a:tbl>
              </a:graphicData>
            </a:graphic>
          </p:graphicFrame>
        </mc:Fallback>
      </mc:AlternateContent>
    </p:spTree>
    <p:extLst>
      <p:ext uri="{BB962C8B-B14F-4D97-AF65-F5344CB8AC3E}">
        <p14:creationId xmlns:p14="http://schemas.microsoft.com/office/powerpoint/2010/main" val="298566005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字方塊 10">
            <a:extLst>
              <a:ext uri="{FF2B5EF4-FFF2-40B4-BE49-F238E27FC236}">
                <a16:creationId xmlns:a16="http://schemas.microsoft.com/office/drawing/2014/main" id="{F7024DF5-78FF-4A3F-B7F4-E9879D39926E}"/>
              </a:ext>
            </a:extLst>
          </p:cNvPr>
          <p:cNvSpPr txBox="1"/>
          <p:nvPr/>
        </p:nvSpPr>
        <p:spPr>
          <a:xfrm>
            <a:off x="188616" y="91827"/>
            <a:ext cx="8755811" cy="707886"/>
          </a:xfrm>
          <a:prstGeom prst="rect">
            <a:avLst/>
          </a:prstGeom>
          <a:noFill/>
        </p:spPr>
        <p:txBody>
          <a:bodyPr wrap="square" rtlCol="0">
            <a:spAutoFit/>
          </a:bodyPr>
          <a:lstStyle/>
          <a:p>
            <a:r>
              <a:rPr lang="en-US" altLang="zh-TW" sz="4000" b="1" dirty="0">
                <a:latin typeface="Times New Roman" panose="02020603050405020304" pitchFamily="18" charset="0"/>
                <a:cs typeface="Times New Roman" panose="02020603050405020304" pitchFamily="18" charset="0"/>
              </a:rPr>
              <a:t>Experimental Results</a:t>
            </a:r>
            <a:endParaRPr lang="zh-TW" altLang="en-US" sz="4000" b="1" dirty="0">
              <a:latin typeface="Times New Roman" panose="02020603050405020304" pitchFamily="18" charset="0"/>
              <a:cs typeface="Times New Roman" panose="02020603050405020304" pitchFamily="18" charset="0"/>
            </a:endParaRPr>
          </a:p>
        </p:txBody>
      </p:sp>
      <p:sp>
        <p:nvSpPr>
          <p:cNvPr id="8" name="投影片編號版面配置區 3">
            <a:extLst>
              <a:ext uri="{FF2B5EF4-FFF2-40B4-BE49-F238E27FC236}">
                <a16:creationId xmlns:a16="http://schemas.microsoft.com/office/drawing/2014/main" id="{196121B8-8C83-4F9A-A1F1-F830409FB2C1}"/>
              </a:ext>
            </a:extLst>
          </p:cNvPr>
          <p:cNvSpPr>
            <a:spLocks noGrp="1"/>
          </p:cNvSpPr>
          <p:nvPr>
            <p:ph type="sldNum" sz="quarter" idx="12"/>
          </p:nvPr>
        </p:nvSpPr>
        <p:spPr>
          <a:xfrm>
            <a:off x="6553200" y="6356350"/>
            <a:ext cx="2133600" cy="365125"/>
          </a:xfrm>
        </p:spPr>
        <p:txBody>
          <a:bodyPr/>
          <a:lstStyle/>
          <a:p>
            <a:fld id="{04C04D6A-2E29-441A-A244-9F1014899F6D}" type="slidenum">
              <a:rPr lang="zh-TW" altLang="en-US" sz="1600" smtClean="0"/>
              <a:pPr/>
              <a:t>35</a:t>
            </a:fld>
            <a:endParaRPr lang="zh-TW" altLang="en-US" dirty="0"/>
          </a:p>
        </p:txBody>
      </p:sp>
      <mc:AlternateContent xmlns:mc="http://schemas.openxmlformats.org/markup-compatibility/2006" xmlns:a14="http://schemas.microsoft.com/office/drawing/2010/main">
        <mc:Choice Requires="a14">
          <p:graphicFrame>
            <p:nvGraphicFramePr>
              <p:cNvPr id="2" name="表格 1">
                <a:extLst>
                  <a:ext uri="{FF2B5EF4-FFF2-40B4-BE49-F238E27FC236}">
                    <a16:creationId xmlns:a16="http://schemas.microsoft.com/office/drawing/2014/main" id="{C4059E80-F570-44D1-B588-4719D5A2C4E4}"/>
                  </a:ext>
                </a:extLst>
              </p:cNvPr>
              <p:cNvGraphicFramePr>
                <a:graphicFrameLocks noGrp="1"/>
              </p:cNvGraphicFramePr>
              <p:nvPr>
                <p:extLst>
                  <p:ext uri="{D42A27DB-BD31-4B8C-83A1-F6EECF244321}">
                    <p14:modId xmlns:p14="http://schemas.microsoft.com/office/powerpoint/2010/main" val="2474941356"/>
                  </p:ext>
                </p:extLst>
              </p:nvPr>
            </p:nvGraphicFramePr>
            <p:xfrm>
              <a:off x="292075" y="1366736"/>
              <a:ext cx="8548892" cy="3749040"/>
            </p:xfrm>
            <a:graphic>
              <a:graphicData uri="http://schemas.openxmlformats.org/drawingml/2006/table">
                <a:tbl>
                  <a:tblPr firstRow="1" bandRow="1">
                    <a:tableStyleId>{5940675A-B579-460E-94D1-54222C63F5DA}</a:tableStyleId>
                  </a:tblPr>
                  <a:tblGrid>
                    <a:gridCol w="1424815">
                      <a:extLst>
                        <a:ext uri="{9D8B030D-6E8A-4147-A177-3AD203B41FA5}">
                          <a16:colId xmlns:a16="http://schemas.microsoft.com/office/drawing/2014/main" val="20000"/>
                        </a:ext>
                      </a:extLst>
                    </a:gridCol>
                    <a:gridCol w="1530410">
                      <a:extLst>
                        <a:ext uri="{9D8B030D-6E8A-4147-A177-3AD203B41FA5}">
                          <a16:colId xmlns:a16="http://schemas.microsoft.com/office/drawing/2014/main" val="20001"/>
                        </a:ext>
                      </a:extLst>
                    </a:gridCol>
                    <a:gridCol w="1559001">
                      <a:extLst>
                        <a:ext uri="{9D8B030D-6E8A-4147-A177-3AD203B41FA5}">
                          <a16:colId xmlns:a16="http://schemas.microsoft.com/office/drawing/2014/main" val="176215867"/>
                        </a:ext>
                      </a:extLst>
                    </a:gridCol>
                    <a:gridCol w="1636951">
                      <a:extLst>
                        <a:ext uri="{9D8B030D-6E8A-4147-A177-3AD203B41FA5}">
                          <a16:colId xmlns:a16="http://schemas.microsoft.com/office/drawing/2014/main" val="324101211"/>
                        </a:ext>
                      </a:extLst>
                    </a:gridCol>
                    <a:gridCol w="1247201">
                      <a:extLst>
                        <a:ext uri="{9D8B030D-6E8A-4147-A177-3AD203B41FA5}">
                          <a16:colId xmlns:a16="http://schemas.microsoft.com/office/drawing/2014/main" val="2409802141"/>
                        </a:ext>
                      </a:extLst>
                    </a:gridCol>
                    <a:gridCol w="1150514">
                      <a:extLst>
                        <a:ext uri="{9D8B030D-6E8A-4147-A177-3AD203B41FA5}">
                          <a16:colId xmlns:a16="http://schemas.microsoft.com/office/drawing/2014/main" val="892046538"/>
                        </a:ext>
                      </a:extLst>
                    </a:gridCol>
                  </a:tblGrid>
                  <a:tr h="0">
                    <a:tc rowSpan="2">
                      <a:txBody>
                        <a:bodyPr/>
                        <a:lstStyle/>
                        <a:p>
                          <a:pPr algn="ctr"/>
                          <a:r>
                            <a:rPr lang="en-US" altLang="zh-TW" sz="2000" b="1" dirty="0">
                              <a:latin typeface="Times New Roman" panose="02020603050405020304" pitchFamily="18" charset="0"/>
                              <a:ea typeface="+mn-ea"/>
                              <a:cs typeface="Times New Roman" panose="02020603050405020304" pitchFamily="18" charset="0"/>
                            </a:rPr>
                            <a:t>Amino acid</a:t>
                          </a:r>
                        </a:p>
                        <a:p>
                          <a:pPr algn="ctr"/>
                          <a:r>
                            <a:rPr lang="en-US" altLang="zh-TW" sz="2000" b="1" dirty="0">
                              <a:latin typeface="Times New Roman" panose="02020603050405020304" pitchFamily="18" charset="0"/>
                              <a:ea typeface="+mn-ea"/>
                              <a:cs typeface="Times New Roman" panose="02020603050405020304" pitchFamily="18" charset="0"/>
                            </a:rPr>
                            <a:t>symbols</a:t>
                          </a:r>
                          <a:endParaRPr lang="zh-TW" altLang="en-US" sz="20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solidFill>
                          <a:schemeClr val="accent2">
                            <a:lumMod val="20000"/>
                            <a:lumOff val="80000"/>
                          </a:schemeClr>
                        </a:solidFill>
                      </a:tcPr>
                    </a:tc>
                    <a:tc gridSpan="3">
                      <a:txBody>
                        <a:bodyPr/>
                        <a:lstStyle/>
                        <a:p>
                          <a:pPr algn="ctr"/>
                          <a:r>
                            <a:rPr lang="en-US" altLang="zh-TW" sz="1800" b="1" dirty="0">
                              <a:latin typeface="Times New Roman" panose="02020603050405020304" pitchFamily="18" charset="0"/>
                              <a:cs typeface="Times New Roman" panose="02020603050405020304" pitchFamily="18" charset="0"/>
                            </a:rPr>
                            <a:t>Average differences </a:t>
                          </a:r>
                          <a:endParaRPr lang="zh-TW" altLang="en-US" sz="1800" b="0"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hMerge="1">
                      <a:txBody>
                        <a:bodyPr/>
                        <a:lstStyle/>
                        <a:p>
                          <a:pPr algn="ctr"/>
                          <a:endParaRPr lang="en-US" altLang="zh-TW" sz="1800" b="0" dirty="0">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hMerge="1">
                      <a:txBody>
                        <a:bodyPr/>
                        <a:lstStyle/>
                        <a:p>
                          <a:pPr algn="ctr"/>
                          <a:endParaRPr lang="zh-TW" altLang="en-US" sz="1800" b="0"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gridSpan="2">
                      <a:txBody>
                        <a:bodyPr/>
                        <a:lstStyle/>
                        <a:p>
                          <a:pPr algn="ctr"/>
                          <a:r>
                            <a:rPr lang="en-US" altLang="zh-TW" sz="1800" b="1" dirty="0">
                              <a:latin typeface="Times New Roman" panose="02020603050405020304" pitchFamily="18" charset="0"/>
                              <a:cs typeface="Times New Roman" panose="02020603050405020304" pitchFamily="18" charset="0"/>
                            </a:rPr>
                            <a:t>Average</a:t>
                          </a:r>
                          <a:r>
                            <a:rPr lang="zh-TW" altLang="en-US" sz="1800" b="1" dirty="0">
                              <a:latin typeface="Times New Roman" panose="02020603050405020304" pitchFamily="18" charset="0"/>
                              <a:cs typeface="Times New Roman" panose="02020603050405020304" pitchFamily="18" charset="0"/>
                            </a:rPr>
                            <a:t> </a:t>
                          </a:r>
                          <a:r>
                            <a:rPr lang="en-US" altLang="zh-TW" sz="1800" b="1" dirty="0">
                              <a:latin typeface="Times New Roman" panose="02020603050405020304" pitchFamily="18" charset="0"/>
                              <a:cs typeface="Times New Roman" panose="02020603050405020304" pitchFamily="18" charset="0"/>
                            </a:rPr>
                            <a:t>scores</a:t>
                          </a:r>
                          <a:endParaRPr lang="zh-TW" altLang="en-US" sz="1800" b="0"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0" dirty="0">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806245197"/>
                      </a:ext>
                    </a:extLst>
                  </a:tr>
                  <a:tr h="0">
                    <a:tc vMerge="1">
                      <a:txBody>
                        <a:bodyPr/>
                        <a:lstStyle/>
                        <a:p>
                          <a:pPr algn="ctr"/>
                          <a:endParaRPr lang="zh-TW" altLang="en-US" sz="20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solidFill>
                          <a:schemeClr val="accent2">
                            <a:lumMod val="20000"/>
                            <a:lumOff val="80000"/>
                          </a:schemeClr>
                        </a:solidFill>
                      </a:tcPr>
                    </a:tc>
                    <a:tc>
                      <a:txBody>
                        <a:bodyPr/>
                        <a:lstStyle/>
                        <a:p>
                          <a:pPr algn="ctr"/>
                          <a:r>
                            <a:rPr lang="en-US" altLang="zh-TW" sz="1800" b="0" dirty="0">
                              <a:latin typeface="Times New Roman" panose="02020603050405020304" pitchFamily="18" charset="0"/>
                              <a:ea typeface="+mn-ea"/>
                              <a:cs typeface="Times New Roman" panose="02020603050405020304" pitchFamily="18" charset="0"/>
                            </a:rPr>
                            <a:t>GAHS27 VS BLOSUM62 </a:t>
                          </a:r>
                          <a:endParaRPr lang="zh-TW" altLang="en-US" sz="1800" b="0"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altLang="zh-TW" sz="1800" b="0" dirty="0">
                              <a:latin typeface="Times New Roman" panose="02020603050405020304" pitchFamily="18" charset="0"/>
                              <a:ea typeface="+mn-ea"/>
                              <a:cs typeface="Times New Roman" panose="02020603050405020304" pitchFamily="18" charset="0"/>
                            </a:rPr>
                            <a:t>GAHS27 VS PAM250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altLang="zh-TW" sz="1800" b="0" dirty="0">
                              <a:latin typeface="Times New Roman" panose="02020603050405020304" pitchFamily="18" charset="0"/>
                              <a:ea typeface="+mn-ea"/>
                              <a:cs typeface="Times New Roman" panose="02020603050405020304" pitchFamily="18" charset="0"/>
                            </a:rPr>
                            <a:t>GAHS27 VS EDSSMAT62</a:t>
                          </a:r>
                          <a:endParaRPr lang="zh-TW" altLang="en-US" sz="1800" b="0"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altLang="zh-TW" sz="1800" b="0" dirty="0">
                              <a:latin typeface="Times New Roman" panose="02020603050405020304" pitchFamily="18" charset="0"/>
                              <a:ea typeface="新細明體" panose="02020500000000000000" pitchFamily="18" charset="-120"/>
                              <a:cs typeface="Times New Roman" panose="02020603050405020304" pitchFamily="18" charset="0"/>
                            </a:rPr>
                            <a:t>EDSSMAT62</a:t>
                          </a:r>
                          <a:endParaRPr lang="zh-TW" altLang="en-US" sz="1800" b="0"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000" b="0" dirty="0">
                              <a:latin typeface="Times New Roman" panose="02020603050405020304" pitchFamily="18" charset="0"/>
                              <a:ea typeface="+mn-ea"/>
                              <a:cs typeface="Times New Roman" panose="02020603050405020304" pitchFamily="18" charset="0"/>
                            </a:rPr>
                            <a:t>GAHS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000" b="0" dirty="0">
                              <a:latin typeface="Times New Roman" panose="02020603050405020304" pitchFamily="18" charset="0"/>
                              <a:ea typeface="+mn-ea"/>
                              <a:cs typeface="Times New Roman" panose="02020603050405020304" pitchFamily="18" charset="0"/>
                            </a:rPr>
                            <a:t>27</a:t>
                          </a:r>
                          <a:endParaRPr lang="zh-TW" altLang="en-US" sz="2000" b="0" dirty="0">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0"/>
                      </a:ext>
                    </a:extLst>
                  </a:tr>
                  <a:tr h="195393">
                    <a:tc>
                      <a:txBody>
                        <a:bodyPr/>
                        <a:lstStyle/>
                        <a:p>
                          <a:pPr algn="ctr"/>
                          <a:r>
                            <a:rPr lang="en-US" altLang="zh-TW" sz="2000" b="1" dirty="0">
                              <a:latin typeface="Courier"/>
                              <a:cs typeface="Times New Roman" panose="02020603050405020304" pitchFamily="18" charset="0"/>
                            </a:rPr>
                            <a:t>R</a:t>
                          </a:r>
                          <a:endParaRPr lang="zh-TW" altLang="en-US" sz="2000" b="1" dirty="0">
                            <a:latin typeface="Courier"/>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−0.6</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−1.0</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0.1</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−1.7</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−1.6</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95393">
                    <a:tc>
                      <a:txBody>
                        <a:bodyPr/>
                        <a:lstStyle/>
                        <a:p>
                          <a:pPr algn="ctr"/>
                          <a:r>
                            <a:rPr lang="en-US" altLang="zh-TW" sz="2000" b="1" dirty="0">
                              <a:latin typeface="Courier"/>
                              <a:ea typeface="新細明體" panose="02020500000000000000" pitchFamily="18" charset="-120"/>
                              <a:cs typeface="Times New Roman" panose="02020603050405020304" pitchFamily="18" charset="0"/>
                            </a:rPr>
                            <a:t>D</a:t>
                          </a:r>
                          <a:endParaRPr lang="zh-TW" altLang="en-US" sz="2000" b="1" dirty="0">
                            <a:latin typeface="Courier"/>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−1.1</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−1.3</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−0.3</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−1.8</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3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−2.1</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2346040"/>
                      </a:ext>
                    </a:extLst>
                  </a:tr>
                  <a:tr h="0">
                    <a:tc>
                      <a:txBody>
                        <a:bodyPr/>
                        <a:lstStyle/>
                        <a:p>
                          <a:pPr algn="ctr"/>
                          <a:r>
                            <a:rPr lang="en-US" altLang="zh-TW" sz="2000" b="1" dirty="0">
                              <a:latin typeface="Courier"/>
                              <a:cs typeface="Times New Roman" panose="02020603050405020304" pitchFamily="18" charset="0"/>
                            </a:rPr>
                            <a:t>T</a:t>
                          </a:r>
                          <a:endParaRPr lang="zh-TW" altLang="en-US" sz="2000" b="1" dirty="0">
                            <a:latin typeface="Courier"/>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0.4</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1.1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0.3</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1.0</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1.1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−1.3</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−0.3</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29913141"/>
                      </a:ext>
                    </a:extLst>
                  </a:tr>
                  <a:tr h="0">
                    <a:tc>
                      <a:txBody>
                        <a:bodyPr/>
                        <a:lstStyle/>
                        <a:p>
                          <a:pPr algn="ctr"/>
                          <a:r>
                            <a:rPr lang="en-US" altLang="zh-TW" sz="2000" b="1" dirty="0">
                              <a:latin typeface="Courier"/>
                              <a:cs typeface="Times New Roman" panose="02020603050405020304" pitchFamily="18" charset="0"/>
                            </a:rPr>
                            <a:t>B</a:t>
                          </a:r>
                          <a:endParaRPr lang="zh-TW" altLang="en-US" sz="2000" b="1" dirty="0">
                            <a:latin typeface="Courier"/>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0.0</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−0.3</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0.5</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1.7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−1.4</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−0.9</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5458619"/>
                      </a:ext>
                    </a:extLst>
                  </a:tr>
                  <a:tr h="0">
                    <a:tc>
                      <a:txBody>
                        <a:bodyPr/>
                        <a:lstStyle/>
                        <a:p>
                          <a:pPr algn="ctr"/>
                          <a:r>
                            <a:rPr lang="en-US" altLang="zh-TW" sz="2000" b="1" dirty="0">
                              <a:latin typeface="Courier"/>
                              <a:cs typeface="Times New Roman" panose="02020603050405020304" pitchFamily="18" charset="0"/>
                            </a:rPr>
                            <a:t>Z</a:t>
                          </a:r>
                          <a:endParaRPr lang="zh-TW" altLang="en-US" sz="2000" b="1" dirty="0">
                            <a:latin typeface="Courier"/>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0.0</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0.1</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2.4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0.7</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−1.2</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−0.5</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518905"/>
                      </a:ext>
                    </a:extLst>
                  </a:tr>
                  <a:tr h="0">
                    <a:tc>
                      <a:txBody>
                        <a:bodyPr/>
                        <a:lstStyle/>
                        <a:p>
                          <a:pPr algn="ctr"/>
                          <a:r>
                            <a:rPr lang="en-US" altLang="zh-TW" sz="2000" b="1" dirty="0">
                              <a:latin typeface="Courier"/>
                              <a:cs typeface="Times New Roman" panose="02020603050405020304" pitchFamily="18" charset="0"/>
                            </a:rPr>
                            <a:t>X</a:t>
                          </a:r>
                          <a:endParaRPr lang="zh-TW" altLang="en-US" sz="2000" b="1" dirty="0">
                            <a:latin typeface="Courier"/>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0.7</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0.8</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1.9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0.8</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−1.1</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1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−0.3</a:t>
                          </a:r>
                          <a14:m>
                            <m:oMath xmlns:m="http://schemas.openxmlformats.org/officeDocument/2006/math">
                              <m:r>
                                <a:rPr lang="en-US" altLang="zh-TW" sz="2000" b="0" dirty="0" smtClean="0">
                                  <a:ln w="0"/>
                                  <a:solidFill>
                                    <a:schemeClr val="tx1"/>
                                  </a:solidFill>
                                  <a:effectLst/>
                                  <a:latin typeface="Cambria Math" panose="02040503050406030204" pitchFamily="18" charset="0"/>
                                </a:rPr>
                                <m:t>±</m:t>
                              </m:r>
                            </m:oMath>
                          </a14:m>
                          <a:r>
                            <a:rPr lang="en-US" altLang="zh-TW" sz="2000" b="0" dirty="0">
                              <a:ln w="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71890145"/>
                      </a:ext>
                    </a:extLst>
                  </a:tr>
                </a:tbl>
              </a:graphicData>
            </a:graphic>
          </p:graphicFrame>
        </mc:Choice>
        <mc:Fallback xmlns="">
          <p:graphicFrame>
            <p:nvGraphicFramePr>
              <p:cNvPr id="2" name="表格 1">
                <a:extLst>
                  <a:ext uri="{FF2B5EF4-FFF2-40B4-BE49-F238E27FC236}">
                    <a16:creationId xmlns:a16="http://schemas.microsoft.com/office/drawing/2014/main" id="{C4059E80-F570-44D1-B588-4719D5A2C4E4}"/>
                  </a:ext>
                </a:extLst>
              </p:cNvPr>
              <p:cNvGraphicFramePr>
                <a:graphicFrameLocks noGrp="1"/>
              </p:cNvGraphicFramePr>
              <p:nvPr>
                <p:extLst>
                  <p:ext uri="{D42A27DB-BD31-4B8C-83A1-F6EECF244321}">
                    <p14:modId xmlns:p14="http://schemas.microsoft.com/office/powerpoint/2010/main" val="2474941356"/>
                  </p:ext>
                </p:extLst>
              </p:nvPr>
            </p:nvGraphicFramePr>
            <p:xfrm>
              <a:off x="292075" y="1366736"/>
              <a:ext cx="8548892" cy="3749040"/>
            </p:xfrm>
            <a:graphic>
              <a:graphicData uri="http://schemas.openxmlformats.org/drawingml/2006/table">
                <a:tbl>
                  <a:tblPr firstRow="1" bandRow="1">
                    <a:tableStyleId>{5940675A-B579-460E-94D1-54222C63F5DA}</a:tableStyleId>
                  </a:tblPr>
                  <a:tblGrid>
                    <a:gridCol w="1424815">
                      <a:extLst>
                        <a:ext uri="{9D8B030D-6E8A-4147-A177-3AD203B41FA5}">
                          <a16:colId xmlns:a16="http://schemas.microsoft.com/office/drawing/2014/main" val="20000"/>
                        </a:ext>
                      </a:extLst>
                    </a:gridCol>
                    <a:gridCol w="1530410">
                      <a:extLst>
                        <a:ext uri="{9D8B030D-6E8A-4147-A177-3AD203B41FA5}">
                          <a16:colId xmlns:a16="http://schemas.microsoft.com/office/drawing/2014/main" val="20001"/>
                        </a:ext>
                      </a:extLst>
                    </a:gridCol>
                    <a:gridCol w="1559001">
                      <a:extLst>
                        <a:ext uri="{9D8B030D-6E8A-4147-A177-3AD203B41FA5}">
                          <a16:colId xmlns:a16="http://schemas.microsoft.com/office/drawing/2014/main" val="176215867"/>
                        </a:ext>
                      </a:extLst>
                    </a:gridCol>
                    <a:gridCol w="1636951">
                      <a:extLst>
                        <a:ext uri="{9D8B030D-6E8A-4147-A177-3AD203B41FA5}">
                          <a16:colId xmlns:a16="http://schemas.microsoft.com/office/drawing/2014/main" val="324101211"/>
                        </a:ext>
                      </a:extLst>
                    </a:gridCol>
                    <a:gridCol w="1247201">
                      <a:extLst>
                        <a:ext uri="{9D8B030D-6E8A-4147-A177-3AD203B41FA5}">
                          <a16:colId xmlns:a16="http://schemas.microsoft.com/office/drawing/2014/main" val="2409802141"/>
                        </a:ext>
                      </a:extLst>
                    </a:gridCol>
                    <a:gridCol w="1150514">
                      <a:extLst>
                        <a:ext uri="{9D8B030D-6E8A-4147-A177-3AD203B41FA5}">
                          <a16:colId xmlns:a16="http://schemas.microsoft.com/office/drawing/2014/main" val="892046538"/>
                        </a:ext>
                      </a:extLst>
                    </a:gridCol>
                  </a:tblGrid>
                  <a:tr h="365760">
                    <a:tc rowSpan="2">
                      <a:txBody>
                        <a:bodyPr/>
                        <a:lstStyle/>
                        <a:p>
                          <a:pPr algn="ctr"/>
                          <a:r>
                            <a:rPr lang="en-US" altLang="zh-TW" sz="2000" b="1" dirty="0">
                              <a:latin typeface="Times New Roman" panose="02020603050405020304" pitchFamily="18" charset="0"/>
                              <a:ea typeface="+mn-ea"/>
                              <a:cs typeface="Times New Roman" panose="02020603050405020304" pitchFamily="18" charset="0"/>
                            </a:rPr>
                            <a:t>Amino acid</a:t>
                          </a:r>
                        </a:p>
                        <a:p>
                          <a:pPr algn="ctr"/>
                          <a:r>
                            <a:rPr lang="en-US" altLang="zh-TW" sz="2000" b="1" dirty="0">
                              <a:latin typeface="Times New Roman" panose="02020603050405020304" pitchFamily="18" charset="0"/>
                              <a:ea typeface="+mn-ea"/>
                              <a:cs typeface="Times New Roman" panose="02020603050405020304" pitchFamily="18" charset="0"/>
                            </a:rPr>
                            <a:t>symbols</a:t>
                          </a:r>
                          <a:endParaRPr lang="zh-TW" altLang="en-US" sz="20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solidFill>
                          <a:schemeClr val="accent2">
                            <a:lumMod val="20000"/>
                            <a:lumOff val="80000"/>
                          </a:schemeClr>
                        </a:solidFill>
                      </a:tcPr>
                    </a:tc>
                    <a:tc gridSpan="3">
                      <a:txBody>
                        <a:bodyPr/>
                        <a:lstStyle/>
                        <a:p>
                          <a:pPr algn="ctr"/>
                          <a:r>
                            <a:rPr lang="en-US" altLang="zh-TW" sz="1800" b="1" dirty="0">
                              <a:latin typeface="Times New Roman" panose="02020603050405020304" pitchFamily="18" charset="0"/>
                              <a:cs typeface="Times New Roman" panose="02020603050405020304" pitchFamily="18" charset="0"/>
                            </a:rPr>
                            <a:t>Average differences </a:t>
                          </a:r>
                          <a:endParaRPr lang="zh-TW" altLang="en-US" sz="1800" b="0"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hMerge="1">
                      <a:txBody>
                        <a:bodyPr/>
                        <a:lstStyle/>
                        <a:p>
                          <a:pPr algn="ctr"/>
                          <a:endParaRPr lang="en-US" altLang="zh-TW" sz="1800" b="0" dirty="0">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hMerge="1">
                      <a:txBody>
                        <a:bodyPr/>
                        <a:lstStyle/>
                        <a:p>
                          <a:pPr algn="ctr"/>
                          <a:endParaRPr lang="zh-TW" altLang="en-US" sz="1800" b="0"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gridSpan="2">
                      <a:txBody>
                        <a:bodyPr/>
                        <a:lstStyle/>
                        <a:p>
                          <a:pPr algn="ctr"/>
                          <a:r>
                            <a:rPr lang="en-US" altLang="zh-TW" sz="1800" b="1" dirty="0">
                              <a:latin typeface="Times New Roman" panose="02020603050405020304" pitchFamily="18" charset="0"/>
                              <a:cs typeface="Times New Roman" panose="02020603050405020304" pitchFamily="18" charset="0"/>
                            </a:rPr>
                            <a:t>Average</a:t>
                          </a:r>
                          <a:r>
                            <a:rPr lang="zh-TW" altLang="en-US" sz="1800" b="1" dirty="0">
                              <a:latin typeface="Times New Roman" panose="02020603050405020304" pitchFamily="18" charset="0"/>
                              <a:cs typeface="Times New Roman" panose="02020603050405020304" pitchFamily="18" charset="0"/>
                            </a:rPr>
                            <a:t> </a:t>
                          </a:r>
                          <a:r>
                            <a:rPr lang="en-US" altLang="zh-TW" sz="1800" b="1" dirty="0">
                              <a:latin typeface="Times New Roman" panose="02020603050405020304" pitchFamily="18" charset="0"/>
                              <a:cs typeface="Times New Roman" panose="02020603050405020304" pitchFamily="18" charset="0"/>
                            </a:rPr>
                            <a:t>scores</a:t>
                          </a:r>
                          <a:endParaRPr lang="zh-TW" altLang="en-US" sz="1800" b="0"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0" dirty="0">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806245197"/>
                      </a:ext>
                    </a:extLst>
                  </a:tr>
                  <a:tr h="701040">
                    <a:tc vMerge="1">
                      <a:txBody>
                        <a:bodyPr/>
                        <a:lstStyle/>
                        <a:p>
                          <a:pPr algn="ctr"/>
                          <a:endParaRPr lang="zh-TW" altLang="en-US" sz="2000" b="1"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lnBlToTr w="12700" cmpd="sng">
                          <a:noFill/>
                          <a:prstDash val="solid"/>
                        </a:lnBlToTr>
                        <a:solidFill>
                          <a:schemeClr val="accent2">
                            <a:lumMod val="20000"/>
                            <a:lumOff val="80000"/>
                          </a:schemeClr>
                        </a:solidFill>
                      </a:tcPr>
                    </a:tc>
                    <a:tc>
                      <a:txBody>
                        <a:bodyPr/>
                        <a:lstStyle/>
                        <a:p>
                          <a:pPr algn="ctr"/>
                          <a:r>
                            <a:rPr lang="en-US" altLang="zh-TW" sz="1800" b="0" dirty="0">
                              <a:latin typeface="Times New Roman" panose="02020603050405020304" pitchFamily="18" charset="0"/>
                              <a:ea typeface="+mn-ea"/>
                              <a:cs typeface="Times New Roman" panose="02020603050405020304" pitchFamily="18" charset="0"/>
                            </a:rPr>
                            <a:t>GAHS27 VS BLOSUM62 </a:t>
                          </a:r>
                          <a:endParaRPr lang="zh-TW" altLang="en-US" sz="1800" b="0"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altLang="zh-TW" sz="1800" b="0" dirty="0">
                              <a:latin typeface="Times New Roman" panose="02020603050405020304" pitchFamily="18" charset="0"/>
                              <a:ea typeface="+mn-ea"/>
                              <a:cs typeface="Times New Roman" panose="02020603050405020304" pitchFamily="18" charset="0"/>
                            </a:rPr>
                            <a:t>GAHS27 VS PAM250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altLang="zh-TW" sz="1800" b="0" dirty="0">
                              <a:latin typeface="Times New Roman" panose="02020603050405020304" pitchFamily="18" charset="0"/>
                              <a:ea typeface="+mn-ea"/>
                              <a:cs typeface="Times New Roman" panose="02020603050405020304" pitchFamily="18" charset="0"/>
                            </a:rPr>
                            <a:t>GAHS27 VS EDSSMAT62</a:t>
                          </a:r>
                          <a:endParaRPr lang="zh-TW" altLang="en-US" sz="1800" b="0"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altLang="zh-TW" sz="1800" b="0" dirty="0">
                              <a:latin typeface="Times New Roman" panose="02020603050405020304" pitchFamily="18" charset="0"/>
                              <a:ea typeface="新細明體" panose="02020500000000000000" pitchFamily="18" charset="-120"/>
                              <a:cs typeface="Times New Roman" panose="02020603050405020304" pitchFamily="18" charset="0"/>
                            </a:rPr>
                            <a:t>EDSSMAT62</a:t>
                          </a:r>
                          <a:endParaRPr lang="zh-TW" altLang="en-US" sz="1800" b="0" dirty="0">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000" b="0" dirty="0">
                              <a:latin typeface="Times New Roman" panose="02020603050405020304" pitchFamily="18" charset="0"/>
                              <a:ea typeface="+mn-ea"/>
                              <a:cs typeface="Times New Roman" panose="02020603050405020304" pitchFamily="18" charset="0"/>
                            </a:rPr>
                            <a:t>GAHS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000" b="0" dirty="0">
                              <a:latin typeface="Times New Roman" panose="02020603050405020304" pitchFamily="18" charset="0"/>
                              <a:ea typeface="+mn-ea"/>
                              <a:cs typeface="Times New Roman" panose="02020603050405020304" pitchFamily="18" charset="0"/>
                            </a:rPr>
                            <a:t>27</a:t>
                          </a:r>
                          <a:endParaRPr lang="zh-TW" altLang="en-US" sz="2000" b="0" dirty="0">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0"/>
                      </a:ext>
                    </a:extLst>
                  </a:tr>
                  <a:tr h="701040">
                    <a:tc>
                      <a:txBody>
                        <a:bodyPr/>
                        <a:lstStyle/>
                        <a:p>
                          <a:pPr algn="ctr"/>
                          <a:r>
                            <a:rPr lang="en-US" altLang="zh-TW" sz="2000" b="1" dirty="0">
                              <a:latin typeface="Courier"/>
                              <a:cs typeface="Times New Roman" panose="02020603050405020304" pitchFamily="18" charset="0"/>
                            </a:rPr>
                            <a:t>R</a:t>
                          </a:r>
                          <a:endParaRPr lang="zh-TW" altLang="en-US" sz="2000" b="1" dirty="0">
                            <a:latin typeface="Courier"/>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3625" t="-156522" r="-366932" b="-29913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89844" t="-156522" r="-259766" b="-29913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75836" t="-156522" r="-147212" b="-29913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93171" t="-156522" r="-93171" b="-29913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43386" t="-156522" r="-1058" b="-299130"/>
                          </a:stretch>
                        </a:blipFill>
                      </a:tcPr>
                    </a:tc>
                    <a:extLst>
                      <a:ext uri="{0D108BD9-81ED-4DB2-BD59-A6C34878D82A}">
                        <a16:rowId xmlns:a16="http://schemas.microsoft.com/office/drawing/2014/main" val="10001"/>
                      </a:ext>
                    </a:extLst>
                  </a:tr>
                  <a:tr h="396240">
                    <a:tc>
                      <a:txBody>
                        <a:bodyPr/>
                        <a:lstStyle/>
                        <a:p>
                          <a:pPr algn="ctr"/>
                          <a:r>
                            <a:rPr lang="en-US" altLang="zh-TW" sz="2000" b="1" dirty="0">
                              <a:latin typeface="Courier"/>
                              <a:ea typeface="新細明體" panose="02020500000000000000" pitchFamily="18" charset="-120"/>
                              <a:cs typeface="Times New Roman" panose="02020603050405020304" pitchFamily="18" charset="0"/>
                            </a:rPr>
                            <a:t>D</a:t>
                          </a:r>
                          <a:endParaRPr lang="zh-TW" altLang="en-US" sz="2000" b="1" dirty="0">
                            <a:latin typeface="Courier"/>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3625" t="-446970" r="-366932" b="-42121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89844" t="-446970" r="-259766" b="-42121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75836" t="-446970" r="-147212" b="-42121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93171" t="-446970" r="-93171" b="-42121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43386" t="-446970" r="-1058" b="-421212"/>
                          </a:stretch>
                        </a:blipFill>
                      </a:tcPr>
                    </a:tc>
                    <a:extLst>
                      <a:ext uri="{0D108BD9-81ED-4DB2-BD59-A6C34878D82A}">
                        <a16:rowId xmlns:a16="http://schemas.microsoft.com/office/drawing/2014/main" val="2482346040"/>
                      </a:ext>
                    </a:extLst>
                  </a:tr>
                  <a:tr h="396240">
                    <a:tc>
                      <a:txBody>
                        <a:bodyPr/>
                        <a:lstStyle/>
                        <a:p>
                          <a:pPr algn="ctr"/>
                          <a:r>
                            <a:rPr lang="en-US" altLang="zh-TW" sz="2000" b="1" dirty="0">
                              <a:latin typeface="Courier"/>
                              <a:cs typeface="Times New Roman" panose="02020603050405020304" pitchFamily="18" charset="0"/>
                            </a:rPr>
                            <a:t>T</a:t>
                          </a:r>
                          <a:endParaRPr lang="zh-TW" altLang="en-US" sz="2000" b="1" dirty="0">
                            <a:latin typeface="Courier"/>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3625" t="-555385" r="-366932" b="-3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89844" t="-555385" r="-259766" b="-3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75836" t="-555385" r="-147212" b="-3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93171" t="-555385" r="-93171" b="-3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43386" t="-555385" r="-1058" b="-327692"/>
                          </a:stretch>
                        </a:blipFill>
                      </a:tcPr>
                    </a:tc>
                    <a:extLst>
                      <a:ext uri="{0D108BD9-81ED-4DB2-BD59-A6C34878D82A}">
                        <a16:rowId xmlns:a16="http://schemas.microsoft.com/office/drawing/2014/main" val="4129913141"/>
                      </a:ext>
                    </a:extLst>
                  </a:tr>
                  <a:tr h="396240">
                    <a:tc>
                      <a:txBody>
                        <a:bodyPr/>
                        <a:lstStyle/>
                        <a:p>
                          <a:pPr algn="ctr"/>
                          <a:r>
                            <a:rPr lang="en-US" altLang="zh-TW" sz="2000" b="1" dirty="0">
                              <a:latin typeface="Courier"/>
                              <a:cs typeface="Times New Roman" panose="02020603050405020304" pitchFamily="18" charset="0"/>
                            </a:rPr>
                            <a:t>B</a:t>
                          </a:r>
                          <a:endParaRPr lang="zh-TW" altLang="en-US" sz="2000" b="1" dirty="0">
                            <a:latin typeface="Courier"/>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3625" t="-655385" r="-366932" b="-2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89844" t="-655385" r="-259766" b="-2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75836" t="-655385" r="-147212" b="-2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93171" t="-655385" r="-93171" b="-2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43386" t="-655385" r="-1058" b="-227692"/>
                          </a:stretch>
                        </a:blipFill>
                      </a:tcPr>
                    </a:tc>
                    <a:extLst>
                      <a:ext uri="{0D108BD9-81ED-4DB2-BD59-A6C34878D82A}">
                        <a16:rowId xmlns:a16="http://schemas.microsoft.com/office/drawing/2014/main" val="1235458619"/>
                      </a:ext>
                    </a:extLst>
                  </a:tr>
                  <a:tr h="396240">
                    <a:tc>
                      <a:txBody>
                        <a:bodyPr/>
                        <a:lstStyle/>
                        <a:p>
                          <a:pPr algn="ctr"/>
                          <a:r>
                            <a:rPr lang="en-US" altLang="zh-TW" sz="2000" b="1" dirty="0">
                              <a:latin typeface="Courier"/>
                              <a:cs typeface="Times New Roman" panose="02020603050405020304" pitchFamily="18" charset="0"/>
                            </a:rPr>
                            <a:t>Z</a:t>
                          </a:r>
                          <a:endParaRPr lang="zh-TW" altLang="en-US" sz="2000" b="1" dirty="0">
                            <a:latin typeface="Courier"/>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3625" t="-755385" r="-366932" b="-1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89844" t="-755385" r="-259766" b="-1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75836" t="-755385" r="-147212" b="-1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93171" t="-755385" r="-93171" b="-1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43386" t="-755385" r="-1058" b="-127692"/>
                          </a:stretch>
                        </a:blipFill>
                      </a:tcPr>
                    </a:tc>
                    <a:extLst>
                      <a:ext uri="{0D108BD9-81ED-4DB2-BD59-A6C34878D82A}">
                        <a16:rowId xmlns:a16="http://schemas.microsoft.com/office/drawing/2014/main" val="354518905"/>
                      </a:ext>
                    </a:extLst>
                  </a:tr>
                  <a:tr h="396240">
                    <a:tc>
                      <a:txBody>
                        <a:bodyPr/>
                        <a:lstStyle/>
                        <a:p>
                          <a:pPr algn="ctr"/>
                          <a:r>
                            <a:rPr lang="en-US" altLang="zh-TW" sz="2000" b="1" dirty="0">
                              <a:latin typeface="Courier"/>
                              <a:cs typeface="Times New Roman" panose="02020603050405020304" pitchFamily="18" charset="0"/>
                            </a:rPr>
                            <a:t>X</a:t>
                          </a:r>
                          <a:endParaRPr lang="zh-TW" altLang="en-US" sz="2000" b="1" dirty="0">
                            <a:latin typeface="Courier"/>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3625" t="-855385" r="-366932" b="-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89844" t="-855385" r="-259766" b="-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75836" t="-855385" r="-147212" b="-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93171" t="-855385" r="-93171" b="-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43386" t="-855385" r="-1058" b="-27692"/>
                          </a:stretch>
                        </a:blipFill>
                      </a:tcPr>
                    </a:tc>
                    <a:extLst>
                      <a:ext uri="{0D108BD9-81ED-4DB2-BD59-A6C34878D82A}">
                        <a16:rowId xmlns:a16="http://schemas.microsoft.com/office/drawing/2014/main" val="4271890145"/>
                      </a:ext>
                    </a:extLst>
                  </a:tr>
                </a:tbl>
              </a:graphicData>
            </a:graphic>
          </p:graphicFrame>
        </mc:Fallback>
      </mc:AlternateContent>
    </p:spTree>
    <p:extLst>
      <p:ext uri="{BB962C8B-B14F-4D97-AF65-F5344CB8AC3E}">
        <p14:creationId xmlns:p14="http://schemas.microsoft.com/office/powerpoint/2010/main" val="5205310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412776" y="160337"/>
            <a:ext cx="8229600" cy="1143000"/>
          </a:xfrm>
        </p:spPr>
        <p:txBody>
          <a:bodyPr/>
          <a:lstStyle/>
          <a:p>
            <a:r>
              <a:rPr lang="en-US" altLang="zh-TW" b="1" dirty="0">
                <a:latin typeface="Times New Roman" pitchFamily="18" charset="0"/>
                <a:cs typeface="Times New Roman" pitchFamily="18" charset="0"/>
              </a:rPr>
              <a:t>Conclusion</a:t>
            </a:r>
            <a:endParaRPr lang="zh-TW" altLang="en-US" b="1" dirty="0">
              <a:latin typeface="Times New Roman" pitchFamily="18" charset="0"/>
              <a:cs typeface="Times New Roman" pitchFamily="18" charset="0"/>
            </a:endParaRPr>
          </a:p>
        </p:txBody>
      </p:sp>
      <p:sp>
        <p:nvSpPr>
          <p:cNvPr id="3" name="內容版面配置區 2"/>
          <p:cNvSpPr>
            <a:spLocks noGrp="1"/>
          </p:cNvSpPr>
          <p:nvPr>
            <p:ph idx="1"/>
          </p:nvPr>
        </p:nvSpPr>
        <p:spPr>
          <a:xfrm>
            <a:off x="467544" y="1303337"/>
            <a:ext cx="8429684" cy="4525963"/>
          </a:xfrm>
        </p:spPr>
        <p:txBody>
          <a:bodyPr>
            <a:noAutofit/>
          </a:bodyPr>
          <a:lstStyle/>
          <a:p>
            <a:r>
              <a:rPr lang="en-US" sz="2800" dirty="0">
                <a:latin typeface="Times New Roman" pitchFamily="18" charset="0"/>
                <a:cs typeface="Times New Roman" pitchFamily="18" charset="0"/>
              </a:rPr>
              <a:t>We present a </a:t>
            </a:r>
            <a:r>
              <a:rPr lang="en-US" altLang="zh-TW" sz="2800" dirty="0">
                <a:latin typeface="Times New Roman" panose="02020603050405020304" pitchFamily="18" charset="0"/>
                <a:cs typeface="Times New Roman" panose="02020603050405020304" pitchFamily="18" charset="0"/>
              </a:rPr>
              <a:t>metaheuristic</a:t>
            </a:r>
            <a:r>
              <a:rPr lang="en-US" sz="2800" dirty="0">
                <a:latin typeface="Times New Roman" pitchFamily="18" charset="0"/>
                <a:cs typeface="Times New Roman" pitchFamily="18" charset="0"/>
              </a:rPr>
              <a:t> method for reconstructing the amino acid scoring matrix and compare it with the research of Rakesh </a:t>
            </a:r>
            <a:r>
              <a:rPr lang="en-US" sz="2800" i="1" dirty="0">
                <a:latin typeface="Times New Roman" pitchFamily="18" charset="0"/>
                <a:cs typeface="Times New Roman" pitchFamily="18" charset="0"/>
              </a:rPr>
              <a:t>et al</a:t>
            </a:r>
            <a:r>
              <a:rPr lang="en-US" sz="2800" dirty="0">
                <a:latin typeface="Times New Roman" pitchFamily="18" charset="0"/>
                <a:cs typeface="Times New Roman" pitchFamily="18" charset="0"/>
              </a:rPr>
              <a:t>. </a:t>
            </a:r>
          </a:p>
          <a:p>
            <a:r>
              <a:rPr lang="en-US" altLang="zh-TW" sz="2800" dirty="0">
                <a:latin typeface="Times New Roman" panose="02020603050405020304" pitchFamily="18" charset="0"/>
                <a:cs typeface="Times New Roman" panose="02020603050405020304" pitchFamily="18" charset="0"/>
              </a:rPr>
              <a:t>As the experimental results show, the coverage calculated by our matrix is higher than other matrices in the HD dataset.</a:t>
            </a:r>
          </a:p>
          <a:p>
            <a:r>
              <a:rPr lang="en-US" altLang="zh-TW" sz="2800" dirty="0">
                <a:latin typeface="Times New Roman" panose="02020603050405020304" pitchFamily="18" charset="0"/>
                <a:cs typeface="Times New Roman" panose="02020603050405020304" pitchFamily="18" charset="0"/>
              </a:rPr>
              <a:t>Most of the overall experiment time is spent on sequence comparison. In the future, It can be considered to decrease the time for sequence alignment.</a:t>
            </a:r>
          </a:p>
          <a:p>
            <a:endParaRPr lang="en-US" altLang="zh-TW" sz="2800" dirty="0">
              <a:latin typeface="Times New Roman" panose="02020603050405020304" pitchFamily="18" charset="0"/>
              <a:cs typeface="Times New Roman" panose="02020603050405020304" pitchFamily="18" charset="0"/>
            </a:endParaRPr>
          </a:p>
          <a:p>
            <a:endParaRPr lang="en-US" sz="2800" dirty="0">
              <a:latin typeface="Times New Roman" pitchFamily="18" charset="0"/>
              <a:cs typeface="Times New Roman" pitchFamily="18" charset="0"/>
            </a:endParaRPr>
          </a:p>
        </p:txBody>
      </p:sp>
      <p:sp>
        <p:nvSpPr>
          <p:cNvPr id="4" name="投影片編號版面配置區 3"/>
          <p:cNvSpPr>
            <a:spLocks noGrp="1"/>
          </p:cNvSpPr>
          <p:nvPr>
            <p:ph type="sldNum" sz="quarter" idx="12"/>
          </p:nvPr>
        </p:nvSpPr>
        <p:spPr/>
        <p:txBody>
          <a:bodyPr/>
          <a:lstStyle/>
          <a:p>
            <a:fld id="{04C04D6A-2E29-441A-A244-9F1014899F6D}" type="slidenum">
              <a:rPr lang="zh-TW" altLang="en-US" sz="1600" smtClean="0"/>
              <a:pPr/>
              <a:t>36</a:t>
            </a:fld>
            <a:endParaRPr lang="zh-TW" alt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412776" y="160337"/>
            <a:ext cx="8229600" cy="1143000"/>
          </a:xfrm>
        </p:spPr>
        <p:txBody>
          <a:bodyPr/>
          <a:lstStyle/>
          <a:p>
            <a:r>
              <a:rPr lang="en-US" altLang="zh-TW" b="1" dirty="0">
                <a:latin typeface="Times New Roman" pitchFamily="18" charset="0"/>
                <a:cs typeface="Times New Roman" pitchFamily="18" charset="0"/>
              </a:rPr>
              <a:t>Conclusion</a:t>
            </a:r>
            <a:endParaRPr lang="zh-TW" altLang="en-US" b="1" dirty="0">
              <a:latin typeface="Times New Roman" pitchFamily="18" charset="0"/>
              <a:cs typeface="Times New Roman" pitchFamily="18" charset="0"/>
            </a:endParaRPr>
          </a:p>
        </p:txBody>
      </p:sp>
      <p:sp>
        <p:nvSpPr>
          <p:cNvPr id="3" name="內容版面配置區 2"/>
          <p:cNvSpPr>
            <a:spLocks noGrp="1"/>
          </p:cNvSpPr>
          <p:nvPr>
            <p:ph idx="1"/>
          </p:nvPr>
        </p:nvSpPr>
        <p:spPr>
          <a:xfrm>
            <a:off x="467544" y="1303337"/>
            <a:ext cx="8429684" cy="4525963"/>
          </a:xfrm>
        </p:spPr>
        <p:txBody>
          <a:bodyPr>
            <a:noAutofit/>
          </a:bodyPr>
          <a:lstStyle/>
          <a:p>
            <a:r>
              <a:rPr lang="en-US" altLang="zh-TW" sz="2800" dirty="0">
                <a:latin typeface="Times New Roman" panose="02020603050405020304" pitchFamily="18" charset="0"/>
                <a:cs typeface="Times New Roman" panose="02020603050405020304" pitchFamily="18" charset="0"/>
              </a:rPr>
              <a:t>We can try to adopt other metaheuristic algorithms, such as search economics, to modify the scores on some regions, instead of the entire scoring matrix.</a:t>
            </a:r>
          </a:p>
          <a:p>
            <a:endParaRPr lang="en-US" altLang="zh-TW" sz="2800" dirty="0">
              <a:latin typeface="Times New Roman" panose="02020603050405020304" pitchFamily="18" charset="0"/>
              <a:cs typeface="Times New Roman" panose="02020603050405020304" pitchFamily="18" charset="0"/>
            </a:endParaRPr>
          </a:p>
          <a:p>
            <a:endParaRPr lang="en-US" sz="2800" dirty="0">
              <a:latin typeface="Times New Roman" pitchFamily="18" charset="0"/>
              <a:cs typeface="Times New Roman" pitchFamily="18" charset="0"/>
            </a:endParaRPr>
          </a:p>
        </p:txBody>
      </p:sp>
      <p:sp>
        <p:nvSpPr>
          <p:cNvPr id="4" name="投影片編號版面配置區 3"/>
          <p:cNvSpPr>
            <a:spLocks noGrp="1"/>
          </p:cNvSpPr>
          <p:nvPr>
            <p:ph type="sldNum" sz="quarter" idx="12"/>
          </p:nvPr>
        </p:nvSpPr>
        <p:spPr/>
        <p:txBody>
          <a:bodyPr/>
          <a:lstStyle/>
          <a:p>
            <a:fld id="{04C04D6A-2E29-441A-A244-9F1014899F6D}" type="slidenum">
              <a:rPr lang="zh-TW" altLang="en-US" sz="1600" smtClean="0"/>
              <a:pPr/>
              <a:t>37</a:t>
            </a:fld>
            <a:endParaRPr lang="zh-TW" altLang="en-US" dirty="0"/>
          </a:p>
        </p:txBody>
      </p:sp>
    </p:spTree>
    <p:extLst>
      <p:ext uri="{BB962C8B-B14F-4D97-AF65-F5344CB8AC3E}">
        <p14:creationId xmlns:p14="http://schemas.microsoft.com/office/powerpoint/2010/main" val="182135789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2"/>
          <p:cNvSpPr>
            <a:spLocks noGrp="1"/>
          </p:cNvSpPr>
          <p:nvPr/>
        </p:nvSpPr>
        <p:spPr>
          <a:xfrm>
            <a:off x="457200" y="1166019"/>
            <a:ext cx="82296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altLang="zh-TW" sz="3600" dirty="0">
              <a:latin typeface="Times New Roman" panose="02020603050405020304" pitchFamily="18" charset="0"/>
              <a:cs typeface="Times New Roman" panose="02020603050405020304" pitchFamily="18" charset="0"/>
            </a:endParaRPr>
          </a:p>
          <a:p>
            <a:endParaRPr lang="en-US" altLang="zh-TW" sz="3600" dirty="0">
              <a:latin typeface="Times New Roman" panose="02020603050405020304" pitchFamily="18" charset="0"/>
              <a:cs typeface="Times New Roman" panose="02020603050405020304" pitchFamily="18" charset="0"/>
            </a:endParaRPr>
          </a:p>
          <a:p>
            <a:endParaRPr lang="en-US" altLang="zh-TW" sz="3600" dirty="0">
              <a:latin typeface="Times New Roman" panose="02020603050405020304" pitchFamily="18" charset="0"/>
              <a:cs typeface="Times New Roman" panose="02020603050405020304" pitchFamily="18" charset="0"/>
            </a:endParaRPr>
          </a:p>
          <a:p>
            <a:pPr algn="ctr">
              <a:buNone/>
            </a:pPr>
            <a:r>
              <a:rPr lang="en-US" altLang="zh-TW" sz="3600" dirty="0">
                <a:latin typeface="Times New Roman" panose="02020603050405020304" pitchFamily="18" charset="0"/>
                <a:cs typeface="Times New Roman" panose="02020603050405020304" pitchFamily="18" charset="0"/>
              </a:rPr>
              <a:t>Thanks for </a:t>
            </a:r>
            <a:r>
              <a:rPr lang="en-US" altLang="zh-TW" sz="3600" dirty="0" smtClean="0">
                <a:latin typeface="Times New Roman" panose="02020603050405020304" pitchFamily="18" charset="0"/>
                <a:cs typeface="Times New Roman" panose="02020603050405020304" pitchFamily="18" charset="0"/>
              </a:rPr>
              <a:t>listening</a:t>
            </a:r>
            <a:r>
              <a:rPr lang="en-US" altLang="zh-TW" sz="3600" dirty="0">
                <a:latin typeface="Times New Roman" panose="02020603050405020304" pitchFamily="18" charset="0"/>
                <a:cs typeface="Times New Roman" panose="02020603050405020304" pitchFamily="18" charset="0"/>
              </a:rPr>
              <a:t>.</a:t>
            </a:r>
            <a:endParaRPr lang="zh-TW" altLang="en-US" sz="3600" dirty="0">
              <a:latin typeface="Times New Roman" panose="02020603050405020304" pitchFamily="18" charset="0"/>
              <a:cs typeface="Times New Roman" panose="02020603050405020304" pitchFamily="18" charset="0"/>
            </a:endParaRPr>
          </a:p>
        </p:txBody>
      </p:sp>
      <p:sp>
        <p:nvSpPr>
          <p:cNvPr id="3" name="投影片編號版面配置區 2"/>
          <p:cNvSpPr>
            <a:spLocks noGrp="1"/>
          </p:cNvSpPr>
          <p:nvPr>
            <p:ph type="sldNum" sz="quarter" idx="12"/>
          </p:nvPr>
        </p:nvSpPr>
        <p:spPr/>
        <p:txBody>
          <a:bodyPr/>
          <a:lstStyle/>
          <a:p>
            <a:fld id="{04C04D6A-2E29-441A-A244-9F1014899F6D}" type="slidenum">
              <a:rPr lang="zh-TW" altLang="en-US" sz="1600" smtClean="0"/>
              <a:pPr/>
              <a:t>38</a:t>
            </a:fld>
            <a:endParaRPr lang="zh-TW" alt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2"/>
          <p:cNvSpPr>
            <a:spLocks noGrp="1"/>
          </p:cNvSpPr>
          <p:nvPr>
            <p:ph type="sldNum" sz="quarter" idx="12"/>
          </p:nvPr>
        </p:nvSpPr>
        <p:spPr/>
        <p:txBody>
          <a:bodyPr/>
          <a:lstStyle/>
          <a:p>
            <a:fld id="{04C04D6A-2E29-441A-A244-9F1014899F6D}" type="slidenum">
              <a:rPr lang="zh-TW" altLang="en-US" sz="1600" smtClean="0"/>
              <a:pPr/>
              <a:t>39</a:t>
            </a:fld>
            <a:endParaRPr lang="zh-TW" altLang="en-US" dirty="0"/>
          </a:p>
        </p:txBody>
      </p:sp>
      <p:pic>
        <p:nvPicPr>
          <p:cNvPr id="2" name="圖片 1">
            <a:extLst>
              <a:ext uri="{FF2B5EF4-FFF2-40B4-BE49-F238E27FC236}">
                <a16:creationId xmlns:a16="http://schemas.microsoft.com/office/drawing/2014/main" id="{91A470A4-E7DF-48C1-90E7-C03617094BBF}"/>
              </a:ext>
            </a:extLst>
          </p:cNvPr>
          <p:cNvPicPr>
            <a:picLocks noChangeAspect="1"/>
          </p:cNvPicPr>
          <p:nvPr/>
        </p:nvPicPr>
        <p:blipFill>
          <a:blip r:embed="rId2"/>
          <a:stretch>
            <a:fillRect/>
          </a:stretch>
        </p:blipFill>
        <p:spPr>
          <a:xfrm>
            <a:off x="611560" y="156730"/>
            <a:ext cx="8286092" cy="6237845"/>
          </a:xfrm>
          <a:prstGeom prst="rect">
            <a:avLst/>
          </a:prstGeom>
        </p:spPr>
      </p:pic>
    </p:spTree>
    <p:extLst>
      <p:ext uri="{BB962C8B-B14F-4D97-AF65-F5344CB8AC3E}">
        <p14:creationId xmlns:p14="http://schemas.microsoft.com/office/powerpoint/2010/main" val="91041256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2"/>
          <p:cNvSpPr>
            <a:spLocks noGrp="1"/>
          </p:cNvSpPr>
          <p:nvPr>
            <p:ph type="sldNum" sz="quarter" idx="12"/>
          </p:nvPr>
        </p:nvSpPr>
        <p:spPr/>
        <p:txBody>
          <a:bodyPr/>
          <a:lstStyle/>
          <a:p>
            <a:fld id="{04C04D6A-2E29-441A-A244-9F1014899F6D}" type="slidenum">
              <a:rPr lang="zh-TW" altLang="en-US" sz="1600" smtClean="0"/>
              <a:pPr/>
              <a:t>40</a:t>
            </a:fld>
            <a:endParaRPr lang="zh-TW" altLang="en-US" dirty="0"/>
          </a:p>
        </p:txBody>
      </p:sp>
      <p:pic>
        <p:nvPicPr>
          <p:cNvPr id="2" name="圖片 1">
            <a:extLst>
              <a:ext uri="{FF2B5EF4-FFF2-40B4-BE49-F238E27FC236}">
                <a16:creationId xmlns:a16="http://schemas.microsoft.com/office/drawing/2014/main" id="{2E142E4D-FF67-416D-A362-95F56BBD0688}"/>
              </a:ext>
            </a:extLst>
          </p:cNvPr>
          <p:cNvPicPr>
            <a:picLocks noChangeAspect="1"/>
          </p:cNvPicPr>
          <p:nvPr/>
        </p:nvPicPr>
        <p:blipFill>
          <a:blip r:embed="rId2"/>
          <a:stretch>
            <a:fillRect/>
          </a:stretch>
        </p:blipFill>
        <p:spPr>
          <a:xfrm>
            <a:off x="827584" y="260648"/>
            <a:ext cx="7677611" cy="5976475"/>
          </a:xfrm>
          <a:prstGeom prst="rect">
            <a:avLst/>
          </a:prstGeom>
        </p:spPr>
      </p:pic>
    </p:spTree>
    <p:extLst>
      <p:ext uri="{BB962C8B-B14F-4D97-AF65-F5344CB8AC3E}">
        <p14:creationId xmlns:p14="http://schemas.microsoft.com/office/powerpoint/2010/main" val="219769193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2"/>
          <p:cNvSpPr>
            <a:spLocks noGrp="1"/>
          </p:cNvSpPr>
          <p:nvPr>
            <p:ph type="sldNum" sz="quarter" idx="12"/>
          </p:nvPr>
        </p:nvSpPr>
        <p:spPr/>
        <p:txBody>
          <a:bodyPr/>
          <a:lstStyle/>
          <a:p>
            <a:fld id="{04C04D6A-2E29-441A-A244-9F1014899F6D}" type="slidenum">
              <a:rPr lang="zh-TW" altLang="en-US" sz="1600" smtClean="0"/>
              <a:pPr/>
              <a:t>41</a:t>
            </a:fld>
            <a:endParaRPr lang="zh-TW" altLang="en-US" dirty="0"/>
          </a:p>
        </p:txBody>
      </p:sp>
      <p:pic>
        <p:nvPicPr>
          <p:cNvPr id="2" name="圖片 1">
            <a:extLst>
              <a:ext uri="{FF2B5EF4-FFF2-40B4-BE49-F238E27FC236}">
                <a16:creationId xmlns:a16="http://schemas.microsoft.com/office/drawing/2014/main" id="{43199C65-C0F2-4B88-BC96-4385EE79AD78}"/>
              </a:ext>
            </a:extLst>
          </p:cNvPr>
          <p:cNvPicPr>
            <a:picLocks noChangeAspect="1"/>
          </p:cNvPicPr>
          <p:nvPr/>
        </p:nvPicPr>
        <p:blipFill>
          <a:blip r:embed="rId2"/>
          <a:stretch>
            <a:fillRect/>
          </a:stretch>
        </p:blipFill>
        <p:spPr>
          <a:xfrm>
            <a:off x="570384" y="170261"/>
            <a:ext cx="8003232" cy="6037202"/>
          </a:xfrm>
          <a:prstGeom prst="rect">
            <a:avLst/>
          </a:prstGeom>
        </p:spPr>
      </p:pic>
    </p:spTree>
    <p:extLst>
      <p:ext uri="{BB962C8B-B14F-4D97-AF65-F5344CB8AC3E}">
        <p14:creationId xmlns:p14="http://schemas.microsoft.com/office/powerpoint/2010/main" val="324199514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2"/>
          <p:cNvSpPr>
            <a:spLocks noGrp="1"/>
          </p:cNvSpPr>
          <p:nvPr>
            <p:ph type="sldNum" sz="quarter" idx="12"/>
          </p:nvPr>
        </p:nvSpPr>
        <p:spPr/>
        <p:txBody>
          <a:bodyPr/>
          <a:lstStyle/>
          <a:p>
            <a:fld id="{04C04D6A-2E29-441A-A244-9F1014899F6D}" type="slidenum">
              <a:rPr lang="zh-TW" altLang="en-US" sz="1600" smtClean="0"/>
              <a:pPr/>
              <a:t>42</a:t>
            </a:fld>
            <a:endParaRPr lang="zh-TW" altLang="en-US" dirty="0"/>
          </a:p>
        </p:txBody>
      </p:sp>
      <p:pic>
        <p:nvPicPr>
          <p:cNvPr id="4" name="圖片 3">
            <a:extLst>
              <a:ext uri="{FF2B5EF4-FFF2-40B4-BE49-F238E27FC236}">
                <a16:creationId xmlns:a16="http://schemas.microsoft.com/office/drawing/2014/main" id="{6176D6DA-991E-4D7C-9907-25B15B78E5C6}"/>
              </a:ext>
            </a:extLst>
          </p:cNvPr>
          <p:cNvPicPr>
            <a:picLocks noChangeAspect="1"/>
          </p:cNvPicPr>
          <p:nvPr/>
        </p:nvPicPr>
        <p:blipFill>
          <a:blip r:embed="rId2"/>
          <a:stretch>
            <a:fillRect/>
          </a:stretch>
        </p:blipFill>
        <p:spPr>
          <a:xfrm>
            <a:off x="621904" y="177432"/>
            <a:ext cx="8064896" cy="5998917"/>
          </a:xfrm>
          <a:prstGeom prst="rect">
            <a:avLst/>
          </a:prstGeom>
        </p:spPr>
      </p:pic>
    </p:spTree>
    <p:extLst>
      <p:ext uri="{BB962C8B-B14F-4D97-AF65-F5344CB8AC3E}">
        <p14:creationId xmlns:p14="http://schemas.microsoft.com/office/powerpoint/2010/main" val="251897212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20698</TotalTime>
  <Words>2043</Words>
  <Application>Microsoft Office PowerPoint</Application>
  <PresentationFormat>如螢幕大小 (4:3)</PresentationFormat>
  <Paragraphs>696</Paragraphs>
  <Slides>42</Slides>
  <Notes>36</Notes>
  <HiddenSlides>0</HiddenSlides>
  <MMClips>0</MMClips>
  <ScaleCrop>false</ScaleCrop>
  <HeadingPairs>
    <vt:vector size="8" baseType="variant">
      <vt:variant>
        <vt:lpstr>使用字型</vt:lpstr>
      </vt:variant>
      <vt:variant>
        <vt:i4>10</vt:i4>
      </vt:variant>
      <vt:variant>
        <vt:lpstr>佈景主題</vt:lpstr>
      </vt:variant>
      <vt:variant>
        <vt:i4>1</vt:i4>
      </vt:variant>
      <vt:variant>
        <vt:lpstr>內嵌 OLE 伺服程式</vt:lpstr>
      </vt:variant>
      <vt:variant>
        <vt:i4>1</vt:i4>
      </vt:variant>
      <vt:variant>
        <vt:lpstr>投影片標題</vt:lpstr>
      </vt:variant>
      <vt:variant>
        <vt:i4>42</vt:i4>
      </vt:variant>
    </vt:vector>
  </HeadingPairs>
  <TitlesOfParts>
    <vt:vector size="54" baseType="lpstr">
      <vt:lpstr>Courier</vt:lpstr>
      <vt:lpstr>ＭＳ Ｐゴシック</vt:lpstr>
      <vt:lpstr>新細明體</vt:lpstr>
      <vt:lpstr>新細明體</vt:lpstr>
      <vt:lpstr>標楷體</vt:lpstr>
      <vt:lpstr>Arial</vt:lpstr>
      <vt:lpstr>Calibri</vt:lpstr>
      <vt:lpstr>Cambria Math</vt:lpstr>
      <vt:lpstr>Symbol</vt:lpstr>
      <vt:lpstr>Times New Roman</vt:lpstr>
      <vt:lpstr>Office 佈景主題</vt:lpstr>
      <vt:lpstr>工作表</vt:lpstr>
      <vt:lpstr>Reconstructing the Amino Acid Scoring Matrices to Improve Homology Detection in Intrinsically Disordered Proteins</vt:lpstr>
      <vt:lpstr>PowerPoint 簡報</vt:lpstr>
      <vt:lpstr>PowerPoint 簡報</vt:lpstr>
      <vt:lpstr>Smith-Waterman Algorithm:</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Conclusion</vt:lpstr>
      <vt:lpstr>Conclusion</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投影片 1</dc:title>
  <dc:creator>AthenaHo</dc:creator>
  <cp:lastModifiedBy>蔡豐仰</cp:lastModifiedBy>
  <cp:revision>1290</cp:revision>
  <cp:lastPrinted>2020-08-26T07:07:29Z</cp:lastPrinted>
  <dcterms:created xsi:type="dcterms:W3CDTF">2016-03-06T05:42:18Z</dcterms:created>
  <dcterms:modified xsi:type="dcterms:W3CDTF">2020-09-15T08:07:17Z</dcterms:modified>
</cp:coreProperties>
</file>